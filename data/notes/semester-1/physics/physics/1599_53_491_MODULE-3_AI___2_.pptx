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3"/>
  </p:notesMasterIdLst>
  <p:sldIdLst>
    <p:sldId id="286" r:id="rId2"/>
    <p:sldId id="432" r:id="rId3"/>
    <p:sldId id="327" r:id="rId4"/>
    <p:sldId id="329" r:id="rId5"/>
    <p:sldId id="331" r:id="rId6"/>
    <p:sldId id="433" r:id="rId7"/>
    <p:sldId id="538" r:id="rId8"/>
    <p:sldId id="539" r:id="rId9"/>
    <p:sldId id="540" r:id="rId10"/>
    <p:sldId id="541" r:id="rId11"/>
    <p:sldId id="542" r:id="rId12"/>
    <p:sldId id="543" r:id="rId13"/>
    <p:sldId id="544" r:id="rId14"/>
    <p:sldId id="545" r:id="rId15"/>
    <p:sldId id="546" r:id="rId16"/>
    <p:sldId id="547" r:id="rId17"/>
    <p:sldId id="548" r:id="rId18"/>
    <p:sldId id="549" r:id="rId19"/>
    <p:sldId id="550" r:id="rId20"/>
    <p:sldId id="551" r:id="rId21"/>
    <p:sldId id="652" r:id="rId22"/>
    <p:sldId id="653" r:id="rId23"/>
    <p:sldId id="654" r:id="rId24"/>
    <p:sldId id="655" r:id="rId25"/>
    <p:sldId id="656" r:id="rId26"/>
    <p:sldId id="657" r:id="rId27"/>
    <p:sldId id="658" r:id="rId28"/>
    <p:sldId id="659" r:id="rId29"/>
    <p:sldId id="306" r:id="rId30"/>
    <p:sldId id="307" r:id="rId31"/>
    <p:sldId id="308" r:id="rId32"/>
    <p:sldId id="309" r:id="rId33"/>
    <p:sldId id="310" r:id="rId34"/>
    <p:sldId id="311" r:id="rId35"/>
    <p:sldId id="312" r:id="rId36"/>
    <p:sldId id="313" r:id="rId37"/>
    <p:sldId id="314" r:id="rId38"/>
    <p:sldId id="315" r:id="rId39"/>
    <p:sldId id="316" r:id="rId40"/>
    <p:sldId id="317" r:id="rId41"/>
    <p:sldId id="319" r:id="rId42"/>
    <p:sldId id="318" r:id="rId43"/>
    <p:sldId id="320" r:id="rId44"/>
    <p:sldId id="321" r:id="rId45"/>
    <p:sldId id="322" r:id="rId46"/>
    <p:sldId id="324" r:id="rId47"/>
    <p:sldId id="325" r:id="rId48"/>
    <p:sldId id="326" r:id="rId49"/>
    <p:sldId id="340" r:id="rId50"/>
    <p:sldId id="774" r:id="rId51"/>
    <p:sldId id="855" r:id="rId52"/>
    <p:sldId id="856" r:id="rId53"/>
    <p:sldId id="857" r:id="rId54"/>
    <p:sldId id="858" r:id="rId55"/>
    <p:sldId id="859" r:id="rId56"/>
    <p:sldId id="860" r:id="rId57"/>
    <p:sldId id="661" r:id="rId58"/>
    <p:sldId id="280" r:id="rId59"/>
    <p:sldId id="287" r:id="rId60"/>
    <p:sldId id="288" r:id="rId61"/>
    <p:sldId id="861" r:id="rId62"/>
    <p:sldId id="289" r:id="rId63"/>
    <p:sldId id="290" r:id="rId64"/>
    <p:sldId id="291" r:id="rId65"/>
    <p:sldId id="292" r:id="rId66"/>
    <p:sldId id="293" r:id="rId67"/>
    <p:sldId id="294" r:id="rId68"/>
    <p:sldId id="295" r:id="rId69"/>
    <p:sldId id="296" r:id="rId70"/>
    <p:sldId id="297" r:id="rId71"/>
    <p:sldId id="298" r:id="rId72"/>
    <p:sldId id="299" r:id="rId73"/>
    <p:sldId id="300" r:id="rId74"/>
    <p:sldId id="301" r:id="rId75"/>
    <p:sldId id="302" r:id="rId76"/>
    <p:sldId id="303" r:id="rId77"/>
    <p:sldId id="304" r:id="rId78"/>
    <p:sldId id="305" r:id="rId79"/>
    <p:sldId id="341" r:id="rId80"/>
    <p:sldId id="862" r:id="rId81"/>
    <p:sldId id="863" r:id="rId82"/>
    <p:sldId id="864" r:id="rId83"/>
    <p:sldId id="865" r:id="rId84"/>
    <p:sldId id="866" r:id="rId85"/>
    <p:sldId id="867" r:id="rId86"/>
    <p:sldId id="868" r:id="rId87"/>
    <p:sldId id="869" r:id="rId88"/>
    <p:sldId id="870" r:id="rId89"/>
    <p:sldId id="871" r:id="rId90"/>
    <p:sldId id="872" r:id="rId91"/>
    <p:sldId id="873" r:id="rId92"/>
    <p:sldId id="874" r:id="rId93"/>
    <p:sldId id="875" r:id="rId94"/>
    <p:sldId id="876" r:id="rId95"/>
    <p:sldId id="877" r:id="rId96"/>
    <p:sldId id="880" r:id="rId97"/>
    <p:sldId id="883" r:id="rId98"/>
    <p:sldId id="881" r:id="rId99"/>
    <p:sldId id="882" r:id="rId100"/>
    <p:sldId id="878" r:id="rId101"/>
    <p:sldId id="879" r:id="rId10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1" userDrawn="1">
          <p15:clr>
            <a:srgbClr val="A4A3A4"/>
          </p15:clr>
        </p15:guide>
        <p15:guide id="2" pos="386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4" d="100"/>
          <a:sy n="64" d="100"/>
        </p:scale>
        <p:origin x="954" y="78"/>
      </p:cViewPr>
      <p:guideLst>
        <p:guide orient="horz" pos="2141"/>
        <p:guide pos="3862"/>
      </p:guideLst>
    </p:cSldViewPr>
  </p:slideViewPr>
  <p:notesTextViewPr>
    <p:cViewPr>
      <p:scale>
        <a:sx n="100" d="100"/>
        <a:sy n="100" d="100"/>
      </p:scale>
      <p:origin x="0" y="0"/>
    </p:cViewPr>
  </p:notesTextViewPr>
  <p:sorterViewPr>
    <p:cViewPr>
      <p:scale>
        <a:sx n="100" d="100"/>
        <a:sy n="100" d="100"/>
      </p:scale>
      <p:origin x="0" y="-20117"/>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4-11-10T18:19:35"/>
    </inkml:context>
    <inkml:brush xml:id="br0">
      <inkml:brushProperty name="width" value="0.05292" units="cm"/>
      <inkml:brushProperty name="height" value="0.05292" units="cm"/>
      <inkml:brushProperty name="color" value="#F9FBFA"/>
    </inkml:brush>
  </inkml:definitions>
  <inkml:trace contextRef="#ctx0" brushRef="#br0">16122 9165 767</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4-11-10T18:19:36"/>
    </inkml:context>
    <inkml:brush xml:id="br0">
      <inkml:brushProperty name="width" value="0.05292" units="cm"/>
      <inkml:brushProperty name="height" value="0.05292" units="cm"/>
      <inkml:brushProperty name="color" value="#F9FBFA"/>
    </inkml:brush>
  </inkml:definitions>
  <inkml:trace contextRef="#ctx0" brushRef="#br0">16122 9165 767</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4-11-10T18:19:36"/>
    </inkml:context>
    <inkml:brush xml:id="br0">
      <inkml:brushProperty name="width" value="0.05292" units="cm"/>
      <inkml:brushProperty name="height" value="0.05292" units="cm"/>
      <inkml:brushProperty name="color" value="#F9FBFA"/>
    </inkml:brush>
  </inkml:definitions>
  <inkml:trace contextRef="#ctx0" brushRef="#br0">16122 9165 767</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4-11-10T18:19:37"/>
    </inkml:context>
    <inkml:brush xml:id="br0">
      <inkml:brushProperty name="width" value="0.05292" units="cm"/>
      <inkml:brushProperty name="height" value="0.05292" units="cm"/>
      <inkml:brushProperty name="color" value="#F9FBFA"/>
    </inkml:brush>
  </inkml:definitions>
  <inkml:trace contextRef="#ctx0" brushRef="#br0">15346 9589 767,'0'11'0,"0"3"0,25-2-10,3-5 5,12 2-2,12 0-1,6 1-1,9 1-2,5 1-1,4-1 0,2 1 0,3 2-1,0-1 0,0-1 0,0 0 0,0 1 0,1-1 0,-1 0 0,-2 1 0,2-1 0,-1 0 1,-1 1-1,0 1 0,1-2 1,-3 1-1,3-1 0,-1 0 1,9-1-2,2-2-1,-3 0 1,-6-4 125,-7-2 14,-3 1-107,6-2-19,-4-1 21,-10-1-30,2 2 15,-1-2 4,-6-2-12,-3 2 17,-6 0-15,-5 0-6,6 0 4,-1-1 20,-3 1-20,0 0 5,-4 0-1,-1 0-6,8 0 9,1 0 0,-5 0-5,3-7 8,-4-4-14,0 0 1,-5-1 10,-2 0-1,-3-1-8,4-2 8,1-1 3,-3-4-10,1 1 7,0 1-4,0 4-3,0-2 13,-2-1-12,-3-1-2,-4 2 9,-5 0 0,-2 0-7,-5 2-1,-2 0 1,-2 2 1,-1-1-1,-2 1 1,1 0 0,-1-1-1,-2 3 1,2-3 0,0 3 0,0-3-1,0 1 1,-2 1 0,-2-1 0,-2-2 11,1 0 12,-2-4 2,-1-1-26,1-2 0,-2-2 0,0-2 0,0 0 0,0-1-1,0 1 1,0 2 0,-2 0 0,-6 2 0,-17 2 6,-14 3 5,-16 2-16,-13 3-2,-12 0-2,-10 3-2,-5 1 0,-6-1-1,-3 1 0,-1 0-1,-3 0 0,2 2 0,-2-2 0,1 0 0,1 0 0,0 0 0,-8 5-1,-3 2 0,2 2 0,4 10 113,-3 9 1,4 11-115,-24 12 31,-2 9-18,9 0-15,-1-2 18,6-5 6,11-4-14,14-8 18,7-2 20,12-4-42,0 0 20,11-3 25,9-2-40,3-4 33,6 2-21,7-1-9,5 1 31,12-3-29,9-2 0,9-2 2,7-2-3,7-1 5,4-4 0,5 2 0,1-2 0,3-2 0,-1 2 0,0-2 0,3 1-1,-3-1 1,0 0 0,1 2 0,-1-2 0,1 1 0,-1 1 0,-1-2 0,3 0-1,4 1 1,6-3 1,22 6 4,18 2 1,8 1-11,16 0-6,1 1 0,-6-4-2,-7-2-1,-6-2 17,-8 0 4,3-3-6,-5-4 14,-5-1-17,-5-3 19,-8-2-15,-3-1-10,-6-4 2,-6 5 1,-8-3 0,-4 4 2,-5 0 4,-4 2 3,-3-1-1,4-1 2,-1 2-2,-1 0 1,-1 1-1,3-1 1,-4 1 0,-24 1 10,-2 3-7,6 0-2,-1 0-1,0 3 1,1 1-4,1 3-2,0 2 1,0-2-1,1 3 0</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4-11-10T18:19:38"/>
    </inkml:context>
    <inkml:brush xml:id="br0">
      <inkml:brushProperty name="width" value="0.05292" units="cm"/>
      <inkml:brushProperty name="height" value="0.05292" units="cm"/>
      <inkml:brushProperty name="color" value="#F9FBFA"/>
    </inkml:brush>
  </inkml:definitions>
  <inkml:trace contextRef="#ctx0" brushRef="#br0">16442 9416 767</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4-11-10T18:19:38"/>
    </inkml:context>
    <inkml:brush xml:id="br0">
      <inkml:brushProperty name="width" value="0.05292" units="cm"/>
      <inkml:brushProperty name="height" value="0.05292" units="cm"/>
      <inkml:brushProperty name="color" value="#F9FBFA"/>
    </inkml:brush>
  </inkml:definitions>
  <inkml:trace contextRef="#ctx0" brushRef="#br0">16442 9416 767</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4-11-10T18:19:38"/>
    </inkml:context>
    <inkml:brush xml:id="br0">
      <inkml:brushProperty name="width" value="0.05292" units="cm"/>
      <inkml:brushProperty name="height" value="0.05292" units="cm"/>
      <inkml:brushProperty name="color" value="#F9FBFA"/>
    </inkml:brush>
  </inkml:definitions>
  <inkml:trace contextRef="#ctx0" brushRef="#br0">16442 9416 767</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4-11-10T18:19:39"/>
    </inkml:context>
    <inkml:brush xml:id="br0">
      <inkml:brushProperty name="width" value="0.05292" units="cm"/>
      <inkml:brushProperty name="height" value="0.05292" units="cm"/>
      <inkml:brushProperty name="color" value="#F9FBFA"/>
    </inkml:brush>
  </inkml:definitions>
  <inkml:trace contextRef="#ctx0" brushRef="#br0">15894 9439 767</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4-11-10T18:19:40"/>
    </inkml:context>
    <inkml:brush xml:id="br0">
      <inkml:brushProperty name="width" value="0.05292" units="cm"/>
      <inkml:brushProperty name="height" value="0.05292" units="cm"/>
      <inkml:brushProperty name="color" value="#F9FBFA"/>
    </inkml:brush>
  </inkml:definitions>
  <inkml:trace contextRef="#ctx0" brushRef="#br0">15894 9439 767</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4-11-10T18:20:24"/>
    </inkml:context>
    <inkml:brush xml:id="br0">
      <inkml:brushProperty name="width" value="0.05292" units="cm"/>
      <inkml:brushProperty name="height" value="0.05292" units="cm"/>
      <inkml:brushProperty name="color" value="#F9FBFA"/>
    </inkml:brush>
  </inkml:definitions>
  <inkml:trace contextRef="#ctx0" brushRef="#br0">15712 10120 767,'10'0'0,"3"0"0,-6 10-7,-2 6 7,-2 4-1,-1 2-2,-2-12 1,0 1 2,0 1 0,0 1 0,0-1 0,0 3-1,0-3 0,2 1-1,0-3 1,8 12 2,-4-10 0,-1 1 4,-2 3-6,1-2-1,-1 2 0,-1 11 0,0 7 3,0 4-5,-1-1 0,6 2 1,2 2-4,2 6 0,-1 1 5,1-3 0,-2-4 4,-2-4 6,-2-6-13,0-3 0,-1-3 2,-3-5-1,1-2 43,-2-6-41,0 1-1,-2-26 6,2 2-1,0-1 0,0-1 0,0 1 0,0-8 0,0 6-4,-3-11-2,-2-7 0,-1-6-1,-1-4-20,2-3 41,2-2-23,-4-1 3,0-2 8,0 2-12,-1-6 6,1 4 3,2 4-3,2 0 7,-1 3-1,2 5-10,1 3 9,-1-1 7,2 4-15,0-6 18,0 2-17,0 4-1,0-2 6,0 0 3,0 1-8,2-3 5,-2 4 1,0 1-5,0 5 1,0 4 7,0 4-2,0 4-6,-2 1 1,-2 3 1,-6-8 3,-4 2-1,7 9 0,-2-2 0,0 2 0,-3-4 0,0 7 4,8 17 0,6-1 1,-2 8-5,0-6-2,0 1-1,0 2-1,0 1 1,0 2 1,0 0 0,0 1 0,0-1 0,0-3 0,0 3-1,0 0 2,0-2 1,0-4 0,0 0 0,0-3 0,0 7 0,0-4 0,0 0 0,0-3-1,0 3 0,0 2 0,0 0 0,0 2-1,0 9 2,0-7 2,0 5-3,0-2-2,0 0-2,0-1 1,0 1-1,0-2 2,0-1 4,0-2 0,0-2 0,0 0-1,0-2 1,0-3-1,0 9 1,0-8-2,0 1-1,0-1 0,0 2 0,0-1 0,0 1 0,0 0 3,0-1 2,2 1-1,6-8 0,6-5-2,-3-4-1,-6-8 0,-5-3-2,0 3 2,0-1-1,0 1 0,0 0 0,0-5 1,0-7 2,0-9-4,0-8-5,0-2 1,0-5 4,0-1-4,0 0-1,0 7 1,0 3 17,0 6-16,0 0 0,0 7 5,0 2 9,0 5-3,0 0-1,0 4-1,0-1-3,0 3-1,0-1 0,0 1 16,0-4-25,0 5 4,0 22 10,0-1 1,0 5 1,0 8-10,0-5-1,0 3 1,0 1-1,0 3-1,0 3 3,0 1 2,0 3 2,0-2-5,0-1-2,0-4 1,0-2 7,0-5 0,0-2-5,0-3 0,0-1 0,0 4 8,0 0 1,0-5-2,0 3-5,0 0-1,0 1 0,0-3 1,0 1-1,0 6 0,0-4 1,0-5 0,5 1 2,6-11 0,1 0 1,-3-3 0,-5-12-4,-4-1 0,0 5 0,0 1 1,3-6-2,2 0 2,1-8 0,-1-8-3,0-3-2,1-3-1,2 1 2,5-1 6,-1 2-8,2 1 2,-2 1 6,-1 2-2,-4 3-3,0 6 5,-4 3 0,1 4-1,-2 4 0,-1-8 4,-1 9-2,-3 25 4,3-3-6,0 2 1,0-3 0,0 5 0,0 3-1,0 3 0,0-1-2,0 3-2,0 2 1,3 11-1,3 5-1,-1 0-2,0 5 3,1 4-1,-3 2-3,1 3 7,-1-3-1,-1-4-4,0-1-2,-2-4 23,1-2-22,-1-4 21,0-1-17,0-4-3,0-2 6,0-5 8,0-3-10,0-3-2,-1-4 2,1-1 2,0-3 0,0 8-1,0-4 10,0-28-2,0 2 0,-4-19-10,1 5-1,-4-2-1,0 0 0,-2 2 0,-5 6 0,0-6 1,0 0 1,1-2 3,3 2 8,1 2-12,2 1 0,3 5 1,1 0 0,-1 3 2,4 2 0,0-1 0,0-6 1,0 6-1,4 2 1,6 13 4,3-2 1,-3 0-1,1-5-2,-1-4-5,4-5 1,-7 6 0,2-1 0,2 4 0,1 2 0,4 6-4,3 4 2,2 4 0,4 3 0,0 4-1,1 4-1,2-1 1,0 2-1,0 2 0,0 0 0,2 0 0,-2 0 0,2-2 0,-2 2-1,2 0 1,-5-3 1,-2-3 0,-4-4 1,-1-3 0,-4-1 1,-2-6 16,-1 1 5,3 3 26,-6 1-31,-6-22-15,-4-4 1,2 0-1,0 0 0,-7-2 0,-3 7-1,-2 0 2,-2-5 0,-2-3-3,2-1 2,-2 2-1,4 0 1,1 4-1,0 1 1,4 3-1,0 1 1,-3-4-2,3 4 1,10 22 2,4 3 1,-1-7-1,-1 2 1,0-1-1,0 1 1,1 2-1,-1-3 1,2 1-1,-2 1 1,6 6 0,5 4 11,1 6-17,8 3 6,-2-1-7,0-3 0,1 5-1,1 0 10,-1-3-4,-4-1 1,-3-5 0,-3-3 0,0-2-2,-1-6 1,-4-3 30,3 2-30,-23-13 2,1-5 0,3-18-3,-2 6-23,-2-3 25,-8 1 0,-2-1 0,-4-3 2,-1 2 4,3 0-13,2 3 11,2 4 0,3 0-16,4 4 12,-1 1 1,4 4 1,-1-8 0,5 5 3,3-5 3,4 3-1,8 7-3,2 5-3,3 3 0,2 8-1,-3-2-3,0 1 1,2 5 0,0 1-2,-4-4 3,-1-1 0,-2 0 0,3-1 0,-7-20 7,-7-3-2,1-6-2,-5 1-1,-4-4-2,-8-6-6,-3-4 2,-5-2-1,1 3 6,4 1-2,2 3-3,-1 0 0,5 8 1,-1 3 7,3 3 1,3 4 7,-4 2-7,5 16 0,11 4 0,-1-3 0,8 3-1,0-8-4,7 8-1,3 3 0,6 3-22,1 6 30,2 2 0,-3-4-11,0 2-1,-3-1 6,-2-5 2,-3-3-1,-3 0 4,-3-1-3,-4-3-3,0 1 2,-3-1 0,-1 1-1,6 4 1,3-6 3,7-5-2,-3-6-1,-5-6 0,-4-6 2,-18-6-1,-13-2-5,-8-8-10,-14-15 4,-8-9 9,-4-9 13,-12-8-4,-3 1-16,7 2-55,6 7 50,5 7 19,6 9-3,10 7-11,6 6 14,7 1 7,1 4 0,6 4-8,6 7-1,5 3 9,1 0-21,10 22 14,1 2 1,1 1 2,9-5-12,7 5-1,13 11-2,4 7-63,3 2 125,-1 2-63,-1 3-45,-6-1 93,-1-1-82,-6-7 46,-3-5-1,-4-3 23,-5-4-21,-1-4-1,-6-1 6,2-5-9,5 5 2,5-8-4,-1-1-1,-6-1 0,-3 6 3,-8 4-1,-9-4 0,-6-7-1,1-2 0,-4-2-2,4-2 0,1-1 1,-7 0-2,-4-1-2,0 1 2,0-2 1,4 0-1,3-6 1,2 1-1,3-3 0,4 3 3,0 1 0,2-9 0,5 8 0,2-2 0,1 26 3,-3-1-3,0 0 0,0 1 0,14 1 1,-3-5-3,1 0 1,0 1 0,1-2-7,-3-2 10,1 0-3,5 1-1,-4 4 3,-7 3 0,-5-1 0,-8-4 0,-3-8-2,-1-4 1,-1-12-2,8 5-1,-2-1-6,2-3 13,-1-1-6,-1 4 4,0 1-8,-1 2 14,-5-3-16,15 24 13,7-5-4,0 2 1,1-2-11,1-1 15,1 1-9,0-2-6,-1 1 12,1-1-6,-1-1 0,5 1 0,-2-1 2,-2-4 1,-24 0 3,-1 0 0,-9 0-2,4 0-4,-1-4-1,-3-1 1,3-4-1,0-2-6,3 0 9,0 1 2,2 1-3,0 1 0,4 3 1,-1 0-1,-8 1 1,3-3 0,7-2 6,5-2-1,10 1 2,6 6-7,0 2 1,9 9-2,-3 6-2,1 1 0,6 4 1,-2-2 11,1 0-5,-2-1-8,-5 1-22,-3 1 27,-3 0 4,-2-3-4,-1-2 0,-1-1-1,6 3 5,-5-8-3,1-12 1,-7-8 0,-4 2 0,-5-1-1,-7-1-4,-3-8-17,-6-1 31,-4 2-16,-1-3-1,2 5 0,-4-4 0,4-1 5,1 1-1,6 0 1,5 5 24,3 2-43,4 5 18,3-1 0,15 15 8,0 8 0,-3-2-2,6-2 0,1 0-7,16 9-2,11 8-1,6 2-2,8 8-1,0 4-1,-1-1-2,-6-1 3,-7-4 12,-5-3-5,0-1-4,-2-4 19,-7-5-7,-5-3-1,-5-3-3,-4-3 0,-4-2-4,1-1 26,1 0-25,-26-7 0,-2-2 1,1 2-1,-5-7 0,3-4-3,-4-1 0,-1-1 0,1-3-1,-5 0 0,-4-2 1,-3 0 2,-10-7 1,0 2-6,0 2 0,6 1 1,8 4 6,2 2 0,8 1-3,5 4 0,3 0 4,1-7 1,6 4 0,6-1-1,7 1 0,7 10 4,-4 7-4,2 1 1,-2 1 0,4 4 1,7 3-3,5 4-3,9 10-2,5 3-3,0 1-1,-1 0 17,-4-2-24,-4-3-11,-5-5 42,-5-5-19,-4-2 9,-3-5-1,-3-1 2,-3-5-2,4 1 1,-16-19 0,-6 5-2,-1 0 0,0 0-1,2 2-1,-5-5-4,-2-1 0,-2-1-1,0-1 0,-3-2 0,-1 1 3,4-1-2,1 1 2,-3 4 2,0 1-3,1 4 0,3 0 1,0 0 0,5 0 0,0-1 1,-1-6-1,6-2 1,4 2-1,4 3 1,4 4 2,6 5 1,-1 6 0,4 5-5,4 1 0,6 3-2,-1 3-2,2 2 0,6 3-1,-4 1 2,-2-1 1,-5-3 1,-2-4 3,-4-1 5,1-3-7,-8-2 5,4-3 0,-19-19 2,-5 3-5,-1 0 1,-1 1-1,1-1 1,-3-3 0,0-1-3,-9-8-3,-10-9-3,-9-9-1,-1 0 0,0-2 7,0 5-5,3 6-2,3 0 0,5 2 8,4 5 6,4 3 9,6 6-11,4 6-2,5 2 1,-1 3-6,10 18 10,3-1 0,8 2 2,-3-7-10,10 8 0,5 4-39,2 3 76,3 5-40,2 1-1,-1 3-2,0 2 3,-5-2 7,-5-3-7,-1-3-1,-4-5 2,-2-6 8,1-1 5,-3-4-8,3-4-1,-3-1 0,6 3 1,-5-2 6,-3 8-3,3-4-1,-36-6-8,8-3 3,-4-2-1,-4-3 0,-1-2 0,-3-4-3,0-3 1,-1-2-1,-2-4 0,0 1 0,1-3 0,1 1 0,2 1 0,3 0 1,2 3 0,6 0 7,3 5 9,3 1-4,2 1 4,20 6-6,-1 6 0,10 1 1,-6 3-7,3 4-1,3 1 0,-1 2-3,0-4 2,-1 3-1,0 1 2,-3-1 2,-2-3 3,-1 0-3,0-2-1,-1-2-1,8 1-2,-5-4 10,-26-6 1,-2-12-5,5 5-5,-3 0 0,-2 1-12,-4-1 13,2 0 6,2 1-6,2 1 1,0 0 2,1 0-3,1 0 3,3 0-1,-2-7 2,9 3-1,10 4-2,1 8 0,1 1 0,0 0 0,6 3 0,3 12 0,-9-5-1,1 6 0,4 0 0,3-1-4,1-3 4,-2 1-3,-1-4 5,-1-2-1,-3-2-1,-3 2-1,-2 0 1,1 6 9,-20-11-1,-1-11-7,1 0 0,-1-2-1,0 0 1,3 2-1,-3 1 1,1 2 0,-1 4 2,-1 2-1,20 9 0,5-2-1,-3-1-1,1-1 1,-2 1 0,1 1-12,6 3 23,5 6-11,6 8-3,2 1-4,3 1 1,0-1 0,-4-3 8,-2-2-7,-5-6 1,-3 2 2,-4 0 6,-2 2 7,-3-4-10,-2-1 0,0-4 0,5 5 5,-1-9-4,-4-17 2,-7-6 0,0 5-2,0-5-4,-2-3-2,0 0 1,-3-3 0,-7-1-1,-6-3 3,-1-3 0,-6-1-2,1 2 1,-4 3-3,3-1 0,2-1 12,7 4-9,4 5 2,3 4 2,6 4 3,4-1-5,12 13 1,-1 4 1,0 1-1,1 1 0,-3-1 0,3-1 0,-3-1 0,1 4 1,17 13 1,2 1-2,3 1-6,2 1-2,-1-3 2,-3-3-1,-4 0 1,-5-1 1,-4 0 5,0 2 11,-1-4-10,1-2 0,-1-1 10,-1-4-14,0 0 0,-4-3 0,1-2 1,2-4-1,-4-5 4,-9-4 3,-6-5 1,-3 5-4,2-3-2,-4-6-1,-1-3-2,-1-2-1,0-2 2,-3 2 0,-3 6-1,-1-1 1,4 2 0,2 2 3,1 4 0,4 3 10,0-2-12,18 7 2,1 6 0,-1 16 0,-6-5-1,9 3-16,2 3 19,1 1 8,-1-2-13,2-2 0,-2-2 0,-1-3-1,-2-2 2,-4-2 10,1 0-11,-22-7 5,1-2-1,-3 2 0,2 0 1,0 0-1,-1 0-1,-1 0-2,-2 0 0,4 0 0,0 0 0,-2 2 0,7 9 0,5 1 1,2 3 0,0-1 0,2 2 0,-2-2 0,3 2 1,8 2-1,-2-9-1,-1-2 0,3 0 0,3 6 0,-5-4 4,-25-7 2,-3-8-3,3-5-7,-5-5 5,-4-3-5,0-1 0,3 0 0,-1 1 1,2-1 0,-4-1 5,2-1-1,0 3-1,0 1 0,6 5 0,1 3 18,6 2-19,-1 1-1,25 7 7,2 2-1,-2-2 1,-2 2-1,-1 1 0,5 8-4,-1 0-1,-1-4 1,-1-2 0,-3-1 0,1-6 0,-11-12-1,-4 0 2,-1-1-1,0 1 0,0 0 1,1-1-1,-1 1 1,1 3-1,8 22 1,-1 0 1,1 1-1,1 1 0,-1-1 0,1 1 1,-2 1-1,3-3 0,9 5 1,3-5-2,5 3 1,3 2 0,2 5-1,-1-1-5,-1 0 1,-1 1 0,-1-1 8,-4-1-2,-3-1-1,-3-3 3,-5-1-1,0-2-4,-6-1 1,3 5-1,-6 0 0,-11-7 1,-8-14-2,8-2 3,-1 0-1,-2-2 1,0 0-1,0 0 1,0-2-1,-2 0 0,2 2 1,0-1-1,0-1 0,-2 2 1,2-2-1,-4 2 0,1-1 1,-3-1 4,1 2 10,-2 0-5,0 2-12,-2 0 0,4 0 2,3-2 1,0 2-1,0-1 5,4 3-3,-4 0 7,20 17-7,4-3 0,3 0-1,-2 0 1,-1 0 0,1-2-1,0 2 1,-2 0-1,0-2-1,4 2 0,-3 2 0,-16-8-4,-6-6 4,-6-1-1,-1-1-1,-5-2 0,-1-2 0,-2 2 0,0-1 0,3 1 0,1 0 0,1 4 0,4-3 2,3 4 9,1 1-2,4-1-3,-8 0-3,6 2 0,2 2 0,1-2 10,24 0-1,1 0-4,3 0-9,-4 0 2,-1 0 0,2 0 1,2 0 1,3 2-2,1-2 0,-5 1 0,-1 3 1,-1-2-1,-3 3 1,6 2 0,-4 2-8,-3 2 15,0-2-7,0 2 0,-20-15-4,-3-7 3,-2-1 1,-3-2-1,0-3-1,-4 0 1,-2-1-1,2-2 1,-1 0-1,-1 1 0,-1-1 0,1 1 1,1-1-1,1 0 0,2 2 1,5 4 0,5 2 9,10-4 24,20 10-33,-3 8 0,1-2 1,4 4-1,0-1 0,2 1 0,0-1-1,0 1 1,0-1 0,0 1 0,0 0 0,-1-1 0,1 1 0,-2-1-1,2 1 1,-2-1 0,2-1 0,-2 2 0,0-1 0,0 1 0,2-2 0,4 1 0,3-1-1,-1 0 9,0 1 13,-5 5-2,-4 2-6,-5 3-14,-2-3 5,-1-1-1,-1 2 0,-3 3 6,-16-6-8,-12-5-1,10-3 1,-4 0 0,-1 0 0,1 0-1,-1 0 1,1-2-1,-2 2 1,2 0 0,0 0-1,-2 0 1,2 0 0,0 0-1,0 0 1,0 0 0,-1 0-1,1 0 1,-26 0-3,-22 0 3,-15 0 1,-9 0 0,-4 0-11,4 0-3,7 0 1,3 0 20,11 0-7,4 0-10,8 0 25,11 0-3,9 0-16,8 0 22,6 0-9,6 0-11,1 0 0,23 0 21,78 0-12,57 0-31,55 0-7,67 0-12,28 0-5,-6 0 1,-33 0 6,-27 0 33,-32 0 1,-22 0-5,-35 0-11,-34 0 143,-21 2-82,-17 2 16,-18 1-19,-16 0-21,-10 1-17,-10 1 1,-2 4 2,-17 1 7,-6-1 0,1-2-1,-2 0 2,-5-8-7,-10 1-1,0-2 1,-11 0-6,-28 2-4,-21 3-3,-16 4-1,-11 2 0,-1 0 1,7-1-6,12-1 3,3-1 1,4-3 22,1 2 0,11 2-3,14 3-1,10 1-1,6-1 36,11-1-39,5-2 28,5-2-30,1-1 0,3-3 5,1 1-1,4-2 0,2-2 0,4 1-1,-8-1 5,34-3-6,-4 3 1,2 0-1,-1 0 1,-1 0-1,0 0 0,8 0 1,4-4-3,15-1-3,24-8-3,18-6-2,11-6-56,8-2 59,-2 0 44,-5 4-50,4-4-2,-4 2 11,-10 2 11,-15 3 1,-8 4-1,-7 5-1,-2 1-8,-5 3 20,-9 3-4,-9 0-8,-7 4 8,-7 0-16,-4 0 0,-20 4 4,-1-2-1,1-2 1,-3 7 2,-20 5 6,-18 5-12,-14 4-8,-7 0-1,-5 4-2,3 2 1,-2 0-1,6-4 10,7-3 4,6-1-5,8-2 32,7-1-35,10-6 10,4-1 9,9-2-5,3-1-8,2-1-3,30-5 8,-4-2-1,0 2 0,2-1 0,-3 1 0,-1 0-1,3 0 1,3 0 1,5 0 0,12 0-7,8 0-1,4 0 0,3 0-1,1 0-3,-5 0 1,-4 0 4,-5 0 1,6 0 1,1 0 9,-5 0 6,-4 0-9,-4 0-10,-7 0 2,-2 0 0,-6 1 0,-4-1 2,3 0-1,-6 11 11,-11 2 2,-3-1 0,-12-1-11,6-4-2,-2 0 0,-5 2-1,1-2 1,-2 2-2,-51 9-6,-34 5-3,-18 6-3,-10 1 0,-3 2-1,3-1-5,9-1 2,9 0 11,14-1 10,9-1 0,12-3 20,11-5 2,12-4-22,9-2 15,12-1-4,3-2 9,5-2-4,2-2-13,4-4 0,6 1-2,1-1-3,0-3-1,30-12-2,-1 5 3,2 0 1,1-1-1,4 0-1,-1 0 1,0-1 0,1 1 0,-1-1 0,2 1 0,-2 0 0,25-9-2,34-6-5,39-12-7,29-8-4,34-13-5,27-12-3,87-26-11,31-15-3,9 0 0,-39 11 21,-26 7 12,-33 10-5,-13 6-25,-35 13 6,-37 12 105,-33 14 42,-28 9-66,-27 9-59,-14 8 99,-12 4-74,-7 5-3,-9 1-9,-7 1-6,-3 1 1,-1 4 2,-20 2 1,-1-6 1,-1-2 0,1 0 0,1 0 0,-6 0 0,-39 18-5,-41 16-11,-36 14-6,-30 15-5,-8 3-4,-1 5 0,-12 13-4,0 4 12,16-6 19,18-9 9,12-5 3,16-9-4,8-6-18,13-6 65,12-3-52,11-8 2,8-2 9,6-2-2,-2-1 43,7-5-64,5-2 2,9-5 16,7-3 5,7-5-13,-3 3 5,-1 1 13,1 2-17,-6 5-1,-1-1-2,1-1-2,4-2 4,3-2 4,4-4-5,7-3-1,4-3 4,3-3 4,22-10 4,10-4-8,-7 6 0,-1 0 0,1-1-1,-1 1 1,2 0 0,-1-1 0,-2 3-1,1-3 1,8-3 0,12-7-2,16-5-5,10-9-3,12-6 0,8-5-3,26-16-2,12-8 0,4 1-1,3 0 20,-12 7-14,-12 7-8,-18 7-1,-10 2 8,-13 7 36,-9 3 8,-13 6-14,-10 6-12,-6 1 0,-6 5 3,-5 4 6,4-1-16,5 6 1,-6 6-1,2-2 1,1-2-1,-4-3 0,-1-4 0,-1 0 0,0-2 0,-3-3-1,-4-6-1,2 10 1,-2-3-1,0 1 1,0-1 0,0-1 0,0 0 0,0-1 1,0-1-2,0-2 1,3-5-2,1-2 0,3 0 0,-2 0 2,2 4 0,0 5-2,-2 3 0,1 2 1,6 2 0,-3 6 2,5 3 0,0 3 0,0-1-1,0 21 10,-2 2-6,4 8-9,9 9-3,3 10-1,2 2-1,-2-2 7,0-1 2,-2-4-8,1 5 0,-3-2 22,3-6-16,-4-4 8,-4-7 1,-2-4-10,-4-4 2,-4-9 8,-4-3 0,-2-1 0,-13-17-1,3-6 1,-2 4-1,2-2 1,-9-14-4,0-4-7,-3-5-1,-7-7-1,-8-10-1,-10-10-2,-3-1 0,1-3 0,0 1 2,6 5 14,5 5-13,8 9 0,6 5 17,6 3 3,0 4-13,1 6 7,0 6-2,2 4 9,0 5-12,3 1-1,-5-4 8,7 3-7,12-1 1,9 11 0,4 11 0,-1 8-6,8 10-29,21 26 49,12 15-32,1 3 0,3-5 4,-6-6 1,-5-8 1,-5-2 1,-6-8-2,-6-4 4,-8-10 33,-7-5-6,-3-5-5,-7-3 11,-2-6-29,-3 0 0,-10-24 5,5-3 0,-1 2-1,2 2 1,0-3-1,0 3 0,0-6-4,0-5 0,0 7 2,0-2-1,0 0-1,0 0-1,0 2 1,0 0 0,0 3 1,0 1 1,2-2 1,8 14-1,2 14-1,-6-7 1,1 4-1,0-2 1,0 1-1,0 1 1,0-2-1,2 2 1,-2-1-1,0-1 1,0 2-1,17 18 0,13 14-4,11 7 0,1 5-1,2 2-1,-4-3-4,-1-1 0,-5-5 7,-6-7 11,-5-7-10,-4-9 3,-5-7 23,-3-2-25,-4-1 1,-4-1 12,-4-2-5,-3-1-2,-3 2 2,-11-10 6,3-10-10,-3 0 1,-5-6 0,-7-3-8,-6-10-1,-12-10-2,-10-11-3,-10-12-1,-1-1 0,4-3 1,9 10 1,3 6 1,7 8 8,1 0 3,1 1 16,5 4 41,2 4-91,4 3 36,1 6-6,3-1 16,0 4-14,0 1-4,0-5 10,1-1-4,0-2-5,4-2 5,-1 2-3,2 2-3,2-2 3,2 0 7,3 0-7,2 2 1,2 3 1,1 2 0,3 4-3,-1-2 0,4 30 4,-1 2 0,-1 2 1,0 0-1,4 2 1,1-6-1,6 0-14,3 4 21,3 2-11,3-3-1,3 8 1,-1 2 1,5 2-3,-3-4 5,-3-4-3,-3-3-1,-4-5 0,-5-4 1,5-1 2,-11-20 4,-4-1-1,-1 3 0,0-5 1,2 3 0,0-4 0,-3 3-1,-3-4 0,1-5-4,-2 1 0,0 3-3,-2 0 1,0 2 1,1 0-1,1 2 4,0 3 0,-2-5 7,5 28-7,4 1 0,0-3 1,0 1-1,7 2 0,4-8-2,1 2 1,-1 0-9,3 0 10,-2-1 1,2 3-3,-3 1 1,-1-1 0,-3 0 2,4 6-1,-6-3-2,-7-1 0,1 0-1,1 1 0,0 1 1,0-1-1,0 4 0,0 6 10,3-5-2,2 7-9,1 1-1,-1 1 2,0-1 0,0-1 0,-1-5-2,0-3 2,-3-1 2,1-5 8,0 3-11,-2-27 6,-2 3-1,2 0 1,0 0-1,-11-19 3,-11-4-11,-8-11-1,-5-5-1,-1-1-2,1 1 0,0 1 1,2 5 0,1 5 12,4-6 2,2 6 2,3 3-5,5 9 2,4 2 1,4 5-1,1 1 19,3 6-26,1 1 0,7 24 6,0-1-1,-1 2 1,-1-3-1,4 10 2,1-9-4,1 3-1,4 7-2,1 6-2,-3 0 1,1 0 2,0-2 0,-4-2 0,4-2-2,0 1 3,0-4 4,-2-1 5,0 0-6,-2-3-4,-1 0 0,-4-3 0,-6 5 0,-6-7 2,-6-7 1,-1-1 1,-2-2-1,5-5 0,-3-1 0,-4-5 2,-3-1-1,-3-3-7,-2-2-1,-4-3 5,1-1-2,4 3-2,6 1 0,3 2 4,1 3 8,3 3-8,3 4 6,5 1-1,-3 5 0,6 11-3,8 3 1,0 0 0,0-1-1,-2-1 1,7-1-1,1-4-1,5 9-1,1 7 0,0 6-2,3 1 1,1 2-2,3 0-3,0-1 1,-3-4 5,-4-6 0,-2-5 0,-5-3 0,2 1 4,-20-12 3,-1-6-1,2 1 2,-5-8-4,7 5-2,-3 1 1,-1 0 1,-4-2-5,-2-1 1,-3-6-2,-2-4 1,-1 2-1,1-2 1,0 4 0,2 2 1,2 3-4,3 0 24,5 3-28,-3 1-1,27 7 19,-1 0 0,2 7-2,0-1-8,4 9-1,3 2-1,0 4-7,0 1 13,-4-1-1,1-2-15,-2 1 9,-2-3 7,-4-3 4,-1 0-3,-2 1-5,6-5 0,-1 1 3,0-6 2,-1 0-4,5-2 0,-6-10 3,-17-6-1,-5 0 0,1 2-1,-5-3-4,-5-4-5,-3-6 9,-1-3-17,-3-5 21,0-4-9,0 4 0,0-2 32,5 3-26,3 4-4,-1 0-32,0 4 40,4 1 16,1 6-24,5 3-1,-1 0 1,24 17 4,-1 1 0,-1 0 0,-1-2-1,7 8 2,-9-1-26,0 4 45,7 11-24,7 4-1,0 1-20,0-4 26,-1-1 5,-4-4-10,-2-3-1,-4-6 0,-3-1 1,-2-4 4,2 3 2,-7 1-1,-14-21 0,2 0-1,0-5 0,-2-1 0,0 1 1,-2 3-1,0 2 0,-3 1 0,-4-2-2,0 0-1,-2 0-3,3 1 0,-3-1 1,4 0 2,1 2 1,5 3 2,4 0-1,-3 1 4,19 15-3,4-5 0,0 1-1,3 4 0,-3-1-2,7 7 0,0 5-1,1 4 0,4-1-1,2 3-1,0-4 0,-4-4 1,-3-1 4,0-6 0,-5-1-3,-1-6 1,6 4 5,-6-8 0,-2-12 1,-16-1-2,-2-1 0,3 4 0,-7 1-21,2 1 39,-4-4-22,-4-2-1,-2-8 0,-3-3-3,2 1 0,4 0 0,1 3 5,4 0 0,0 0-3,0 4 4,3 5 2,3 2 12,-3 1-16,11 19 2,5-1 1,2 1-1,0-1 1,-1-1-1,4-2 0,1-2-3,6 9 0,6 4-15,4 3 23,-3-2-7,-1 1 10,-2-3-29,-5-2 20,-2-5-3,-5 1 1,-2-5 4,0 7 1,-7-3 0,-9-8 0,-3-4 4,-1-2 0,-6-18-4,3 6-4,-3-6-2,-2 1-1,2-1 0,-13-5-2,-2-3 4,-2-3 2,4 4-1,2-1-4,2 1 0,2-1-1,4 4 6,7 5 2,4 6-1,2 2 10,2 3-17,11 22 14,-2-3-1,12 6-2,3-1-34,13 17 53,5 8-38,2 5 19,7 1-13,0-3 1,-2-6 0,-7-6 0,-5-2 12,-5-3-1,-4-2-4,-7-4 6,-5-5-2,-6-5-1,-3 2 0,-10-13 1,-1-4-1,2-3 1,-5 0 0,4 0 0,-1 1-1,1-3 1,-1-3-3,-3-4-2,4-2-1,-3 0-1,3-2-42,-4 1 49,-4-1-1,1 2 0,1 0 25,0 6-27,0 1-3,2 2 1,3 2 11,-1 2-12,24 5 4,4 2 1,-5-2-1,5 1 0,-1 15-40,5 8 61,4 6-25,5 2 4,-1 0-39,2-1 64,-1-5-33,1 3 3,-2 0-2,-1-3 6,-6-1 1,-4-5 0,-2-4 0,-5-3-1,1-1 4,-11-24 2,-2 1-1,-7-2 0,0 8-6,-3-4 0,-2 0 0,0-2 0,-5-5-31,-3-5 30,-2-2 26,-3-4-44,5 0 24,1-1-1,1 1-8,4 2 1,2 3 4,0-1 6,5 7-4,4 2 0,3 0-4,16 14 4,-3 5 0,0 2-1,-1 0 1,-1-1-1,3 2 1,9 7-3,-5-8-1,5 4-1,4 1 0,1 4-3,-1 2 0,-4 0 1,-4-2 4,-1-2 0,-3-1-1,-1-4 0,-3-2 4,5 0 0,-2-14 2,-12-6 0,0 1 1,-3-8-5,-3 6-2,-3-6-2,-6-10-2,-8-6-1,-4 0 0,-2-3 2,-5-2-1,4 2-1,0 1 4,2 3 8,2 6-12,-2-1 0,1 5 21,5 3-17,2-1 8,4 0 1,6 3-9,5 2 4,3 6-1,5-2 2,6 8-2,5 8-1,0 3 1,-1 1 0,1-1 0,-2 0-1,5 3 1,3-1-1,6 3-3,18 8-3,7 5 0,4 4 0,-3 2 1,-1-2 1,-5-1-4,3 3-1,-3 0 16,-6-3-3,-6-2-3,-6-7 2,-7-2-1,-3-5-1,-6-2-3,-3-3 1,1 0-1,-20-8 14,-1 1 1,-10 0 7,5 2-22,-17-3-3,-9-3-1,-4 1 0,4-2 0,-2-2 1,0-6-1,-11-2-2,-1-3 7,3 0 0,6 4 1,5 2 0,5 3 1,0 2-6,5 4 18,4 0-4,5 3-7,7 0 8,6 2-12,-1 2 0,24 0 4,2-1 1,10-1-3,-2 0 0,7 0-1,5 0 0,23 8-27,18 6 27,6 5 7,8 5-13,-8-1-5,-8-3-1,-7-3 3,-7-1 0,-7 1 24,-11-5 21,-7-1-30,-5-2-9,-4-2 0,-8-4 34,-8 1-34,-22-2 8,0-2 0,-1-2 0,3 2-1,-2 0 2,-1 0-3,-4 0-5,-8-5-1,-3-4-1,-7-6-73,-2-2 73,0 0 75,2 1-75,7 6 0,1-1 0,4 2 6,2 4 3,6-1 1,2 1-1,-3-2 4,9-4-5,11 0 0,6 6-1,5 3-3,4 0 0,0 2 0,2 0-1,-10 0 2,-1 0-1,3 0 0,-1 2 3,6 0 1,3 3-1,9 1-6,5-1 0,2 2 0,-6-3 1,-1-1 1,-2 1 1,-3 1-3,-2 2 2,-6 1 7,-3-1 6,-1-2-9,-3 0-1,3 1-2,-29-1 3,2-5 0,0-2 0,0 2 0,-6-3 0,-4-3-3,-12-2-4,-8-1-2,-1-2 0,-4 0 2,1 2 1,2 0-2,4 4 0,7 0 4,3 1 4,6 2 28,8 0-33,6 2 0,24 2 6,3-2-1,0 0 1,-2 0 0,1 0-1,-2 0 0,14 0 2,-3 0-7,14 0-3,9 0 0,5 2-1,7-2 1,-2 0-1,0 0 1,-1 5-3,-4 6 7,-7 2 3,-7-3 7,-2 1-3,-4-2-2,-4-2-4,-4 2 5,-4-4-2,-7 3 0,-1-3 5,-1 7-3,-11-1 1,-10-6-2,-1-3 0,-4-2 2,4-2-4,-1 2-2,-2 0 0,-5 0-1,-3 0-2,-10 0 0,-4 0 0,0 0 0,0 0 1,2 0 2,2 0-2,-2 0-1,3 0 13,2 0-12,4 0 1,3 0 4,5-1-2,4-3 1,-2-1 1,11-10 0,7 1 0,0 0 0,-1 0 0,-1 1 0,2-1 1,3 1 0,8 10-1,2-1-2,17-1-1,7-2-4,5 0-1,1-8 0,3-1 0,-2 0 0,-6 0 4,-5 4 4,-7-1-3,-8 6 15,-6 0-24,2 0-1,-31 5 21,5 4-2,-2-1 1,1 7-5,1-3-2,-5 0 0,-4 1-29,-4-1 56,-1-1-32,1-1-1,2-1 1,3 0 0,4-1 4,-2 1 2,25 7-1,3-3 0,-1-1 0,-2-2 0,1 3 0,-1-1 0,7-1 0,-6-4-2,4 2 0,2-2-1,0 0-1,2 0 1,-1 0-2,-1 0 0,-2 1 1,-3-1 0,5 4 0,-8 3 4,-6 4 2,-4-1-1,1 5 0,1-3-2,-6 1 0,-4-8-1,-8-1-1,-40 5-3,-54 8-12,-54 8-9,-43 4-9,-11 0-1,9-4 0,-5-4 0,16-3 3,24-6 30,35-1 13,22-6 14,20 1-4,8-4-15,14-1 43,13-1-10,15 0-11,9 0-30,8-1-4,-1 1 19,1-2 4,2 2-15,6 0 0,1-2-1,3 2-4,3 0 1,3 2 5,-4 0 1,9 3-1,11 6-1,0 1 1,7-5 0,5-3-2,5 3 0,2-2-4,0 3 0,0-3 0,-1-2 0,1 5 0,-5 1 0,-2 1 4,-2 3 2,2-1-2,0-1-1,0-2 1,-2-4-1,1-3 0,3-4 1,-8-8 0,-4-7 0,-2-4 1,-2-22-4,0-21-8,-11-86-11,-5-57-9,-5-34-3,-7-11 0,-2-3-1,0 15-4,2 13 2,4 36 26,4 40 35,4 29-19,6 31-21,1 23 128,4 20-67,3 12-13,0 11-9,2 8-13,0 4-11,4 26 0,-2 3 1,-2 0 0,1-2 1,-1 0-1,0 4 0,0-5 1,0 1-2,4 13 0,8 7-6,6 8 3,8 7-7,7 10 1,8 10-2,12 19-2,1 3 1,-5-2 0,-5-10 2,-1-6 11,-3-4 2,-1 5-11,-4-6 14,-4-6 0,-6-7 19,-6-8-16,-3-10-15,-5-6 1,-4-8 1,-2-5 17,0 1 2,1 1-8,4-2-2,1-2 6,-3-4-11,1-1-1,0-2 1,2 5 0,-4-3 1,-30-27-5,5-5 0,-6-6-1,-3-5-1,-4-4 0,-3-5-1,1 0-1,-4-2 0,2-2 0,-2 2 0,0-1 0,0-1 0,2 1 0,-2-1 0,0 0 0,4 8 1,-1 3 0,4 3 1,0 1 0,6 3 91,4 8-61,5 4-28,6 6 24,-2 6-21,10 17 2,2 2 1,1 0-1,0 0 0,-2 0 1,2 4-1,-1-6 1,5 13 0,1 11-7,5 26-4,2 16-3,2 10 0,-2-1 3,-2-5 3,0-9-6,-3-11 2,-3-10 1,-1-11 15,-2-10 4,-1-8-2,0-5-5,-2-4-1,0-5 0,0 5 1,-2-4-1,2-1 0,-2 2 0,-8-22 2,-1-11-3,6 8-1,0-3 0,-1 1 1,-1 0-1,2-1 1,-2 1-1,2-2 1,-2 2-1,1 0 1,-1-1-1,2-1 0,-2 2 1,2 0-1,-2-1 1,-2-3-1,-1-1 1,-3-4-1,-1-4-1,-3-2 1,1 1 0,2 4 0,3 5 0,2 6 0,2 1 9,18 26-4,-1 0 1,1 4 0,0-2 0,4 8 3,3 4-9,8 17-9,4 5-1,4 9-2,1 3-1,14 26-4,4 6 8,1 6 0,-3-5 7,-3-11 0,-4-13-9,-9-8 1,-4-10 5,-3-8 25,-5-7 5,-3-10-13,-6-6-2,-5-6-5,-2-4 2,0 4 2,-9-5-4,-3 1-1,-1-26 3,-4-6-7,-8-6-36,-8-12 62,-8-6-35,-6-8 0,-4-2-1,-3-3 1,-3 0 1,-2-6-1,2 3 22,5 4-25,4 5 2,8 8 36,6 7-33,8 7 2,3 8 8,2 5 10,4 3 24,1 4-38,23 11 3,-3 0-1,-1 0 1,6-2 0,-6 0-1,8 3-1,-6 8 0,2 7-4,4 5 0,1 4 0,-1-2 0,12 11-2,1 3 3,5 2 1,-5-5-2,-1-2 1,-2-4 0,-3-3-3,-2-4 3,-4-2 4,-1-3 46,-4-5-63,-6-2 5,3-3 0,-20-16 22,-1-3 0,1 2-1,4-4-1,-1-8-12,1 5 1,-9-6-1,-2-1-1,-5 0-1,0-4 3,2 2 0,1-2-3,4 4 2,2 4 1,5 3 23,0 3-27,1-1-1,6 28 14,4-5-2,3 3-2,2 6-5,1 0-17,4 2 33,0 1-16,2 1-1,4 3 0,1-2 2,1 7-1,5 2 25,-3 1-51,1-3 35,-2-2-11,-2-1-1,-2-2 0,-3-3 1,-5-3 0,-1-3 4,-1-3 10,2-4-2,1 2 7,-9-24-12,-10-1-3,-1-2-1,-5-2 0,3 0 0,-3 0 0,6 6 0,-1-3 1,-1-1-1,2-2 0,0 1 1,-7-8-1,-4-2 2,-1-2-3,-1 2 0,3 4 0,1 5 0,4 6-1,3 3 1,-3 2 2,6 16 2,8 5 2,0-2-1,0 1 1,-2-2-1,7-2 0,1-2-3,8 12 0,7 10-18,4 5 17,-1 2 9,2 1-14,-3-1-1,-1 1 0,-3-3 17,0 0-17,-5-3 4,-2-5 5,-3-6 0,-4-4-1,-2-3 0,0 3 4,-6-6-1,-3-20 6,1-3-7,-1-1-26,-5-2 22,-1 0 0,-6 0-1,0-8 27,0 1-27,2-2 2,0 4-4,0-1 4,4 4 0,-8-3-4,0-4-1,-1 0 9,3 2 3,4 1 7,1 5-21,4 4 2,0-3-2,18 21 12,-4 4-1,2 0 1,5-3 0,2 2-17,-8 0 26,5-1-15,3 2-1,1 0-1,1 0 1,-1-1 0,-1 0 0,-4-1 1,1-4-1,-3 1 1,6 1 2,-5-5 0,-3-10 0,-4-5-1,-4-3 0,0-1 0,0-3 0,-4 12 1,-1-1-1,-5-2 0,-3-6 0,-1-4 1,-2-1-2,2-1 0,2 4 0,1-1-2,3-1-1,1 0 3,1 0 5,-4 1-3,-2 5-1,-1 2 12,3 6-21,1 2 9,-3 4 5,8 15-4,9 2 1,2 1 1,0-3-1,2 8-1,-4-2-3,8 5-1,4 7-2,4 4-1,1 5 11,-1-1-5,-4-4-19,-3-2 14,-1-3 1,-6-6 7,1-2 2,1-6 19,-2-5-23,-1-1-1,-15-16 0,-2-4-19,1 1 37,-3-1-19,1 2 0,1 0 1,-1 0-1,2 0 1,-3 2-1,3-2 1,-3 0-1,-2-2 0,1 4 1,-2-7 1,-4-4 0,3 0-1,-1-1-2,2 3 0,2 0 1,4 3-1,-1 1 0,2 3 0,-1-4-3,20 27 6,1 2 0,3 2-1,-9-9 1,2 0-1,0 0 1,-1-2-1,8 11 1,-2-2-1,0 7 1,-5-7 0,2 2 1,0 0 0,0 0 0,1-2-1,1-2-1,-1 1 1,-1-5 0,-4 1-2,1 0 1,1 3 9,-4-1-13,-4-24 8,1 0 0,0-5 1,0 0-8,0-2 0,-2-1 0,-3-3-1,-4-1-1,-2-2 5,-1 3-5,3 5 4,0 2-1,4 5 2,-2-5 2,18 12 1,-1 6 1,-5 12 1,4-5-2,3 1-1,-1 5-3,3-2 1,2-6-2,-6-5 2,1-12 0,-9-2 0,-4-1 0,2 1 0,0 1 0,0-8 0,0-4 1,-4 6-1,-1-2-1,-4-3-2,-3-1-1,2 1 2,-1 1 0,2 1 0,2 3 0,2 3 3,1-3 3,8 5-3,6 13 3,3 2-1,-10 17-1,-1-5-2,2 6-1,6 3-7,4 3 11,13 12 3,4 4-26,4 3 14,2 3 0,-3-6 1,-6-3 1,0-1-4,2-5 3,-4 1 26,2-2-15,-7-5-3,-1-3-8,-6-6 1,-5-2 2,-2-6 8,-2-1 8,-2 0-17,-6-26 7,1 5-1,2-3 0,-2 1 0,-1-4 1,-8 1-32,-6-6 32,-20-22 11,-9-12-25,-3-2 0,1 1 1,8 1 17,5 7-2,7 5-1,5 7-51,3 4 54,1 0 1,2 5 39,-3 6-47,3-3-12,3 1 9,1 4 1,3 2 9,3 5-9,-2-2-1,11 24 3,-2 3 1,3 1-2,2 2 0,4 6-1,7 4 0,2 3 0,5 5-2,1-4 0,-1 1-49,-4-5 92,1 1-73,-5-5 37,0-4-1,-1-4-1,-4-3 0,-1 5 0,-2-2 0,-2 0 32,-1-1-21,-1 5-16,-4-31 5,1-3 0,0-2-2,-4-3 0,-1 6-1,-1-1-1,1-3 2,0-1-5,0 0 3,1 3-1,2 4 2,2-1 2,13 21-1,-5 7 0,3 4-1,-2-2 0,1 2 1,-1-2-1,2 0 1,-3 0-1,1 0 1,0 0-1,-4-5 1,1 2-1,1 3 5,3-2 3,-1 0-4,3-1-5,-1-3 0,-2 1 1,-1-2 1,-1 2 1,2 3 7,-5-26-5,-8-5 0,-1 5-5,-7-4-1,-4-6-1,-5-3-1,-2-3 2,-4 1-2,1 0 0,-2 4 0,3 3 2,3 6 2,2 2 1,3 1 2,4 0 2,5 2 7,2 0-8,24 15-3,-8-1-1,3 2-1,-1 2 1,2-2-1,-2 2 0,2 0 0,0 0 1,-1 2-1,1-2 0,-2 0 0,0 0 1,3 0-1,-3-2 0,0 2 0,0 0 1,1-1-1,-1 1 0,0-1 1,2 0-1,-1 1 0,-1-1 1,0 0-1,1 1 0,1 2 0,0 2 0,-2 1 3,0-2 13,-3-1-1,0 0-2,-4-2-6,2 9-7,-5-6 0,-2 1 1,-2-1-1,-8-23-1,3 1 2,0-3 1,-2-3-1,0-2 0,0 0 0,-1-1 0,1-3-25,-2 3 50,1-3-25,1 4 0,0 1 0,2 2 1,2 3-1,0 1 3,-1 2-1,-2-7 1,1 2 0,1 1 0,19 17 4,-5 5-5,3 1 1,0 1 0,-3-2 0,3 4 0,1 6 0,2-4-4,4 2 1,5-1-1,-2 1 4,-2-3-5,-1-2 0,-3-1 0,-4-2 0,-2-2 2,1 6 2,-4-3 1,-20-15-1,7-4-2,-2-2 0,0-3 0,-2 0 0,1-1 0,-1-1-1,1 0 1,-1-2-1,1 2 1,-3-1-1,3 0 1,-1 1-1,-1-1 1,0 0-1,-8-4 8,-3 0 8,-1-1-12,1 3-4,4 4 0,3 5-5,5 4 7,11 17 0,14 5 1,-7-9-1,2 0 1,-2 2-1,2-2 0,-2 2 0,0-2 1,9 8-1,-2-1 1,0 0-1,0 1 1,0-1-1,0 0 1,-3-7-1,1 2 1,4 0 5,-2 0-22,-2 2 17,-1 1 19,-2-1-22,-1 0 11,1 3-13,-7-27 8,-2-4 0,-2-5-7,-1 8 1,-1 0 0,-3-1 0,-2 3-1,1-1 1,-3 1 0,-1 1 0,-1 0 0,1 1 0,2 3-1,-1-2 2,23 16 2,-1-2 0,-1 0 0,3 3 0,-3-3 0,1 0 0,-1 1 0,1-1-1,-1 0 1,1 1 0,-2-1 0,5 4 0,2 2-1,7 5-2,1 5-1,-1 1 0,-2-1 0,-5-5 14,-4-5-13,-5-2 0,-14-25 5,-3 0 0,-1 0 0,-1-2 0,5 5-1,0-1-2,-4-2-3,-3 0 0,-2-2 0,-3-2 0,1-3 1,-1-2 0,1-2 6,1 4-5,1 3-6,0 3 5,6 4 21,1 6-24,0-2-4,13 20 17,4-2-3,1 0 0,-2 1 1,2 1-7,2 0-1,3 3-14,1 2 15,1 4 6,2 1-11,1 1 7,1-3-3,-1 1 10,-3-6-5,-4-1-19,-5-6 16,-21-4 1,-2-10 0,-3-2 0,8 6 0,-8-6 0,1 2 0,-1 0 0,1-1 0,-1-1 0,7 1 0,-2-5-1,-2 1-1,0-3 0,0-1 0,-3 0 0,0-2 0,1 2 1,0 2 1,1 1 1,-2 3-3,1 1 0,2 3 1,2 3 13,-2-1-20,27 6 11,15 16 1,2 12-11,9 8-1,4 1-1,-3 4-1,-1-2 0,7 5-1,-2 1 2,-1-6 12,-8-7 0,-5-4-1,-7 1-1,-1-5-3,-6-2 8,-4-7-3,-3-1 0,-1-3 1,2 5-1,-2-7-2,-20-13-1,3-4-2,-3 1 0,-2-4 0,-1 0 0,-3 0 0,1-1-1,-2-1 1,0 0 0,-4-5-1,-3-4 0,-4-3 4,-3 0 3,2 2-4,1 3-6,6 3 16,5 5-15,5 3 2,7 3 1,20 15 3,3-4 0,0 2 0,0-2 0,0 0 0,-2 0 0,2-1 0,-1 1-1,-1-2 1,4 11 1,-6-3-3,4 8 0,4 4-3,5 2-1,-2 1 1,0-4-2,-5-5 2,-4-3 0,-5-3 2,0-1 1,-16-5 2,-5-8 2,0-3-1,2 4 1,-11-21-2,0-3-6,-5-6 0,-7-4 0,-5-3-1,-3-3-2,1-2 1,2 0 1,-3 3 0,7 5 6,0 4 1,1-2-4,4 1 8,2 5 2,3 1-4,5 5-1,3 2-1,3 6-5,2 1 0,1 2 1,3 2 0,-1 0 4,25 5 5,-4 2-1,1 2 0,-1-2 0,-1 7-1,10 11-3,8 10-8,4 6 0,3 4-2,3 1-18,13 4 26,2 0 2,-5-4 20,-8-5-51,-3-7 34,-5-6 0,-6 4-13,-3-3 13,-6-3 20,-3-1-12,-1-5-15,-4-3 1,5 3-5,-2-10 4,-2-1 1,-13-20-1,-6 9 2,-3-1 0,0-1 0,-4-2 1,0-1-1,-19-22-29,-13-17 54,-8-11-34,-16-22-4,-4-2 0,4 4-5,4 6 2,10 5 14,8 8 2,12 15-2,4 11 23,6 9-4,2 6-10,7 8 2,4 9-3,5 5-1,19 17 3,5-1-5,0-3 1,0-1 0,0 1-1,-2-4 0,2 2 0,-7 0 0,6 7-2,3 7-5,19 24-4,10 10-75,6 4 83,-1-1 10,-3-4 25,-5-8-42,-5-2-3,-3-3 2,-8-5 27,-3-4-7,-7-7-5,-4-6-2,2-3-6,2-6 6,-2-1 1,-2-4-9,-1 0 5,3 2-1,-5 2 13,-23-4-14,-2-7 2,0 2-1,4-7 0,-6-6 1,-5-5-6,-23-20-3,-10-9-2,-2-5 0,7 6 2,2 1 1,7 4-2,0 3-3,6 6 5,3 8 14,3 4 10,4 8-12,5 2 0,1 5-1,6 3 0,0 9 1,14 7-3,5 3-4,1-8 1,-1 0 0,0 0 0,1-1-1,1-1 1,-2 2 0,0 0-1,0-2 1,1 1 0,2 5-1,8 6 0,5 9-2,6 4 0,3 2-1,1-2 1,1 3-1,0 5 1,-1-3 3,-1 0 7,-2-5-7,-3-5-3,-2-8-4,-4-7 6,-3-1 5,-2-6-2,-2 0 0,-3 0 14,2 4-7,-17 1 0,-6-10-7,0-2-1,-6-2-1,-3-5-2,9-5-1,-4-8 1,-3-3-1,-1 2 2,1-3-5,0 1 2,3 5 1,-2 2 2,2 4 2,0-1-1,4-1 4,2-2-2,3 2 3,0 1 9,3 2-18,1-3-1,6 28 10,-3-1-1,2 1-4,5 8-17,0-10 15,3 2 15,4 2-16,2 4 1,2 0-1,1-1 0,-1-1 0,-2-4 1,-4-3 2,-3-4 0,3-3 2,-7-17 1,-6 3-26,1-1 51,-2 0-26,-14-14-8,-14-5 10,-9-8-11,-10-6-1,-4-3-2,1 1-1,1-1 0,3 1 4,8 1 6,5 8 12,5 3 4,0 4-21,0 1 1,4 6 12,3 3-1,5 2 19,4 6-28,5 5 0,18 14 5,2 4 2,1 1-1,-1-1 0,-1-1-1,9 10 2,15 12-10,6 11-3,24 21-4,8 10-4,5 4 0,-1-1 7,-10-7 7,-6-10-9,-5-6 0,-6-8 1,-5-5 42,-6-5-14,-6-7-7,-9-6-4,-5-5 18,-10-8-35,-18-17 22,1-3-11,-2-1 0,1-2 0,-2-1-1,1 2 1,1-1 0,-1-1 0,0 1-1,1 1 1,-1-1 0,3 1 0,-7-2-1,-4-6 1,-9-5-2,-9-9-2,-2-4 1,-1-3-1,5 6 1,1 1-28,1 2 61,1 3-36,2 2-8,6 4 32,-1 5-14,2 4-11,1 3 27,0 2-16,5 4-3,3 3 16,-2 0-25,27 8 14,15-1 1,4 6-34,7 8 4,10 17 14,2 7 22,2 5-39,-3-1 58,-4-6-40,-4-2 23,1-3-11,-4-8-1,-4-6-21,-5-3 15,-3-1 9,-6-5-2,-3-3 15,-4-2-16,-1-3-2,1 0-2,-1-5 0,-24-3 8,-3-4 2,8-2-28,-12-13 36,-6-6-22,-2-5 0,0 3 0,0 0-1,1 1-1,3 6 2,3 3 1,1 2 3,1 4 2,5 3 0,3 4-1,1-2 6,22 11 5,0 0 0,-1 2 0,6 12-13,1 0 1,3 2-2,0-1-1,0-1 1,-3 2-4,-1-3 5,-1-3 1,-2-3 3,-3-2 13,-1-1-17,-15-19 4,-4 4-1,1 0 0,1 2 1,-2 0-1,-2-4 1,2 0-1,2 3-1,-1-5-2,-1-3-1,-4-2-1,-2-3 1,-1 1 0,0 2 0,0 4 1,-1-4-1,3 4 2,1 1 3,4 3 10,-3-1-13,7 22 2,7 1 0,-2 1 0,1-3 0,6 3-1,2-8 0,4 2 0,2 4 0,3 5-4,7 5 2,-3 1-2,1-1 16,-2 1-31,-1-4 15,-3-2 1,-3 0 2,-1-6 1,-6 1 23,1 2-41,-18-6 21,-1-7 0,-1-2 1,0 2 0,-1-4 0,-2-12-1,-5 0-5,-10-7-5,-5-5 5,-7-6-3,0-2-4,0-2 0,1 6 1,6 2 3,3 7 5,6 1-1,3 4 5,6 2 5,3 4 9,1 3-11,4 2-8,-5 1-1,4 12 3,10 4 4,2 3 0,15 7-1,3-4-7,16 23-5,10 15-1,3 6-2,-1-1 2,-2-5-1,-1-4 1,4 3-1,-5-3 5,-7-3 11,-7-10 5,-3-8-2,-6-4-4,-2-9-7,-3-4 7,-2-3-1,-2-2 0,-3 1 15,3 4-12,-15-1 0,-10-9-6,3-4-1,-2 2 0,1-2-1,-6 0 0,-3-3-1,-8-8-1,-4-3-2,-1-2-1,1 2 3,4-1 2,4 0-4,1 1 1,5 4 4,2 1 4,6 4 15,1-4-20,23 8 2,-3 5 1,1-2-1,-2 1 0,1 1 0,7 3-2,8 6-3,11 14-2,7 7 0,3 2-22,-4-2 41,-5-3 22,-4 0-37,1-3-47,0-2 44,-2-3 29,-5-3-19,-5-4-2,-5-3-6,-8-4 5,-1 2-5,-23-7 8,4-4-1,-3 0 0,1 2 0,-11-14 3,-3-8-11,-8-3-2,-17-17-2,-7-7-7,-5-2 6,3 1 4,6 3 46,5 6-94,3 2 43,4 1 6,3 6 27,7 7-17,6 4-2,5 5 0,5 5 5,6 2-15,-1 2 1,23 9 12,1-1-1,-1 1 1,2 0 0,-2 0 0,4 7 0,2 0-9,5 0 0,8 1-2,3 5 0,1-1-2,-2 4 1,-5 1 1,-1 1-1,-5 0 5,1-4 1,0 0 2,0-6 2,-4 1-3,-1-2-2,-2 0 1,-6-2 11,-1 2-12,-23-11 0,-2-7-1,-1-1 1,-1-1 0,9 4 0,-10-7 0,3-4-22,-3-6 21,-16-13 14,-11-9-20,-5-8-1,-4 0 0,3 3 0,1 2-1,7 5-1,3 6 2,6 3 7,2 4 1,6 4 1,5 6 0,2 1 6,6 6 12,2 5-5,1 0 0,10 20-7,4 1-2,1-1 2,18 0-8,10 5-2,10 4-2,11 1-2,-2 2 1,-4 0-2,-1 4 0,3 2 0,-1-1 2,-4-3 11,-9-3 1,-5-3-1,-7-1-2,-6-2-6,-4-1 6,-6-1 0,0-2 0,-2-1-1,5 3 24,-25-21-25,4 2-1,1 0 0,-3-3 0,-3-4-1,4-2 0,-5-4-1,-5-4-1,0 1-36,-3-1 36,0 5 0,6 1 32,3 3-32,2 1 4,2-1-22,1 2 23,2 4 29,-3-4-25,2 8-3,22 1-4,2 4 1,2-2 0,1 2-1,-1-2 1,2 3-1,-8 1 1,8 10 1,3 6 0,4 1-4,-1 2-1,-1-3 0,0-2 0,-5-4 1,-3-1 0,-2-1 5,-1 1 0,-1-4 6,-3 0-6,3-4 1,-1-2-3,1 1 0,7 0 0,-6-4 0,-26-4 0,-6 0 0,8-1 3,-14-7-11,-8-6 15,-1-2-13,-9-10-1,-1-4 13,1 0-14,1 2-9,6 5 51,4 4-70,7 0 31,3-1 4,2 5 22,3 1-18,4 4 16,5 3-25,1 0-1,16 18 13,5 4 0,-5-4 0,12 6-4,-3 3-6,8 3-43,1 5 52,-1-3 25,1 0-55,-3 1 41,4 1-21,-3 0 3,-3 0 4,-3-1-1,-2-4 2,-2-4 0,0 0-4,-4-3 18,3 0-22,-26-9 10,3-4-1,-3-2-1,3-1-5,-8-6 0,-6-3-1,-4-6-1,-8-5 0,1-2-3,-2 4 0,4 2 1,1 3 4,4 4 4,0 1-5,5-1 7,4 3 11,3 2-12,7 4 0,0-4-4,24 5 3,0 4 0,-1 2-1,13 7 1,-1 4-5,9 3-18,0 3 34,2 1-18,0 3-2,2 2 0,0-2 2,-4 1 5,-4-1 21,-4 0-42,-6-2 48,-5 1-47,1-4 23,-1-4-1,0-2 6,-2-3 12,-3-1-25,1-1 0,-23-9 10,-3-2 0,-2-1-5,-6 0-25,-10-6 42,-5-7-22,0-2-1,2 1 2,2-3 1,3 1-3,-2 1 2,0 4 9,4 2 0,2 3-4,3 2 1,5 4 0,3 0 15,4 3-26,-1 0-2,22 6 21,1-3-1,1 8 2,-1 9-14,6 5-2,3 8-1,-1-1 0,2 0 0,-2 3 0,-1-1 1,0-4 5,-3 1 2,-1-4 0,-1-2-1,3-2-1,-1 1 6,1-4-1,-3-4-5,-3-3 0,-3-4 0,2 2 1,-21-9 1,-1-2-1,1 2-1,-6 0-1,-34-21-3,-26-17-5,-20-15-4,-8-6-2,3 0-4,8 5 2,12 8 1,11 3 3,11 4 7,6 3 25,9 7 32,6 6-56,8 3 10,4 4 5,7 4 11,3 1-14,8 6-7,27 10-1,-4 0 1,-1 1 0,2 1 0,0-2 0,2 2 0,-2-1-1,0 1 1,2-2 0,14 17-1,16 12-2,6 9-101,12 10 115,2 6 58,1 2-84,2-2 1,-4-6 7,-5-6 4,-11-8 0,-5-3 36,-7-4-37,-6-4-1,-4-4 14,-4-7-1,-6 0 6,-5-3-7,-3-3 16,2-1-24,-13-20 2,0-5 0,0 1-1,2 1 1,-3 1 0,-9-9-2,1 3 0,-1-4-2,-6-5 0,1 2-5,-1 2 4,1 0 1,2 0 4,3 0 1,2 3-4,1 4 3,-2 2 0,2 1-1,2 4 6,-5 0-3,3 16 1,9 8 0,4-5-1,6 1-2,3-2-1,3 2-3,5-1 1,-2 1-13,0 0 25,1 0-13,-6-2 0,0-1 1,-5 0-1,-1 1 3,5 3-1,-6-1 1,-2-1-1,-2 1 1,-24-23 24,-1-3-27,-3-2-1,0 0-1,2 0-7,1 2 18,2 1-9,3 2 0,1 1 0,4 0 0,-1 2 1,3 0-1,-1 2 1,2 0 0,-1 0 0,1 0 1,0 1-1,0-1 0,-1-4 0,24 15 5,5 5 1,-10-4-1,3 1-1,-1-1 0,-1 2 1,3-1-1,-3-1 1,4 2 0,0 0 0,1 2 15,2 0-29,2-2 15,-1 2-7,0-2 3,-4-1-1,-2 1 0,4 2-1,-9 0 2,-18-15 1,2-8 1,-24-32 3,-13-10-14,-8-6-2,-2-3-3,-1 1 0,3 2 1,-1 3 0,6 5 17,9 9 5,5 10-17,10 6 4,7 10 19,6 4 5,5 3-24,21 12 11,-3 3-1,1 1-1,2-2 3,-2-1-2,8 10 0,-3 5-7,3 0-1,1 0 0,0 0 0,0 4 0,0 3 0,-3 1 3,6 1-1,-1-4 0,-4-5 10,-3-3-12,-4-5 0,-1 1 0,-22-16 4,-1 0 0,-2-2 0,0 2 0,2 0 0,-2 0-1,1 0 1,1 1 0,-2-3 0,3 2-1,-1-4-3,-4-3-1,-1-4-1,-4-1-1,-7-10-1,-9-8-2,-9-8-2,0-1 4,-1-3-1,5 3 0,5 3 1,7 7 1,7 10 39,7 9-41,7 7 3,16 28 10,0-4-2,0 0 2,2 0-1,2 4 2,3 9 2,3 5-6,8 6-10,1 1-1,2-3 0,4 8-2,3 1 6,0 0 6,-5-6 2,-2-2-3,-6-3-9,0 0 3,-2-3 7,-4-5 3,-4-4 10,-5-6-12,-4-5-3,-15-6 0,-6-16-1,8 4 1,-2 0 0,1 0-1,-1-2 1,1 0 0,-1 2-1,1 0 1,1-2-1,-1 2 1,-1 0 0,1-1-1,1 1 1,-1 0 0,1 0-1,-1 0 1,-5 0 0,-5-2-1,-2 0 6,-3-4 1,2-1-2,-1-2-8,2 2 3,4-1 2,3 3-1,0 1-3,4 0 1,1 1 0,2 3 0,2-2 0,-5-4-1,24 20 5,2 4-14,6 7 10,4 2-2,5 3 0,2 2 0,3 3 0,-1-1-1,2 3 0,0-1 1,0 1-1,1 1 0,-1-3 0,0 3 1,0-3-1,0 1 0,-1 1 0,1-1 1,-5-2-1,-4-2 2,-5-2-1,-3-4 2,-4-4 26,-4-3 8,-1-1 17,5 0-48,-3-8 0,1-3 0,-1-2 0,-1 1 0,2 1 0,-13 10-1,-3 1 0,1 0 0,1-1 0,-2 1-1,3 0 1,-3 0 0,2-1 0,-1 1 0,1 0-1,-1-2 1,1 1 0,-2 1 0,3 0 0,-3 0-1</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4-11-10T18:20:53"/>
    </inkml:context>
    <inkml:brush xml:id="br0">
      <inkml:brushProperty name="width" value="0.05292" units="cm"/>
      <inkml:brushProperty name="height" value="0.05292" units="cm"/>
      <inkml:brushProperty name="color" value="#F9FBFA"/>
    </inkml:brush>
  </inkml:definitions>
  <inkml:trace contextRef="#ctx0" brushRef="#br0">12492 2041 767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D10DAD2-9CCE-4213-A5C1-18A447957A47}" type="datetimeFigureOut">
              <a:rPr lang="en-US" smtClean="0"/>
              <a:t>10/30/2025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1368B64-9CDB-4B8E-A43B-58DC1C4D3DE3}"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1368B64-9CDB-4B8E-A43B-58DC1C4D3DE3}" type="slidenum">
              <a:rPr lang="en-US" smtClean="0"/>
              <a:t>37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2_Title Slide">
    <p:spTree>
      <p:nvGrpSpPr>
        <p:cNvPr id="1" name=""/>
        <p:cNvGrpSpPr/>
        <p:nvPr/>
      </p:nvGrpSpPr>
      <p:grpSpPr>
        <a:xfrm>
          <a:off x="0" y="0"/>
          <a:ext cx="0" cy="0"/>
          <a:chOff x="0" y="0"/>
          <a:chExt cx="0" cy="0"/>
        </a:xfrm>
      </p:grpSpPr>
      <p:cxnSp>
        <p:nvCxnSpPr>
          <p:cNvPr id="7" name="Straight Connector 6"/>
          <p:cNvCxnSpPr/>
          <p:nvPr/>
        </p:nvCxnSpPr>
        <p:spPr>
          <a:xfrm flipH="1">
            <a:off x="2057006" y="6492194"/>
            <a:ext cx="954000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0" y="0"/>
            <a:ext cx="12191999" cy="66675"/>
          </a:xfrm>
          <a:prstGeom prst="rect">
            <a:avLst/>
          </a:prstGeom>
          <a:solidFill>
            <a:srgbClr val="C43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Museo 700" panose="02000000000000000000" pitchFamily="50" charset="0"/>
            </a:endParaRPr>
          </a:p>
        </p:txBody>
      </p:sp>
      <p:sp>
        <p:nvSpPr>
          <p:cNvPr id="9" name="Freeform 6"/>
          <p:cNvSpPr>
            <a:spLocks noChangeAspect="1"/>
          </p:cNvSpPr>
          <p:nvPr/>
        </p:nvSpPr>
        <p:spPr bwMode="auto">
          <a:xfrm>
            <a:off x="0" y="190500"/>
            <a:ext cx="779272" cy="475488"/>
          </a:xfrm>
          <a:custGeom>
            <a:avLst/>
            <a:gdLst>
              <a:gd name="T0" fmla="*/ 381 w 708"/>
              <a:gd name="T1" fmla="*/ 0 h 432"/>
              <a:gd name="T2" fmla="*/ 0 w 708"/>
              <a:gd name="T3" fmla="*/ 0 h 432"/>
              <a:gd name="T4" fmla="*/ 0 w 708"/>
              <a:gd name="T5" fmla="*/ 379 h 432"/>
              <a:gd name="T6" fmla="*/ 0 w 708"/>
              <a:gd name="T7" fmla="*/ 432 h 432"/>
              <a:gd name="T8" fmla="*/ 708 w 708"/>
              <a:gd name="T9" fmla="*/ 432 h 432"/>
              <a:gd name="T10" fmla="*/ 381 w 708"/>
              <a:gd name="T11" fmla="*/ 0 h 432"/>
            </a:gdLst>
            <a:ahLst/>
            <a:cxnLst>
              <a:cxn ang="0">
                <a:pos x="T0" y="T1"/>
              </a:cxn>
              <a:cxn ang="0">
                <a:pos x="T2" y="T3"/>
              </a:cxn>
              <a:cxn ang="0">
                <a:pos x="T4" y="T5"/>
              </a:cxn>
              <a:cxn ang="0">
                <a:pos x="T6" y="T7"/>
              </a:cxn>
              <a:cxn ang="0">
                <a:pos x="T8" y="T9"/>
              </a:cxn>
              <a:cxn ang="0">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p:spPr>
        <p:txBody>
          <a:bodyPr vert="horz" wrap="square" lIns="91440" tIns="45720" rIns="91440" bIns="45720" numCol="1" anchor="t" anchorCtr="0" compatLnSpc="1"/>
          <a:lstStyle/>
          <a:p>
            <a:endParaRPr lang="en-IN" dirty="0">
              <a:latin typeface="Museo 700" panose="02000000000000000000" pitchFamily="50" charset="0"/>
            </a:endParaRPr>
          </a:p>
        </p:txBody>
      </p:sp>
      <p:sp>
        <p:nvSpPr>
          <p:cNvPr id="10" name="Freeform 14"/>
          <p:cNvSpPr/>
          <p:nvPr/>
        </p:nvSpPr>
        <p:spPr bwMode="auto">
          <a:xfrm>
            <a:off x="574360" y="190119"/>
            <a:ext cx="680080" cy="609981"/>
          </a:xfrm>
          <a:custGeom>
            <a:avLst/>
            <a:gdLst>
              <a:gd name="T0" fmla="*/ 158 w 553"/>
              <a:gd name="T1" fmla="*/ 0 h 496"/>
              <a:gd name="T2" fmla="*/ 0 w 553"/>
              <a:gd name="T3" fmla="*/ 0 h 496"/>
              <a:gd name="T4" fmla="*/ 395 w 553"/>
              <a:gd name="T5" fmla="*/ 496 h 496"/>
              <a:gd name="T6" fmla="*/ 553 w 553"/>
              <a:gd name="T7" fmla="*/ 496 h 496"/>
              <a:gd name="T8" fmla="*/ 158 w 553"/>
              <a:gd name="T9" fmla="*/ 0 h 496"/>
            </a:gdLst>
            <a:ahLst/>
            <a:cxnLst>
              <a:cxn ang="0">
                <a:pos x="T0" y="T1"/>
              </a:cxn>
              <a:cxn ang="0">
                <a:pos x="T2" y="T3"/>
              </a:cxn>
              <a:cxn ang="0">
                <a:pos x="T4" y="T5"/>
              </a:cxn>
              <a:cxn ang="0">
                <a:pos x="T6" y="T7"/>
              </a:cxn>
              <a:cxn ang="0">
                <a:pos x="T8" y="T9"/>
              </a:cxn>
            </a:cxnLst>
            <a:rect l="0" t="0" r="r" b="b"/>
            <a:pathLst>
              <a:path w="553" h="496">
                <a:moveTo>
                  <a:pt x="158" y="0"/>
                </a:moveTo>
                <a:lnTo>
                  <a:pt x="0" y="0"/>
                </a:lnTo>
                <a:lnTo>
                  <a:pt x="395" y="496"/>
                </a:lnTo>
                <a:lnTo>
                  <a:pt x="553" y="496"/>
                </a:lnTo>
                <a:lnTo>
                  <a:pt x="158" y="0"/>
                </a:lnTo>
                <a:close/>
              </a:path>
            </a:pathLst>
          </a:custGeom>
          <a:solidFill>
            <a:schemeClr val="bg1">
              <a:lumMod val="50000"/>
              <a:alpha val="40000"/>
            </a:schemeClr>
          </a:solidFill>
          <a:ln>
            <a:noFill/>
          </a:ln>
        </p:spPr>
        <p:txBody>
          <a:bodyPr vert="horz" wrap="square" lIns="91440" tIns="45720" rIns="91440" bIns="45720" numCol="1" anchor="t" anchorCtr="0" compatLnSpc="1"/>
          <a:lstStyle/>
          <a:p>
            <a:endParaRPr lang="en-IN" dirty="0">
              <a:latin typeface="Museo 700" panose="02000000000000000000" pitchFamily="50" charset="0"/>
            </a:endParaRPr>
          </a:p>
        </p:txBody>
      </p:sp>
      <p:sp>
        <p:nvSpPr>
          <p:cNvPr id="11" name="Freeform 6"/>
          <p:cNvSpPr>
            <a:spLocks noChangeAspect="1"/>
          </p:cNvSpPr>
          <p:nvPr/>
        </p:nvSpPr>
        <p:spPr bwMode="auto">
          <a:xfrm>
            <a:off x="11597006" y="6482669"/>
            <a:ext cx="615126" cy="375331"/>
          </a:xfrm>
          <a:custGeom>
            <a:avLst/>
            <a:gdLst>
              <a:gd name="T0" fmla="*/ 381 w 708"/>
              <a:gd name="T1" fmla="*/ 0 h 432"/>
              <a:gd name="T2" fmla="*/ 0 w 708"/>
              <a:gd name="T3" fmla="*/ 0 h 432"/>
              <a:gd name="T4" fmla="*/ 0 w 708"/>
              <a:gd name="T5" fmla="*/ 379 h 432"/>
              <a:gd name="T6" fmla="*/ 0 w 708"/>
              <a:gd name="T7" fmla="*/ 432 h 432"/>
              <a:gd name="T8" fmla="*/ 708 w 708"/>
              <a:gd name="T9" fmla="*/ 432 h 432"/>
              <a:gd name="T10" fmla="*/ 381 w 708"/>
              <a:gd name="T11" fmla="*/ 0 h 432"/>
            </a:gdLst>
            <a:ahLst/>
            <a:cxnLst>
              <a:cxn ang="0">
                <a:pos x="T0" y="T1"/>
              </a:cxn>
              <a:cxn ang="0">
                <a:pos x="T2" y="T3"/>
              </a:cxn>
              <a:cxn ang="0">
                <a:pos x="T4" y="T5"/>
              </a:cxn>
              <a:cxn ang="0">
                <a:pos x="T6" y="T7"/>
              </a:cxn>
              <a:cxn ang="0">
                <a:pos x="T8" y="T9"/>
              </a:cxn>
              <a:cxn ang="0">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p:spPr>
        <p:txBody>
          <a:bodyPr vert="horz" wrap="square" lIns="91440" tIns="45720" rIns="91440" bIns="45720" numCol="1" anchor="t" anchorCtr="0" compatLnSpc="1"/>
          <a:lstStyle/>
          <a:p>
            <a:endParaRPr lang="en-IN" dirty="0">
              <a:latin typeface="Museo 700" panose="02000000000000000000" pitchFamily="50" charset="0"/>
            </a:endParaRPr>
          </a:p>
        </p:txBody>
      </p:sp>
      <p:sp>
        <p:nvSpPr>
          <p:cNvPr id="12" name="Slide Number Placeholder 5"/>
          <p:cNvSpPr txBox="1"/>
          <p:nvPr/>
        </p:nvSpPr>
        <p:spPr>
          <a:xfrm>
            <a:off x="11621977" y="6530294"/>
            <a:ext cx="406399" cy="365125"/>
          </a:xfrm>
          <a:prstGeom prst="rect">
            <a:avLst/>
          </a:prstGeom>
        </p:spPr>
        <p:txBody>
          <a:bodyPr/>
          <a:lstStyle/>
          <a:p>
            <a:pPr marL="0" marR="0" lvl="0" indent="0" algn="ctr" defTabSz="913765" rtl="0" eaLnBrk="1" fontAlgn="auto" latinLnBrk="0" hangingPunct="1">
              <a:lnSpc>
                <a:spcPct val="100000"/>
              </a:lnSpc>
              <a:spcBef>
                <a:spcPts val="0"/>
              </a:spcBef>
              <a:spcAft>
                <a:spcPts val="0"/>
              </a:spcAft>
              <a:buClrTx/>
              <a:buSzTx/>
              <a:buFontTx/>
              <a:buNone/>
              <a:defRPr/>
            </a:pPr>
            <a:fld id="{73712EF7-039F-497C-B2F5-5E3D3FD47D72}" type="slidenum">
              <a:rPr kumimoji="0" lang="en-US" sz="1300" b="0" i="0" u="none" strike="noStrike" kern="1200" cap="none" spc="0" normalizeH="0" baseline="0" noProof="0" smtClean="0">
                <a:ln>
                  <a:noFill/>
                </a:ln>
                <a:solidFill>
                  <a:schemeClr val="bg1"/>
                </a:solidFill>
                <a:effectLst/>
                <a:uLnTx/>
                <a:uFillTx/>
                <a:latin typeface="Museo 700" panose="02000000000000000000" pitchFamily="50" charset="0"/>
                <a:ea typeface="+mn-ea"/>
                <a:cs typeface="+mn-cs"/>
              </a:rPr>
              <a:t>‹#›</a:t>
            </a:fld>
            <a:endParaRPr kumimoji="0" lang="en-US" sz="1300" b="0" i="0" u="none" strike="noStrike" kern="1200" cap="none" spc="0" normalizeH="0" baseline="0" noProof="0" dirty="0">
              <a:ln>
                <a:noFill/>
              </a:ln>
              <a:solidFill>
                <a:schemeClr val="bg1"/>
              </a:solidFill>
              <a:effectLst/>
              <a:uLnTx/>
              <a:uFillTx/>
              <a:latin typeface="Museo 700" panose="02000000000000000000" pitchFamily="50" charset="0"/>
              <a:ea typeface="+mn-ea"/>
              <a:cs typeface="+mn-cs"/>
            </a:endParaRPr>
          </a:p>
        </p:txBody>
      </p:sp>
      <p:pic>
        <p:nvPicPr>
          <p:cNvPr id="13" name="Picture 2"/>
          <p:cNvPicPr>
            <a:picLocks noChangeAspect="1" noChangeArrowheads="1"/>
          </p:cNvPicPr>
          <p:nvPr/>
        </p:nvPicPr>
        <p:blipFill>
          <a:blip r:embed="rId2" cstate="print"/>
          <a:srcRect/>
          <a:stretch>
            <a:fillRect/>
          </a:stretch>
        </p:blipFill>
        <p:spPr bwMode="auto">
          <a:xfrm>
            <a:off x="75425" y="5944433"/>
            <a:ext cx="1854925" cy="816158"/>
          </a:xfrm>
          <a:prstGeom prst="rect">
            <a:avLst/>
          </a:prstGeom>
          <a:noFill/>
          <a:ln w="9525">
            <a:noFill/>
            <a:miter lim="800000"/>
            <a:headEnd/>
            <a:tailEnd/>
          </a:ln>
          <a:effectLst/>
        </p:spPr>
      </p:pic>
      <p:sp>
        <p:nvSpPr>
          <p:cNvPr id="14" name="TextBox 13"/>
          <p:cNvSpPr txBox="1"/>
          <p:nvPr/>
        </p:nvSpPr>
        <p:spPr>
          <a:xfrm>
            <a:off x="1666820" y="6581001"/>
            <a:ext cx="10155936" cy="276999"/>
          </a:xfrm>
          <a:prstGeom prst="rect">
            <a:avLst/>
          </a:prstGeom>
          <a:noFill/>
        </p:spPr>
        <p:txBody>
          <a:bodyPr wrap="square" rtlCol="0">
            <a:spAutoFit/>
          </a:bodyPr>
          <a:lstStyle/>
          <a:p>
            <a:r>
              <a:rPr lang="en-IN" sz="1200" b="1" dirty="0">
                <a:solidFill>
                  <a:srgbClr val="C00000"/>
                </a:solidFill>
                <a:latin typeface="Museo 300" panose="02000000000000000000" pitchFamily="50" charset="0"/>
              </a:rPr>
              <a:t>Affiliated to VTU, Belagavi</a:t>
            </a:r>
            <a:r>
              <a:rPr lang="en-US" sz="1200" b="1" dirty="0">
                <a:solidFill>
                  <a:srgbClr val="C00000"/>
                </a:solidFill>
                <a:latin typeface="Museo 300" panose="02000000000000000000" pitchFamily="50" charset="0"/>
              </a:rPr>
              <a:t>, </a:t>
            </a:r>
            <a:r>
              <a:rPr lang="en-IN" sz="1200" b="1" dirty="0">
                <a:solidFill>
                  <a:srgbClr val="C00000"/>
                </a:solidFill>
                <a:latin typeface="Museo 300" panose="02000000000000000000" pitchFamily="50" charset="0"/>
              </a:rPr>
              <a:t>Approved By AICTE, New Delhi, Recognized by UGC with 2(f) &amp; 12(B) status</a:t>
            </a:r>
            <a:r>
              <a:rPr lang="en-US" sz="1200" b="1" dirty="0">
                <a:solidFill>
                  <a:srgbClr val="C00000"/>
                </a:solidFill>
                <a:latin typeface="Museo 300" panose="02000000000000000000" pitchFamily="50" charset="0"/>
              </a:rPr>
              <a:t>, </a:t>
            </a:r>
            <a:r>
              <a:rPr lang="en-IN" sz="1200" b="1" dirty="0">
                <a:solidFill>
                  <a:srgbClr val="C00000"/>
                </a:solidFill>
                <a:latin typeface="Museo 300" panose="02000000000000000000" pitchFamily="50" charset="0"/>
              </a:rPr>
              <a:t>Accredited By NBA and NAAC</a:t>
            </a:r>
            <a:endParaRPr lang="en-US" sz="1200" b="1" dirty="0">
              <a:solidFill>
                <a:srgbClr val="C00000"/>
              </a:solidFill>
              <a:latin typeface="Museo 300" panose="02000000000000000000" pitchFamily="50"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7641761-50FA-4D90-9081-EF270DBB8346}" type="datetimeFigureOut">
              <a:rPr lang="en-US" smtClean="0"/>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10890D-FD8D-4E78-8ACD-E79D1BDFFAF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7641761-50FA-4D90-9081-EF270DBB8346}" type="datetimeFigureOut">
              <a:rPr lang="en-US" smtClean="0"/>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10890D-FD8D-4E78-8ACD-E79D1BDFFAF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641761-50FA-4D90-9081-EF270DBB8346}" type="datetimeFigureOut">
              <a:rPr lang="en-US" smtClean="0"/>
              <a:t>10/30/2025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10890D-FD8D-4E78-8ACD-E79D1BDFFAF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03E030-45F4-4BF3-A604-F963E4300390}" type="datetimeFigureOut">
              <a:rPr lang="en-US" smtClean="0"/>
              <a:t>10/30/2025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5DBC8E-BCA1-40B6-9A00-F48178FC3A3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customXml" Target="../ink/ink9.xml"/><Relationship Id="rId3" Type="http://schemas.openxmlformats.org/officeDocument/2006/relationships/customXml" Target="../ink/ink1.xml"/><Relationship Id="rId7" Type="http://schemas.openxmlformats.org/officeDocument/2006/relationships/customXml" Target="../ink/ink4.xml"/><Relationship Id="rId12" Type="http://schemas.openxmlformats.org/officeDocument/2006/relationships/customXml" Target="../ink/ink8.xm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customXml" Target="../ink/ink3.xml"/><Relationship Id="rId11" Type="http://schemas.openxmlformats.org/officeDocument/2006/relationships/customXml" Target="../ink/ink7.xml"/><Relationship Id="rId5" Type="http://schemas.openxmlformats.org/officeDocument/2006/relationships/customXml" Target="../ink/ink2.xml"/><Relationship Id="rId15" Type="http://schemas.openxmlformats.org/officeDocument/2006/relationships/image" Target="../media/image5.png"/><Relationship Id="rId10" Type="http://schemas.openxmlformats.org/officeDocument/2006/relationships/customXml" Target="../ink/ink6.xml"/><Relationship Id="rId4" Type="http://schemas.openxmlformats.org/officeDocument/2006/relationships/image" Target="../media/image3.png"/><Relationship Id="rId9" Type="http://schemas.openxmlformats.org/officeDocument/2006/relationships/customXml" Target="../ink/ink5.xml"/><Relationship Id="rId14" Type="http://schemas.openxmlformats.org/officeDocument/2006/relationships/customXml" Target="../ink/ink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1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hyperlink" Target="https://www.geeksforgeeks.org/real-time-systems/" TargetMode="Externa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hyperlink" Target="https://www.geeksforgeeks.org/a-search-algorithm/" TargetMode="Externa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hyperlink" Target="https://www.geeksforgeeks.org/introduction-hill-climbing-artificial-intelligence/" TargetMode="External"/><Relationship Id="rId2" Type="http://schemas.openxmlformats.org/officeDocument/2006/relationships/hyperlink" Target="https://www.geeksforgeeks.org/greedy-best-first-search-algorithm/" TargetMode="Externa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p:cNvSpPr txBox="1"/>
          <p:nvPr/>
        </p:nvSpPr>
        <p:spPr>
          <a:xfrm>
            <a:off x="479474" y="260830"/>
            <a:ext cx="11352627" cy="531328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1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3600" b="1" dirty="0">
              <a:latin typeface="Museo 300" panose="02000000000000000000" pitchFamily="50" charset="0"/>
              <a:cs typeface="Times New Roman" panose="02020603050405020304" pitchFamily="18" charset="0"/>
            </a:endParaRPr>
          </a:p>
          <a:p>
            <a:pPr algn="ctr">
              <a:lnSpc>
                <a:spcPct val="101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3600" b="1" dirty="0">
              <a:latin typeface="Museo 300" panose="02000000000000000000" pitchFamily="50" charset="0"/>
              <a:cs typeface="Times New Roman" panose="02020603050405020304" pitchFamily="18" charset="0"/>
            </a:endParaRPr>
          </a:p>
          <a:p>
            <a:pPr algn="ctr">
              <a:lnSpc>
                <a:spcPct val="101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800" b="1" dirty="0">
                <a:solidFill>
                  <a:schemeClr val="accent1"/>
                </a:solidFill>
                <a:effectLst>
                  <a:outerShdw blurRad="38100" dist="25400" dir="5400000" algn="ctr" rotWithShape="0">
                    <a:srgbClr val="6E747A">
                      <a:alpha val="43000"/>
                    </a:srgbClr>
                  </a:outerShdw>
                </a:effectLst>
                <a:latin typeface="Museo 300" panose="02000000000000000000" pitchFamily="50" charset="0"/>
                <a:cs typeface="Times New Roman" panose="02020603050405020304" pitchFamily="18" charset="0"/>
              </a:rPr>
              <a:t>ARTIFICAL INTELLIGENCE</a:t>
            </a:r>
          </a:p>
          <a:p>
            <a:pPr algn="ctr">
              <a:lnSpc>
                <a:spcPct val="101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2800" b="1" dirty="0">
              <a:solidFill>
                <a:schemeClr val="accent1"/>
              </a:solidFill>
              <a:effectLst>
                <a:outerShdw blurRad="38100" dist="25400" dir="5400000" algn="ctr" rotWithShape="0">
                  <a:srgbClr val="6E747A">
                    <a:alpha val="43000"/>
                  </a:srgbClr>
                </a:outerShdw>
              </a:effectLst>
              <a:latin typeface="Museo 300" panose="02000000000000000000" pitchFamily="50" charset="0"/>
              <a:cs typeface="Times New Roman" panose="02020603050405020304" pitchFamily="18" charset="0"/>
            </a:endParaRPr>
          </a:p>
          <a:p>
            <a:pPr algn="ctr">
              <a:lnSpc>
                <a:spcPct val="101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3600" b="1" dirty="0">
                <a:latin typeface="Times New Roman" panose="02020603050405020304" pitchFamily="18" charset="0"/>
                <a:cs typeface="Times New Roman" panose="02020603050405020304" pitchFamily="18" charset="0"/>
              </a:rPr>
              <a:t>MODULE -3</a:t>
            </a:r>
          </a:p>
          <a:p>
            <a:pPr algn="ctr">
              <a:lnSpc>
                <a:spcPct val="101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3600" b="1" dirty="0">
                <a:latin typeface="Times New Roman" panose="02020603050405020304" pitchFamily="18" charset="0"/>
                <a:cs typeface="Times New Roman" panose="02020603050405020304" pitchFamily="18" charset="0"/>
              </a:rPr>
              <a:t>SEARCHING STRATERGIES, LOCAL SEARCH ALGORITHMS</a:t>
            </a:r>
          </a:p>
          <a:p>
            <a:pPr algn="ctr">
              <a:lnSpc>
                <a:spcPct val="101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3600" b="1" dirty="0">
              <a:latin typeface="Times New Roman" panose="02020603050405020304" pitchFamily="18" charset="0"/>
              <a:cs typeface="Times New Roman" panose="02020603050405020304" pitchFamily="18" charset="0"/>
            </a:endParaRPr>
          </a:p>
          <a:p>
            <a:pPr algn="ctr">
              <a:lnSpc>
                <a:spcPct val="101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3600" b="1" dirty="0">
              <a:latin typeface="Times New Roman" panose="02020603050405020304" pitchFamily="18" charset="0"/>
              <a:cs typeface="Times New Roman" panose="02020603050405020304" pitchFamily="18" charset="0"/>
            </a:endParaRPr>
          </a:p>
          <a:p>
            <a:pPr algn="r"/>
            <a:endParaRPr lang="en-US" sz="2400" b="1" dirty="0">
              <a:latin typeface="Times New Roman" panose="02020603050405020304" pitchFamily="18" charset="0"/>
              <a:cs typeface="Times New Roman" panose="02020603050405020304" pitchFamily="18" charset="0"/>
            </a:endParaRPr>
          </a:p>
          <a:p>
            <a:pPr algn="r"/>
            <a:endParaRPr lang="en-US" sz="2400" b="1" dirty="0">
              <a:latin typeface="Times New Roman" panose="02020603050405020304" pitchFamily="18" charset="0"/>
              <a:cs typeface="Times New Roman" panose="02020603050405020304" pitchFamily="18" charset="0"/>
            </a:endParaRPr>
          </a:p>
          <a:p>
            <a:pPr algn="r"/>
            <a:endParaRPr lang="en-US" sz="2400" b="1" dirty="0">
              <a:latin typeface="Times New Roman" panose="02020603050405020304" pitchFamily="18" charset="0"/>
              <a:cs typeface="Times New Roman" panose="02020603050405020304" pitchFamily="18" charset="0"/>
            </a:endParaRPr>
          </a:p>
          <a:p>
            <a:pPr algn="ctr">
              <a:lnSpc>
                <a:spcPct val="101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2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463550" y="765175"/>
            <a:ext cx="11309985" cy="5146040"/>
          </a:xfrm>
          <a:prstGeom prst="rect">
            <a:avLst/>
          </a:prstGeom>
        </p:spPr>
        <p:txBody>
          <a:bodyPr wrap="square">
            <a:noAutofit/>
          </a:bodyPr>
          <a:lstStyle/>
          <a:p>
            <a:pPr marL="0" indent="0" algn="just" fontAlgn="base">
              <a:spcBef>
                <a:spcPct val="0"/>
              </a:spcBef>
              <a:spcAft>
                <a:spcPct val="0"/>
              </a:spcAft>
            </a:pPr>
            <a:r>
              <a:rPr sz="2800" b="1" i="1">
                <a:solidFill>
                  <a:srgbClr val="FF0000"/>
                </a:solidFill>
                <a:latin typeface="Times New Roman" panose="02020603050405020304" pitchFamily="18" charset="0"/>
                <a:ea typeface="Nunito"/>
                <a:cs typeface="Times New Roman" panose="02020603050405020304" pitchFamily="18" charset="0"/>
              </a:rPr>
              <a:t>Artificial Intelligence </a:t>
            </a:r>
            <a:r>
              <a:rPr sz="2800" b="0" i="0">
                <a:solidFill>
                  <a:srgbClr val="273239"/>
                </a:solidFill>
                <a:latin typeface="Times New Roman" panose="02020603050405020304" pitchFamily="18" charset="0"/>
                <a:ea typeface="Nunito"/>
                <a:cs typeface="Times New Roman" panose="02020603050405020304" pitchFamily="18" charset="0"/>
              </a:rPr>
              <a:t>is the study of building agents that</a:t>
            </a:r>
            <a:r>
              <a:rPr sz="2800" b="0" i="0">
                <a:solidFill>
                  <a:srgbClr val="FF0000"/>
                </a:solidFill>
                <a:latin typeface="Times New Roman" panose="02020603050405020304" pitchFamily="18" charset="0"/>
                <a:ea typeface="Nunito"/>
                <a:cs typeface="Times New Roman" panose="02020603050405020304" pitchFamily="18" charset="0"/>
              </a:rPr>
              <a:t> act rationally</a:t>
            </a:r>
            <a:r>
              <a:rPr sz="2800" b="0" i="0">
                <a:solidFill>
                  <a:srgbClr val="273239"/>
                </a:solidFill>
                <a:latin typeface="Times New Roman" panose="02020603050405020304" pitchFamily="18" charset="0"/>
                <a:ea typeface="Nunito"/>
                <a:cs typeface="Times New Roman" panose="02020603050405020304" pitchFamily="18" charset="0"/>
              </a:rPr>
              <a:t>. Most of the time, these agents perform some kind of</a:t>
            </a:r>
            <a:r>
              <a:rPr sz="2800" b="0" i="0">
                <a:solidFill>
                  <a:srgbClr val="FF0000"/>
                </a:solidFill>
                <a:latin typeface="Times New Roman" panose="02020603050405020304" pitchFamily="18" charset="0"/>
                <a:ea typeface="Nunito"/>
                <a:cs typeface="Times New Roman" panose="02020603050405020304" pitchFamily="18" charset="0"/>
              </a:rPr>
              <a:t> search algorithm</a:t>
            </a:r>
            <a:r>
              <a:rPr sz="2800" b="0" i="0">
                <a:solidFill>
                  <a:srgbClr val="273239"/>
                </a:solidFill>
                <a:latin typeface="Times New Roman" panose="02020603050405020304" pitchFamily="18" charset="0"/>
                <a:ea typeface="Nunito"/>
                <a:cs typeface="Times New Roman" panose="02020603050405020304" pitchFamily="18" charset="0"/>
              </a:rPr>
              <a:t> in the background in order to achieve their tasks. </a:t>
            </a:r>
          </a:p>
          <a:p>
            <a:pPr marL="476250" lvl="1" indent="0" algn="just" fontAlgn="base">
              <a:spcBef>
                <a:spcPts val="300"/>
              </a:spcBef>
              <a:spcAft>
                <a:spcPts val="300"/>
              </a:spcAft>
              <a:buFont typeface="Arial" panose="020B0604020202020204"/>
              <a:buNone/>
            </a:pPr>
            <a:r>
              <a:rPr sz="2800" b="0" i="0">
                <a:solidFill>
                  <a:srgbClr val="273239"/>
                </a:solidFill>
                <a:latin typeface="Times New Roman" panose="02020603050405020304" pitchFamily="18" charset="0"/>
                <a:ea typeface="Nunito"/>
                <a:cs typeface="Times New Roman" panose="02020603050405020304" pitchFamily="18" charset="0"/>
              </a:rPr>
              <a:t>A search problem consists of: </a:t>
            </a:r>
          </a:p>
          <a:p>
            <a:pPr marL="933450" lvl="1" indent="-457200" algn="just" fontAlgn="base">
              <a:spcBef>
                <a:spcPts val="300"/>
              </a:spcBef>
              <a:spcAft>
                <a:spcPts val="300"/>
              </a:spcAft>
              <a:buFont typeface="Arial" panose="020B0604020202020204" pitchFamily="34" charset="0"/>
              <a:buChar char="•"/>
            </a:pPr>
            <a:r>
              <a:rPr sz="2800" b="1" i="0">
                <a:solidFill>
                  <a:srgbClr val="273239"/>
                </a:solidFill>
                <a:latin typeface="Times New Roman" panose="02020603050405020304" pitchFamily="18" charset="0"/>
                <a:ea typeface="Nunito"/>
                <a:cs typeface="Times New Roman" panose="02020603050405020304" pitchFamily="18" charset="0"/>
              </a:rPr>
              <a:t>A State Space</a:t>
            </a:r>
            <a:r>
              <a:rPr lang="en-US" sz="2800" b="1" i="0">
                <a:solidFill>
                  <a:srgbClr val="273239"/>
                </a:solidFill>
                <a:latin typeface="Times New Roman" panose="02020603050405020304" pitchFamily="18" charset="0"/>
                <a:ea typeface="Nunito"/>
                <a:cs typeface="Times New Roman" panose="02020603050405020304" pitchFamily="18" charset="0"/>
              </a:rPr>
              <a:t> - </a:t>
            </a:r>
            <a:r>
              <a:rPr sz="2800" b="0" i="0">
                <a:solidFill>
                  <a:srgbClr val="273239"/>
                </a:solidFill>
                <a:latin typeface="Times New Roman" panose="02020603050405020304" pitchFamily="18" charset="0"/>
                <a:ea typeface="Nunito"/>
                <a:cs typeface="Times New Roman" panose="02020603050405020304" pitchFamily="18" charset="0"/>
              </a:rPr>
              <a:t>Set of all possible states where you can be.</a:t>
            </a:r>
          </a:p>
          <a:p>
            <a:pPr marL="933450" lvl="1" indent="-457200" algn="just" fontAlgn="base">
              <a:spcBef>
                <a:spcPts val="300"/>
              </a:spcBef>
              <a:spcAft>
                <a:spcPts val="300"/>
              </a:spcAft>
              <a:buFont typeface="Arial" panose="020B0604020202020204" pitchFamily="34" charset="0"/>
              <a:buChar char="•"/>
            </a:pPr>
            <a:r>
              <a:rPr sz="2800" b="1" i="0">
                <a:solidFill>
                  <a:srgbClr val="273239"/>
                </a:solidFill>
                <a:latin typeface="Times New Roman" panose="02020603050405020304" pitchFamily="18" charset="0"/>
                <a:ea typeface="Nunito"/>
                <a:cs typeface="Times New Roman" panose="02020603050405020304" pitchFamily="18" charset="0"/>
              </a:rPr>
              <a:t>A Start State</a:t>
            </a:r>
            <a:r>
              <a:rPr lang="en-US" sz="2800" b="1" i="0">
                <a:solidFill>
                  <a:srgbClr val="273239"/>
                </a:solidFill>
                <a:latin typeface="Times New Roman" panose="02020603050405020304" pitchFamily="18" charset="0"/>
                <a:ea typeface="Nunito"/>
                <a:cs typeface="Times New Roman" panose="02020603050405020304" pitchFamily="18" charset="0"/>
              </a:rPr>
              <a:t> - </a:t>
            </a:r>
            <a:r>
              <a:rPr sz="2800" b="0" i="0">
                <a:solidFill>
                  <a:srgbClr val="273239"/>
                </a:solidFill>
                <a:latin typeface="Times New Roman" panose="02020603050405020304" pitchFamily="18" charset="0"/>
                <a:ea typeface="Nunito"/>
                <a:cs typeface="Times New Roman" panose="02020603050405020304" pitchFamily="18" charset="0"/>
              </a:rPr>
              <a:t>The state from where the search begins.</a:t>
            </a:r>
          </a:p>
          <a:p>
            <a:pPr marL="933450" lvl="1" indent="-457200" algn="just" fontAlgn="base">
              <a:spcBef>
                <a:spcPts val="300"/>
              </a:spcBef>
              <a:spcAft>
                <a:spcPts val="300"/>
              </a:spcAft>
              <a:buFont typeface="Arial" panose="020B0604020202020204" pitchFamily="34" charset="0"/>
              <a:buChar char="•"/>
            </a:pPr>
            <a:r>
              <a:rPr sz="2800" b="1" i="0">
                <a:solidFill>
                  <a:srgbClr val="273239"/>
                </a:solidFill>
                <a:latin typeface="Times New Roman" panose="02020603050405020304" pitchFamily="18" charset="0"/>
                <a:ea typeface="Nunito"/>
                <a:cs typeface="Times New Roman" panose="02020603050405020304" pitchFamily="18" charset="0"/>
              </a:rPr>
              <a:t>A Goal State</a:t>
            </a:r>
            <a:r>
              <a:rPr lang="en-US" sz="2800" b="1" i="0">
                <a:solidFill>
                  <a:srgbClr val="273239"/>
                </a:solidFill>
                <a:latin typeface="Times New Roman" panose="02020603050405020304" pitchFamily="18" charset="0"/>
                <a:ea typeface="Nunito"/>
                <a:cs typeface="Times New Roman" panose="02020603050405020304" pitchFamily="18" charset="0"/>
              </a:rPr>
              <a:t> - </a:t>
            </a:r>
            <a:r>
              <a:rPr sz="2800" b="0" i="0">
                <a:solidFill>
                  <a:srgbClr val="273239"/>
                </a:solidFill>
                <a:latin typeface="Times New Roman" panose="02020603050405020304" pitchFamily="18" charset="0"/>
                <a:ea typeface="Nunito"/>
                <a:cs typeface="Times New Roman" panose="02020603050405020304" pitchFamily="18" charset="0"/>
              </a:rPr>
              <a:t> A function that looks at the current state returns whether or not it is the goal state.</a:t>
            </a:r>
          </a:p>
          <a:p>
            <a:pPr marL="476250" lvl="1" indent="0" algn="just" fontAlgn="base">
              <a:spcBef>
                <a:spcPts val="300"/>
              </a:spcBef>
              <a:spcAft>
                <a:spcPts val="300"/>
              </a:spcAft>
              <a:buFont typeface="Arial" panose="020B0604020202020204" pitchFamily="34" charset="0"/>
              <a:buNone/>
            </a:pPr>
            <a:r>
              <a:rPr sz="2800" b="0" i="0">
                <a:solidFill>
                  <a:srgbClr val="273239"/>
                </a:solidFill>
                <a:latin typeface="Times New Roman" panose="02020603050405020304" pitchFamily="18" charset="0"/>
                <a:ea typeface="Nunito"/>
                <a:cs typeface="Times New Roman" panose="02020603050405020304" pitchFamily="18" charset="0"/>
              </a:rPr>
              <a:t>The Solution to a search problem is a sequence of actions, called the plan that transforms the start state to the goal state.</a:t>
            </a:r>
          </a:p>
          <a:p>
            <a:pPr marL="476250" lvl="1" indent="0" algn="just" fontAlgn="base">
              <a:spcBef>
                <a:spcPts val="300"/>
              </a:spcBef>
              <a:spcAft>
                <a:spcPts val="300"/>
              </a:spcAft>
              <a:buFont typeface="Arial" panose="020B0604020202020204" pitchFamily="34" charset="0"/>
              <a:buNone/>
            </a:pPr>
            <a:r>
              <a:rPr sz="2800" b="0" i="0">
                <a:solidFill>
                  <a:srgbClr val="273239"/>
                </a:solidFill>
                <a:latin typeface="Times New Roman" panose="02020603050405020304" pitchFamily="18" charset="0"/>
                <a:ea typeface="Nunito"/>
                <a:cs typeface="Times New Roman" panose="02020603050405020304" pitchFamily="18" charset="0"/>
              </a:rPr>
              <a:t>This plan is achieved through search algorithms.</a:t>
            </a:r>
          </a:p>
        </p:txBody>
      </p:sp>
      <p:sp>
        <p:nvSpPr>
          <p:cNvPr id="5" name="Text Box 4"/>
          <p:cNvSpPr txBox="1"/>
          <p:nvPr/>
        </p:nvSpPr>
        <p:spPr>
          <a:xfrm>
            <a:off x="1991995" y="6237605"/>
            <a:ext cx="4044315" cy="330200"/>
          </a:xfrm>
          <a:prstGeom prst="rect">
            <a:avLst/>
          </a:prstGeom>
          <a:noFill/>
        </p:spPr>
        <p:txBody>
          <a:bodyPr wrap="square" rtlCol="0">
            <a:noAutofit/>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949325" y="548640"/>
            <a:ext cx="10547350" cy="557276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p14:cNvContentPartPr/>
              <p14:nvPr/>
            </p14:nvContentPartPr>
            <p14:xfrm>
              <a:off x="10238105" y="5820410"/>
              <a:ext cx="635" cy="635"/>
            </p14:xfrm>
          </p:contentPart>
        </mc:Choice>
        <mc:Fallback xmlns="">
          <p:pic>
            <p:nvPicPr>
              <p:cNvPr id="3" name="Ink 2"/>
            </p:nvPicPr>
            <p:blipFill>
              <a:blip r:embed="rId4"/>
            </p:blipFill>
            <p:spPr>
              <a:xfrm>
                <a:off x="10238105" y="5820410"/>
                <a:ext cx="635" cy="635"/>
              </a:xfrm>
              <a:prstGeom prst="rect"/>
            </p:spPr>
          </p:pic>
        </mc:Fallback>
      </mc:AlternateContent>
      <mc:AlternateContent xmlns:mc="http://schemas.openxmlformats.org/markup-compatibility/2006" xmlns:p14="http://schemas.microsoft.com/office/powerpoint/2010/main">
        <mc:Choice Requires="p14">
          <p:contentPart p14:bwMode="auto" r:id="rId5">
            <p14:nvContentPartPr>
              <p14:cNvPr id="4" name="Ink 3"/>
              <p14:cNvContentPartPr/>
              <p14:nvPr/>
            </p14:nvContentPartPr>
            <p14:xfrm>
              <a:off x="10238105" y="5820410"/>
              <a:ext cx="635" cy="635"/>
            </p14:xfrm>
          </p:contentPart>
        </mc:Choice>
        <mc:Fallback xmlns="">
          <p:pic>
            <p:nvPicPr>
              <p:cNvPr id="4" name="Ink 3"/>
            </p:nvPicPr>
            <p:blipFill>
              <a:blip r:embed="rId4"/>
            </p:blipFill>
            <p:spPr>
              <a:xfrm>
                <a:off x="10238105" y="5820410"/>
                <a:ext cx="635" cy="635"/>
              </a:xfrm>
              <a:prstGeom prst="rect"/>
            </p:spPr>
          </p:pic>
        </mc:Fallback>
      </mc:AlternateContent>
      <mc:AlternateContent xmlns:mc="http://schemas.openxmlformats.org/markup-compatibility/2006" xmlns:p14="http://schemas.microsoft.com/office/powerpoint/2010/main">
        <mc:Choice Requires="p14">
          <p:contentPart p14:bwMode="auto" r:id="rId6">
            <p14:nvContentPartPr>
              <p14:cNvPr id="5" name="Ink 4"/>
              <p14:cNvContentPartPr/>
              <p14:nvPr/>
            </p14:nvContentPartPr>
            <p14:xfrm>
              <a:off x="10238105" y="5820410"/>
              <a:ext cx="635" cy="635"/>
            </p14:xfrm>
          </p:contentPart>
        </mc:Choice>
        <mc:Fallback xmlns="">
          <p:pic>
            <p:nvPicPr>
              <p:cNvPr id="5" name="Ink 4"/>
            </p:nvPicPr>
            <p:blipFill>
              <a:blip r:embed="rId4"/>
            </p:blipFill>
            <p:spPr>
              <a:xfrm>
                <a:off x="10238105" y="5820410"/>
                <a:ext cx="635" cy="635"/>
              </a:xfrm>
              <a:prstGeom prst="rect"/>
            </p:spPr>
          </p:pic>
        </mc:Fallback>
      </mc:AlternateContent>
      <mc:AlternateContent xmlns:mc="http://schemas.openxmlformats.org/markup-compatibility/2006" xmlns:p14="http://schemas.microsoft.com/office/powerpoint/2010/main">
        <mc:Choice Requires="p14">
          <p:contentPart p14:bwMode="auto" r:id="rId7">
            <p14:nvContentPartPr>
              <p14:cNvPr id="6" name="Ink 5"/>
              <p14:cNvContentPartPr/>
              <p14:nvPr/>
            </p14:nvContentPartPr>
            <p14:xfrm>
              <a:off x="9745345" y="5770245"/>
              <a:ext cx="1450975" cy="313055"/>
            </p14:xfrm>
          </p:contentPart>
        </mc:Choice>
        <mc:Fallback xmlns="">
          <p:pic>
            <p:nvPicPr>
              <p:cNvPr id="6" name="Ink 5"/>
            </p:nvPicPr>
            <p:blipFill>
              <a:blip r:embed="rId8"/>
            </p:blipFill>
            <p:spPr>
              <a:xfrm>
                <a:off x="9745345" y="5770245"/>
                <a:ext cx="1450975" cy="313055"/>
              </a:xfrm>
              <a:prstGeom prst="rect"/>
            </p:spPr>
          </p:pic>
        </mc:Fallback>
      </mc:AlternateContent>
      <mc:AlternateContent xmlns:mc="http://schemas.openxmlformats.org/markup-compatibility/2006" xmlns:p14="http://schemas.microsoft.com/office/powerpoint/2010/main">
        <mc:Choice Requires="p14">
          <p:contentPart p14:bwMode="auto" r:id="rId9">
            <p14:nvContentPartPr>
              <p14:cNvPr id="7" name="Ink 6"/>
              <p14:cNvContentPartPr/>
              <p14:nvPr/>
            </p14:nvContentPartPr>
            <p14:xfrm>
              <a:off x="10441305" y="5979795"/>
              <a:ext cx="635" cy="635"/>
            </p14:xfrm>
          </p:contentPart>
        </mc:Choice>
        <mc:Fallback xmlns="">
          <p:pic>
            <p:nvPicPr>
              <p:cNvPr id="7" name="Ink 6"/>
            </p:nvPicPr>
            <p:blipFill>
              <a:blip r:embed="rId4"/>
            </p:blipFill>
            <p:spPr>
              <a:xfrm>
                <a:off x="10441305" y="5979795"/>
                <a:ext cx="635" cy="635"/>
              </a:xfrm>
              <a:prstGeom prst="rect"/>
            </p:spPr>
          </p:pic>
        </mc:Fallback>
      </mc:AlternateContent>
      <mc:AlternateContent xmlns:mc="http://schemas.openxmlformats.org/markup-compatibility/2006" xmlns:p14="http://schemas.microsoft.com/office/powerpoint/2010/main">
        <mc:Choice Requires="p14">
          <p:contentPart p14:bwMode="auto" r:id="rId10">
            <p14:nvContentPartPr>
              <p14:cNvPr id="8" name="Ink 7"/>
              <p14:cNvContentPartPr/>
              <p14:nvPr/>
            </p14:nvContentPartPr>
            <p14:xfrm>
              <a:off x="10441305" y="5979795"/>
              <a:ext cx="635" cy="635"/>
            </p14:xfrm>
          </p:contentPart>
        </mc:Choice>
        <mc:Fallback xmlns="">
          <p:pic>
            <p:nvPicPr>
              <p:cNvPr id="8" name="Ink 7"/>
            </p:nvPicPr>
            <p:blipFill>
              <a:blip r:embed="rId4"/>
            </p:blipFill>
            <p:spPr>
              <a:xfrm>
                <a:off x="10441305" y="5979795"/>
                <a:ext cx="635" cy="635"/>
              </a:xfrm>
              <a:prstGeom prst="rect"/>
            </p:spPr>
          </p:pic>
        </mc:Fallback>
      </mc:AlternateContent>
      <mc:AlternateContent xmlns:mc="http://schemas.openxmlformats.org/markup-compatibility/2006" xmlns:p14="http://schemas.microsoft.com/office/powerpoint/2010/main">
        <mc:Choice Requires="p14">
          <p:contentPart p14:bwMode="auto" r:id="rId11">
            <p14:nvContentPartPr>
              <p14:cNvPr id="9" name="Ink 8"/>
              <p14:cNvContentPartPr/>
              <p14:nvPr/>
            </p14:nvContentPartPr>
            <p14:xfrm>
              <a:off x="10441305" y="5979795"/>
              <a:ext cx="635" cy="635"/>
            </p14:xfrm>
          </p:contentPart>
        </mc:Choice>
        <mc:Fallback xmlns="">
          <p:pic>
            <p:nvPicPr>
              <p:cNvPr id="9" name="Ink 8"/>
            </p:nvPicPr>
            <p:blipFill>
              <a:blip r:embed="rId4"/>
            </p:blipFill>
            <p:spPr>
              <a:xfrm>
                <a:off x="10441305" y="5979795"/>
                <a:ext cx="635" cy="635"/>
              </a:xfrm>
              <a:prstGeom prst="rect"/>
            </p:spPr>
          </p:pic>
        </mc:Fallback>
      </mc:AlternateContent>
      <mc:AlternateContent xmlns:mc="http://schemas.openxmlformats.org/markup-compatibility/2006" xmlns:p14="http://schemas.microsoft.com/office/powerpoint/2010/main">
        <mc:Choice Requires="p14">
          <p:contentPart p14:bwMode="auto" r:id="rId12">
            <p14:nvContentPartPr>
              <p14:cNvPr id="10" name="Ink 9"/>
              <p14:cNvContentPartPr/>
              <p14:nvPr/>
            </p14:nvContentPartPr>
            <p14:xfrm>
              <a:off x="10093325" y="5994400"/>
              <a:ext cx="635" cy="635"/>
            </p14:xfrm>
          </p:contentPart>
        </mc:Choice>
        <mc:Fallback xmlns="">
          <p:pic>
            <p:nvPicPr>
              <p:cNvPr id="10" name="Ink 9"/>
            </p:nvPicPr>
            <p:blipFill>
              <a:blip r:embed="rId4"/>
            </p:blipFill>
            <p:spPr>
              <a:xfrm>
                <a:off x="10093325" y="5994400"/>
                <a:ext cx="635" cy="635"/>
              </a:xfrm>
              <a:prstGeom prst="rect"/>
            </p:spPr>
          </p:pic>
        </mc:Fallback>
      </mc:AlternateContent>
      <mc:AlternateContent xmlns:mc="http://schemas.openxmlformats.org/markup-compatibility/2006" xmlns:p14="http://schemas.microsoft.com/office/powerpoint/2010/main">
        <mc:Choice Requires="p14">
          <p:contentPart p14:bwMode="auto" r:id="rId13">
            <p14:nvContentPartPr>
              <p14:cNvPr id="11" name="Ink 10"/>
              <p14:cNvContentPartPr/>
              <p14:nvPr/>
            </p14:nvContentPartPr>
            <p14:xfrm>
              <a:off x="10093325" y="5994400"/>
              <a:ext cx="635" cy="635"/>
            </p14:xfrm>
          </p:contentPart>
        </mc:Choice>
        <mc:Fallback xmlns="">
          <p:pic>
            <p:nvPicPr>
              <p:cNvPr id="11" name="Ink 10"/>
            </p:nvPicPr>
            <p:blipFill>
              <a:blip r:embed="rId4"/>
            </p:blipFill>
            <p:spPr>
              <a:xfrm>
                <a:off x="10093325" y="5994400"/>
                <a:ext cx="635" cy="635"/>
              </a:xfrm>
              <a:prstGeom prst="rect"/>
            </p:spPr>
          </p:pic>
        </mc:Fallback>
      </mc:AlternateContent>
      <mc:AlternateContent xmlns:mc="http://schemas.openxmlformats.org/markup-compatibility/2006" xmlns:p14="http://schemas.microsoft.com/office/powerpoint/2010/main">
        <mc:Choice Requires="p14">
          <p:contentPart p14:bwMode="auto" r:id="rId14">
            <p14:nvContentPartPr>
              <p14:cNvPr id="12" name="Ink 11"/>
              <p14:cNvContentPartPr/>
              <p14:nvPr/>
            </p14:nvContentPartPr>
            <p14:xfrm>
              <a:off x="9976485" y="5190490"/>
              <a:ext cx="1612900" cy="1049655"/>
            </p14:xfrm>
          </p:contentPart>
        </mc:Choice>
        <mc:Fallback xmlns="">
          <p:pic>
            <p:nvPicPr>
              <p:cNvPr id="12" name="Ink 11"/>
            </p:nvPicPr>
            <p:blipFill>
              <a:blip r:embed="rId15"/>
            </p:blipFill>
            <p:spPr>
              <a:xfrm>
                <a:off x="9976485" y="5190490"/>
                <a:ext cx="1612900" cy="1049655"/>
              </a:xfrm>
              <a:prstGeom prst="rect"/>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7115" y="332909"/>
            <a:ext cx="11593288" cy="5262245"/>
          </a:xfrm>
          <a:prstGeom prst="rect">
            <a:avLst/>
          </a:prstGeom>
          <a:noFill/>
        </p:spPr>
        <p:txBody>
          <a:bodyPr wrap="square" rtlCol="0">
            <a:spAutoFit/>
          </a:bodyPr>
          <a:lstStyle/>
          <a:p>
            <a:pPr algn="ctr">
              <a:lnSpc>
                <a:spcPct val="150000"/>
              </a:lnSpc>
            </a:pPr>
            <a:r>
              <a:rPr lang="en-US" sz="2800" b="1" dirty="0">
                <a:solidFill>
                  <a:srgbClr val="FF0000"/>
                </a:solidFill>
                <a:latin typeface="Times New Roman" panose="02020603050405020304" pitchFamily="18" charset="0"/>
                <a:cs typeface="Times New Roman" panose="02020603050405020304" pitchFamily="18" charset="0"/>
              </a:rPr>
              <a:t>Uninformed Search Algorithms: </a:t>
            </a:r>
          </a:p>
          <a:p>
            <a:pPr algn="just">
              <a:lnSpc>
                <a:spcPct val="150000"/>
              </a:lnSpc>
            </a:pPr>
            <a:r>
              <a:rPr lang="en-US" sz="2800" dirty="0">
                <a:latin typeface="Times New Roman" panose="02020603050405020304" pitchFamily="18" charset="0"/>
                <a:cs typeface="Times New Roman" panose="02020603050405020304" pitchFamily="18" charset="0"/>
              </a:rPr>
              <a:t>The search algorithms in this section have </a:t>
            </a:r>
            <a:r>
              <a:rPr lang="en-US" sz="2800" b="1" dirty="0">
                <a:latin typeface="Times New Roman" panose="02020603050405020304" pitchFamily="18" charset="0"/>
                <a:cs typeface="Times New Roman" panose="02020603050405020304" pitchFamily="18" charset="0"/>
              </a:rPr>
              <a:t>no additional information on the goal node</a:t>
            </a:r>
            <a:r>
              <a:rPr lang="en-US" sz="2800" dirty="0">
                <a:latin typeface="Times New Roman" panose="02020603050405020304" pitchFamily="18" charset="0"/>
                <a:cs typeface="Times New Roman" panose="02020603050405020304" pitchFamily="18" charset="0"/>
              </a:rPr>
              <a:t> other than the one provided in the problem definition. The plans to reach the goal state from the start state differ only by the order and/or length of actions</a:t>
            </a:r>
          </a:p>
          <a:p>
            <a:pPr algn="just">
              <a:lnSpc>
                <a:spcPct val="150000"/>
              </a:lnSpc>
            </a:pPr>
            <a:r>
              <a:rPr lang="en-US" sz="2800" dirty="0">
                <a:latin typeface="Times New Roman" panose="02020603050405020304" pitchFamily="18" charset="0"/>
                <a:cs typeface="Times New Roman" panose="02020603050405020304" pitchFamily="18" charset="0"/>
              </a:rPr>
              <a:t> Uninformed search is also called “</a:t>
            </a:r>
            <a:r>
              <a:rPr lang="en-US" sz="2800" b="1" dirty="0">
                <a:solidFill>
                  <a:srgbClr val="00B050"/>
                </a:solidFill>
                <a:latin typeface="Times New Roman" panose="02020603050405020304" pitchFamily="18" charset="0"/>
                <a:cs typeface="Times New Roman" panose="02020603050405020304" pitchFamily="18" charset="0"/>
              </a:rPr>
              <a:t>Blind search”.</a:t>
            </a:r>
            <a:r>
              <a:rPr lang="en-US" sz="2800" dirty="0">
                <a:latin typeface="Times New Roman" panose="02020603050405020304" pitchFamily="18" charset="0"/>
                <a:cs typeface="Times New Roman" panose="02020603050405020304" pitchFamily="18" charset="0"/>
              </a:rPr>
              <a:t> These algorithms can only generate the </a:t>
            </a:r>
            <a:r>
              <a:rPr lang="en-US" sz="2800" b="1" dirty="0">
                <a:latin typeface="Times New Roman" panose="02020603050405020304" pitchFamily="18" charset="0"/>
                <a:cs typeface="Times New Roman" panose="02020603050405020304" pitchFamily="18" charset="0"/>
              </a:rPr>
              <a:t>successors and differentiate between the goal state and non goal state.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407035" y="332740"/>
            <a:ext cx="11655425" cy="5020310"/>
          </a:xfrm>
          <a:prstGeom prst="rect">
            <a:avLst/>
          </a:prstGeom>
        </p:spPr>
        <p:txBody>
          <a:bodyPr>
            <a:noAutofit/>
          </a:bodyPr>
          <a:lstStyle/>
          <a:p>
            <a:pPr marL="0" indent="0" algn="ctr" fontAlgn="base">
              <a:spcBef>
                <a:spcPct val="0"/>
              </a:spcBef>
              <a:spcAft>
                <a:spcPct val="0"/>
              </a:spcAft>
            </a:pPr>
            <a:r>
              <a:rPr sz="3600" b="1">
                <a:solidFill>
                  <a:srgbClr val="FF0000"/>
                </a:solidFill>
                <a:latin typeface="Times New Roman" panose="02020603050405020304" pitchFamily="18" charset="0"/>
                <a:ea typeface="Nunito"/>
                <a:cs typeface="Times New Roman" panose="02020603050405020304" pitchFamily="18" charset="0"/>
              </a:rPr>
              <a:t>Informed search algorithms</a:t>
            </a:r>
          </a:p>
          <a:p>
            <a:pPr marL="0" indent="0" algn="just" fontAlgn="base">
              <a:spcBef>
                <a:spcPct val="0"/>
              </a:spcBef>
              <a:spcAft>
                <a:spcPct val="0"/>
              </a:spcAft>
            </a:pPr>
            <a:r>
              <a:rPr sz="2800" b="0" i="0">
                <a:solidFill>
                  <a:srgbClr val="273239"/>
                </a:solidFill>
                <a:latin typeface="Times New Roman" panose="02020603050405020304" pitchFamily="18" charset="0"/>
                <a:ea typeface="Nunito"/>
                <a:cs typeface="Times New Roman" panose="02020603050405020304" pitchFamily="18" charset="0"/>
              </a:rPr>
              <a:t>Informed search algorithms use domain knowledge. In an informed search, problem information is available which can guide the search. Informed search strategies can </a:t>
            </a:r>
            <a:r>
              <a:rPr sz="2800" b="1" i="0">
                <a:solidFill>
                  <a:srgbClr val="273239"/>
                </a:solidFill>
                <a:latin typeface="Times New Roman" panose="02020603050405020304" pitchFamily="18" charset="0"/>
                <a:ea typeface="Nunito"/>
                <a:cs typeface="Times New Roman" panose="02020603050405020304" pitchFamily="18" charset="0"/>
              </a:rPr>
              <a:t>find a solution more efficiently </a:t>
            </a:r>
            <a:r>
              <a:rPr sz="2800" b="0" i="0">
                <a:solidFill>
                  <a:srgbClr val="273239"/>
                </a:solidFill>
                <a:latin typeface="Times New Roman" panose="02020603050405020304" pitchFamily="18" charset="0"/>
                <a:ea typeface="Nunito"/>
                <a:cs typeface="Times New Roman" panose="02020603050405020304" pitchFamily="18" charset="0"/>
              </a:rPr>
              <a:t>than an uninformed search strategy. Informed search is also called a</a:t>
            </a:r>
            <a:r>
              <a:rPr sz="2800" b="1" i="0">
                <a:solidFill>
                  <a:srgbClr val="00B050"/>
                </a:solidFill>
                <a:latin typeface="Times New Roman" panose="02020603050405020304" pitchFamily="18" charset="0"/>
                <a:ea typeface="Nunito"/>
                <a:cs typeface="Times New Roman" panose="02020603050405020304" pitchFamily="18" charset="0"/>
              </a:rPr>
              <a:t> Heuristic search.</a:t>
            </a:r>
          </a:p>
          <a:p>
            <a:pPr marL="0" indent="0" algn="just" fontAlgn="base">
              <a:spcBef>
                <a:spcPct val="0"/>
              </a:spcBef>
              <a:spcAft>
                <a:spcPct val="0"/>
              </a:spcAft>
            </a:pPr>
            <a:r>
              <a:rPr sz="2800" b="0" i="0">
                <a:solidFill>
                  <a:srgbClr val="273239"/>
                </a:solidFill>
                <a:latin typeface="Times New Roman" panose="02020603050405020304" pitchFamily="18" charset="0"/>
                <a:ea typeface="Nunito"/>
                <a:cs typeface="Times New Roman" panose="02020603050405020304" pitchFamily="18" charset="0"/>
              </a:rPr>
              <a:t>A heuristic is a way which might not always be guaranteed for </a:t>
            </a:r>
            <a:r>
              <a:rPr sz="2800" b="1" i="1">
                <a:solidFill>
                  <a:srgbClr val="273239"/>
                </a:solidFill>
                <a:latin typeface="Times New Roman" panose="02020603050405020304" pitchFamily="18" charset="0"/>
                <a:ea typeface="Nunito"/>
                <a:cs typeface="Times New Roman" panose="02020603050405020304" pitchFamily="18" charset="0"/>
              </a:rPr>
              <a:t>best solutions but guaranteed to find a good solution in reasonable time.</a:t>
            </a:r>
          </a:p>
          <a:p>
            <a:pPr marL="0" indent="0" algn="just" fontAlgn="base">
              <a:spcBef>
                <a:spcPct val="0"/>
              </a:spcBef>
              <a:spcAft>
                <a:spcPct val="0"/>
              </a:spcAft>
            </a:pPr>
            <a:r>
              <a:rPr sz="2800" b="0" i="0">
                <a:solidFill>
                  <a:srgbClr val="273239"/>
                </a:solidFill>
                <a:latin typeface="Times New Roman" panose="02020603050405020304" pitchFamily="18" charset="0"/>
                <a:ea typeface="Nunito"/>
                <a:cs typeface="Times New Roman" panose="02020603050405020304" pitchFamily="18" charset="0"/>
              </a:rPr>
              <a:t>Informed search can solve much </a:t>
            </a:r>
            <a:r>
              <a:rPr sz="2800" b="1" i="0">
                <a:solidFill>
                  <a:srgbClr val="273239"/>
                </a:solidFill>
                <a:latin typeface="Times New Roman" panose="02020603050405020304" pitchFamily="18" charset="0"/>
                <a:ea typeface="Nunito"/>
                <a:cs typeface="Times New Roman" panose="02020603050405020304" pitchFamily="18" charset="0"/>
              </a:rPr>
              <a:t>complex problem which could not be solved in another way.</a:t>
            </a:r>
          </a:p>
          <a:p>
            <a:pPr marL="0" indent="0" algn="just" fontAlgn="base">
              <a:spcBef>
                <a:spcPct val="0"/>
              </a:spcBef>
              <a:spcAft>
                <a:spcPct val="0"/>
              </a:spcAft>
            </a:pPr>
            <a:r>
              <a:rPr sz="2800" b="0" i="0">
                <a:solidFill>
                  <a:srgbClr val="273239"/>
                </a:solidFill>
                <a:latin typeface="Times New Roman" panose="02020603050405020304" pitchFamily="18" charset="0"/>
                <a:ea typeface="Nunito"/>
                <a:cs typeface="Times New Roman" panose="02020603050405020304" pitchFamily="18" charset="0"/>
              </a:rPr>
              <a:t>An example of informed search algorithms is a traveling salesman problem</a:t>
            </a:r>
            <a:r>
              <a:rPr lang="en-US" sz="2800" b="0" i="0">
                <a:solidFill>
                  <a:srgbClr val="273239"/>
                </a:solidFill>
                <a:latin typeface="Times New Roman" panose="02020603050405020304" pitchFamily="18" charset="0"/>
                <a:ea typeface="Nunito"/>
                <a:cs typeface="Times New Roman" panose="02020603050405020304" pitchFamily="18" charset="0"/>
              </a:rPr>
              <a:t>.</a:t>
            </a:r>
            <a:endParaRPr sz="2800" b="0" i="0">
              <a:solidFill>
                <a:srgbClr val="273239"/>
              </a:solidFill>
              <a:latin typeface="Times New Roman" panose="02020603050405020304" pitchFamily="18" charset="0"/>
              <a:ea typeface="Nunito"/>
              <a:cs typeface="Times New Roman" panose="02020603050405020304" pitchFamily="18" charset="0"/>
            </a:endParaRPr>
          </a:p>
          <a:p>
            <a:pPr marL="457200" indent="-457200" algn="just" fontAlgn="base">
              <a:spcBef>
                <a:spcPct val="0"/>
              </a:spcBef>
              <a:spcAft>
                <a:spcPct val="0"/>
              </a:spcAft>
              <a:buFont typeface="Arial" panose="020B0604020202020204" pitchFamily="34" charset="0"/>
              <a:buChar char="•"/>
            </a:pPr>
            <a:r>
              <a:rPr sz="2800" b="0" i="0">
                <a:solidFill>
                  <a:srgbClr val="273239"/>
                </a:solidFill>
                <a:latin typeface="Times New Roman" panose="02020603050405020304" pitchFamily="18" charset="0"/>
                <a:ea typeface="Nunito"/>
                <a:cs typeface="Times New Roman" panose="02020603050405020304" pitchFamily="18" charset="0"/>
              </a:rPr>
              <a:t>Greedy Search</a:t>
            </a:r>
          </a:p>
          <a:p>
            <a:pPr marL="457200" indent="-457200" algn="just" fontAlgn="base">
              <a:spcBef>
                <a:spcPct val="0"/>
              </a:spcBef>
              <a:spcAft>
                <a:spcPct val="0"/>
              </a:spcAft>
              <a:buFont typeface="Arial" panose="020B0604020202020204" pitchFamily="34" charset="0"/>
              <a:buChar char="•"/>
            </a:pPr>
            <a:r>
              <a:rPr sz="2800" b="0" i="0">
                <a:solidFill>
                  <a:srgbClr val="273239"/>
                </a:solidFill>
                <a:latin typeface="Times New Roman" panose="02020603050405020304" pitchFamily="18" charset="0"/>
                <a:ea typeface="Nunito"/>
                <a:cs typeface="Times New Roman" panose="02020603050405020304" pitchFamily="18" charset="0"/>
              </a:rPr>
              <a:t>A* Search</a:t>
            </a:r>
          </a:p>
        </p:txBody>
      </p:sp>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7933055" y="1296670"/>
              <a:ext cx="635" cy="635"/>
            </p14:xfrm>
          </p:contentPart>
        </mc:Choice>
        <mc:Fallback xmlns="">
          <p:pic>
            <p:nvPicPr>
              <p:cNvPr id="2" name="Ink 1"/>
            </p:nvPicPr>
            <p:blipFill>
              <a:blip r:embed="rId3"/>
            </p:blipFill>
            <p:spPr>
              <a:xfrm>
                <a:off x="7933055" y="1296670"/>
                <a:ext cx="635" cy="635"/>
              </a:xfrm>
              <a:prstGeom prst="rect"/>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407035" y="441325"/>
            <a:ext cx="11428095" cy="5822315"/>
          </a:xfrm>
          <a:prstGeom prst="rect">
            <a:avLst/>
          </a:prstGeom>
        </p:spPr>
        <p:txBody>
          <a:bodyPr wrap="square">
            <a:noAutofit/>
          </a:bodyPr>
          <a:lstStyle/>
          <a:p>
            <a:pPr marL="0" indent="0" algn="ctr">
              <a:spcAft>
                <a:spcPct val="60000"/>
              </a:spcAft>
            </a:pPr>
            <a:r>
              <a:rPr sz="3600" b="1" i="0">
                <a:solidFill>
                  <a:srgbClr val="FF0000"/>
                </a:solidFill>
                <a:latin typeface="Times New Roman" panose="02020603050405020304" pitchFamily="18" charset="0"/>
                <a:ea typeface="Montserrat"/>
                <a:cs typeface="Times New Roman" panose="02020603050405020304" pitchFamily="18" charset="0"/>
              </a:rPr>
              <a:t>Uninformed Search Algorithms</a:t>
            </a:r>
          </a:p>
          <a:p>
            <a:pPr marL="0" indent="0" algn="l">
              <a:spcAft>
                <a:spcPct val="60000"/>
              </a:spcAft>
            </a:pPr>
            <a:r>
              <a:rPr sz="2400" b="1" i="0">
                <a:solidFill>
                  <a:srgbClr val="1D1D27"/>
                </a:solidFill>
                <a:latin typeface="Times New Roman" panose="02020603050405020304" pitchFamily="18" charset="0"/>
                <a:ea typeface="Montserrat"/>
                <a:cs typeface="Times New Roman" panose="02020603050405020304" pitchFamily="18" charset="0"/>
              </a:rPr>
              <a:t>Introduction:</a:t>
            </a:r>
          </a:p>
          <a:p>
            <a:pPr marL="0" indent="0" algn="just">
              <a:spcBef>
                <a:spcPct val="0"/>
              </a:spcBef>
            </a:pPr>
            <a:r>
              <a:rPr sz="2400" b="0" i="0">
                <a:solidFill>
                  <a:srgbClr val="2B2A29"/>
                </a:solidFill>
                <a:latin typeface="Times New Roman" panose="02020603050405020304" pitchFamily="18" charset="0"/>
                <a:ea typeface="Montserrat"/>
                <a:cs typeface="Times New Roman" panose="02020603050405020304" pitchFamily="18" charset="0"/>
              </a:rPr>
              <a:t>Uninformed search is one in which the search systems do not use any clues about the suitable area but it depend on the random nature of search. Nevertheless, they begins the exploration of search space (all possible solutions) synchronously,. </a:t>
            </a:r>
          </a:p>
          <a:p>
            <a:pPr marL="0" indent="0" algn="just">
              <a:spcBef>
                <a:spcPct val="0"/>
              </a:spcBef>
            </a:pPr>
            <a:r>
              <a:rPr sz="2400" b="0" i="0">
                <a:solidFill>
                  <a:srgbClr val="2B2A29"/>
                </a:solidFill>
                <a:latin typeface="Times New Roman" panose="02020603050405020304" pitchFamily="18" charset="0"/>
                <a:ea typeface="Montserrat"/>
                <a:cs typeface="Times New Roman" panose="02020603050405020304" pitchFamily="18" charset="0"/>
              </a:rPr>
              <a:t>The search operation begins from the initial state and providing all possible next steps arrangement until goal is reached. These are mostly the simplest search strategies, but they may not be suitable for complex paths which involve in irrelevant or even irrelevant components. </a:t>
            </a:r>
          </a:p>
          <a:p>
            <a:pPr marL="0" indent="0" algn="just">
              <a:spcBef>
                <a:spcPct val="0"/>
              </a:spcBef>
            </a:pPr>
            <a:r>
              <a:rPr sz="2400" b="0" i="0">
                <a:solidFill>
                  <a:srgbClr val="2B2A29"/>
                </a:solidFill>
                <a:latin typeface="Times New Roman" panose="02020603050405020304" pitchFamily="18" charset="0"/>
                <a:ea typeface="Montserrat"/>
                <a:cs typeface="Times New Roman" panose="02020603050405020304" pitchFamily="18" charset="0"/>
              </a:rPr>
              <a:t>These algorithms are necessary for </a:t>
            </a:r>
            <a:r>
              <a:rPr sz="2400" b="1" i="0">
                <a:solidFill>
                  <a:srgbClr val="2B2A29"/>
                </a:solidFill>
                <a:latin typeface="Times New Roman" panose="02020603050405020304" pitchFamily="18" charset="0"/>
                <a:ea typeface="Montserrat"/>
                <a:cs typeface="Times New Roman" panose="02020603050405020304" pitchFamily="18" charset="0"/>
              </a:rPr>
              <a:t>solving basic tasks or providing simple processing before passing on the data to more advanced search algorithms that incorporate prioritized information.</a:t>
            </a:r>
          </a:p>
          <a:p>
            <a:pPr marL="0" indent="0" algn="just">
              <a:spcBef>
                <a:spcPct val="0"/>
              </a:spcBef>
            </a:pPr>
            <a:endParaRPr sz="2400" b="0" i="0">
              <a:solidFill>
                <a:srgbClr val="2B2A29"/>
              </a:solidFill>
              <a:latin typeface="Times New Roman" panose="02020603050405020304" pitchFamily="18" charset="0"/>
              <a:ea typeface="Montserrat"/>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415415" y="621030"/>
            <a:ext cx="10292715" cy="3840480"/>
          </a:xfrm>
          <a:prstGeom prst="rect">
            <a:avLst/>
          </a:prstGeom>
        </p:spPr>
        <p:txBody>
          <a:bodyPr wrap="square">
            <a:noAutofit/>
          </a:bodyPr>
          <a:lstStyle/>
          <a:p>
            <a:pPr marL="0" indent="0" algn="just">
              <a:spcBef>
                <a:spcPct val="0"/>
              </a:spcBef>
            </a:pPr>
            <a:r>
              <a:rPr sz="3200" b="0" i="0">
                <a:solidFill>
                  <a:srgbClr val="2B2A29"/>
                </a:solidFill>
                <a:latin typeface="Times New Roman" panose="02020603050405020304" pitchFamily="18" charset="0"/>
                <a:ea typeface="Montserrat"/>
                <a:cs typeface="Times New Roman" panose="02020603050405020304" pitchFamily="18" charset="0"/>
              </a:rPr>
              <a:t>Following are the various types of uninformed search algorithms:</a:t>
            </a:r>
          </a:p>
          <a:p>
            <a:pPr marL="0" indent="0" algn="just">
              <a:spcBef>
                <a:spcPct val="0"/>
              </a:spcBef>
            </a:pPr>
            <a:endParaRPr sz="3200" b="0" i="0">
              <a:solidFill>
                <a:srgbClr val="2B2A29"/>
              </a:solidFill>
              <a:latin typeface="Times New Roman" panose="02020603050405020304" pitchFamily="18" charset="0"/>
              <a:ea typeface="Montserrat"/>
              <a:cs typeface="Times New Roman" panose="02020603050405020304" pitchFamily="18" charset="0"/>
            </a:endParaRPr>
          </a:p>
          <a:p>
            <a:pPr marL="285750" indent="-285750" algn="just">
              <a:spcBef>
                <a:spcPct val="0"/>
              </a:spcBef>
              <a:buFont typeface="Arial" panose="020B0604020202020204" pitchFamily="34" charset="0"/>
              <a:buChar char="•"/>
            </a:pPr>
            <a:r>
              <a:rPr sz="3200" b="0" i="0">
                <a:solidFill>
                  <a:srgbClr val="2B2A29"/>
                </a:solidFill>
                <a:latin typeface="Times New Roman" panose="02020603050405020304" pitchFamily="18" charset="0"/>
                <a:ea typeface="Montserrat"/>
                <a:cs typeface="Times New Roman" panose="02020603050405020304" pitchFamily="18" charset="0"/>
              </a:rPr>
              <a:t>Breadth-first Search</a:t>
            </a:r>
          </a:p>
          <a:p>
            <a:pPr marL="285750" indent="-285750" algn="just">
              <a:spcBef>
                <a:spcPct val="0"/>
              </a:spcBef>
              <a:buFont typeface="Arial" panose="020B0604020202020204" pitchFamily="34" charset="0"/>
              <a:buChar char="•"/>
            </a:pPr>
            <a:r>
              <a:rPr sz="3200" b="0" i="0">
                <a:solidFill>
                  <a:srgbClr val="2B2A29"/>
                </a:solidFill>
                <a:latin typeface="Times New Roman" panose="02020603050405020304" pitchFamily="18" charset="0"/>
                <a:ea typeface="Montserrat"/>
                <a:cs typeface="Times New Roman" panose="02020603050405020304" pitchFamily="18" charset="0"/>
              </a:rPr>
              <a:t>Depth-first Search</a:t>
            </a:r>
          </a:p>
          <a:p>
            <a:pPr marL="285750" indent="-285750" algn="just">
              <a:spcBef>
                <a:spcPct val="0"/>
              </a:spcBef>
              <a:buFont typeface="Arial" panose="020B0604020202020204" pitchFamily="34" charset="0"/>
              <a:buChar char="•"/>
            </a:pPr>
            <a:r>
              <a:rPr sz="3200" b="0" i="0">
                <a:solidFill>
                  <a:srgbClr val="2B2A29"/>
                </a:solidFill>
                <a:latin typeface="Times New Roman" panose="02020603050405020304" pitchFamily="18" charset="0"/>
                <a:ea typeface="Montserrat"/>
                <a:cs typeface="Times New Roman" panose="02020603050405020304" pitchFamily="18" charset="0"/>
              </a:rPr>
              <a:t>Depth-limited Search</a:t>
            </a:r>
          </a:p>
          <a:p>
            <a:pPr marL="285750" indent="-285750" algn="just">
              <a:spcBef>
                <a:spcPct val="0"/>
              </a:spcBef>
              <a:buFont typeface="Arial" panose="020B0604020202020204" pitchFamily="34" charset="0"/>
              <a:buChar char="•"/>
            </a:pPr>
            <a:r>
              <a:rPr sz="3200" b="0" i="0">
                <a:solidFill>
                  <a:srgbClr val="2B2A29"/>
                </a:solidFill>
                <a:latin typeface="Times New Roman" panose="02020603050405020304" pitchFamily="18" charset="0"/>
                <a:ea typeface="Montserrat"/>
                <a:cs typeface="Times New Roman" panose="02020603050405020304" pitchFamily="18" charset="0"/>
              </a:rPr>
              <a:t>Iterative deepening depth-first search</a:t>
            </a:r>
          </a:p>
          <a:p>
            <a:pPr marL="285750" indent="-285750" algn="just">
              <a:spcBef>
                <a:spcPct val="0"/>
              </a:spcBef>
              <a:buFont typeface="Arial" panose="020B0604020202020204" pitchFamily="34" charset="0"/>
              <a:buChar char="•"/>
            </a:pPr>
            <a:r>
              <a:rPr sz="3200" b="0" i="0">
                <a:solidFill>
                  <a:srgbClr val="2B2A29"/>
                </a:solidFill>
                <a:latin typeface="Times New Roman" panose="02020603050405020304" pitchFamily="18" charset="0"/>
                <a:ea typeface="Montserrat"/>
                <a:cs typeface="Times New Roman" panose="02020603050405020304" pitchFamily="18" charset="0"/>
              </a:rPr>
              <a:t>Uniform cost search</a:t>
            </a:r>
          </a:p>
          <a:p>
            <a:pPr marL="285750" indent="-285750" algn="just">
              <a:spcBef>
                <a:spcPct val="0"/>
              </a:spcBef>
              <a:buFont typeface="Arial" panose="020B0604020202020204" pitchFamily="34" charset="0"/>
              <a:buChar char="•"/>
            </a:pPr>
            <a:r>
              <a:rPr sz="3200" b="0" i="0">
                <a:solidFill>
                  <a:srgbClr val="2B2A29"/>
                </a:solidFill>
                <a:latin typeface="Times New Roman" panose="02020603050405020304" pitchFamily="18" charset="0"/>
                <a:ea typeface="Montserrat"/>
                <a:cs typeface="Times New Roman" panose="02020603050405020304" pitchFamily="18" charset="0"/>
              </a:rPr>
              <a:t>Bidirectional Search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47320" y="332740"/>
            <a:ext cx="11723370" cy="5113020"/>
          </a:xfrm>
          <a:prstGeom prst="rect">
            <a:avLst/>
          </a:prstGeom>
        </p:spPr>
        <p:txBody>
          <a:bodyPr wrap="square">
            <a:spAutoFit/>
          </a:bodyPr>
          <a:lstStyle/>
          <a:p>
            <a:pPr marL="0" indent="0" algn="ctr">
              <a:spcAft>
                <a:spcPct val="60000"/>
              </a:spcAft>
            </a:pPr>
            <a:r>
              <a:rPr sz="2800" b="1" i="0">
                <a:solidFill>
                  <a:srgbClr val="FF0000"/>
                </a:solidFill>
                <a:latin typeface="Times New Roman" panose="02020603050405020304" pitchFamily="18" charset="0"/>
                <a:ea typeface="Montserrat"/>
                <a:cs typeface="Times New Roman" panose="02020603050405020304" pitchFamily="18" charset="0"/>
              </a:rPr>
              <a:t>1. Breadth-first Search:</a:t>
            </a:r>
          </a:p>
          <a:p>
            <a:pPr marL="457200" indent="-457200" algn="just">
              <a:spcAft>
                <a:spcPct val="60000"/>
              </a:spcAft>
              <a:buFont typeface="Arial" panose="020B0604020202020204" pitchFamily="34" charset="0"/>
              <a:buChar char="•"/>
            </a:pPr>
            <a:r>
              <a:rPr sz="2800" b="0" i="0">
                <a:solidFill>
                  <a:srgbClr val="1D1D27"/>
                </a:solidFill>
                <a:latin typeface="Times New Roman" panose="02020603050405020304" pitchFamily="18" charset="0"/>
                <a:ea typeface="Montserrat"/>
                <a:cs typeface="Times New Roman" panose="02020603050405020304" pitchFamily="18" charset="0"/>
              </a:rPr>
              <a:t>Breadth-first search is the most common search strategy for</a:t>
            </a:r>
            <a:r>
              <a:rPr sz="2800" b="1" i="0">
                <a:solidFill>
                  <a:srgbClr val="1D1D27"/>
                </a:solidFill>
                <a:latin typeface="Times New Roman" panose="02020603050405020304" pitchFamily="18" charset="0"/>
                <a:ea typeface="Montserrat"/>
                <a:cs typeface="Times New Roman" panose="02020603050405020304" pitchFamily="18" charset="0"/>
              </a:rPr>
              <a:t> traversing a tree or graph</a:t>
            </a:r>
            <a:r>
              <a:rPr sz="2800" b="0" i="0">
                <a:solidFill>
                  <a:srgbClr val="1D1D27"/>
                </a:solidFill>
                <a:latin typeface="Times New Roman" panose="02020603050405020304" pitchFamily="18" charset="0"/>
                <a:ea typeface="Montserrat"/>
                <a:cs typeface="Times New Roman" panose="02020603050405020304" pitchFamily="18" charset="0"/>
              </a:rPr>
              <a:t>. This algorithm searches </a:t>
            </a:r>
            <a:r>
              <a:rPr sz="2800" b="1" i="1">
                <a:solidFill>
                  <a:srgbClr val="1D1D27"/>
                </a:solidFill>
                <a:latin typeface="Times New Roman" panose="02020603050405020304" pitchFamily="18" charset="0"/>
                <a:ea typeface="Montserrat"/>
                <a:cs typeface="Times New Roman" panose="02020603050405020304" pitchFamily="18" charset="0"/>
              </a:rPr>
              <a:t>breadthwise in a tree or graph, so it is called breadth-first search.</a:t>
            </a:r>
          </a:p>
          <a:p>
            <a:pPr marL="457200" indent="-457200" algn="just">
              <a:spcAft>
                <a:spcPct val="60000"/>
              </a:spcAft>
              <a:buFont typeface="Arial" panose="020B0604020202020204" pitchFamily="34" charset="0"/>
              <a:buChar char="•"/>
            </a:pPr>
            <a:r>
              <a:rPr sz="2800" b="0" i="0">
                <a:solidFill>
                  <a:srgbClr val="1D1D27"/>
                </a:solidFill>
                <a:latin typeface="Times New Roman" panose="02020603050405020304" pitchFamily="18" charset="0"/>
                <a:ea typeface="Montserrat"/>
                <a:cs typeface="Times New Roman" panose="02020603050405020304" pitchFamily="18" charset="0"/>
              </a:rPr>
              <a:t>BFS algorithm starts searching from the root node of the tree and expands all successor node at the current level before moving to nodes of next level.</a:t>
            </a:r>
          </a:p>
          <a:p>
            <a:pPr marL="457200" indent="-457200" algn="just">
              <a:spcAft>
                <a:spcPct val="60000"/>
              </a:spcAft>
              <a:buFont typeface="Arial" panose="020B0604020202020204" pitchFamily="34" charset="0"/>
              <a:buChar char="•"/>
            </a:pPr>
            <a:r>
              <a:rPr sz="2800" b="0" i="0">
                <a:solidFill>
                  <a:srgbClr val="1D1D27"/>
                </a:solidFill>
                <a:latin typeface="Times New Roman" panose="02020603050405020304" pitchFamily="18" charset="0"/>
                <a:ea typeface="Montserrat"/>
                <a:cs typeface="Times New Roman" panose="02020603050405020304" pitchFamily="18" charset="0"/>
              </a:rPr>
              <a:t>The breadth-first search algorithm is an example of a general-graph search algorithm.</a:t>
            </a:r>
          </a:p>
          <a:p>
            <a:pPr marL="457200" indent="-457200" algn="just">
              <a:spcAft>
                <a:spcPct val="60000"/>
              </a:spcAft>
              <a:buFont typeface="Arial" panose="020B0604020202020204" pitchFamily="34" charset="0"/>
              <a:buChar char="•"/>
            </a:pPr>
            <a:r>
              <a:rPr sz="2800" b="0" i="0">
                <a:solidFill>
                  <a:srgbClr val="1D1D27"/>
                </a:solidFill>
                <a:latin typeface="Times New Roman" panose="02020603050405020304" pitchFamily="18" charset="0"/>
                <a:ea typeface="Montserrat"/>
                <a:cs typeface="Times New Roman" panose="02020603050405020304" pitchFamily="18" charset="0"/>
              </a:rPr>
              <a:t>Breadth-first search implemented using</a:t>
            </a:r>
            <a:r>
              <a:rPr sz="2800" b="1" i="0">
                <a:solidFill>
                  <a:srgbClr val="1D1D27"/>
                </a:solidFill>
                <a:latin typeface="Times New Roman" panose="02020603050405020304" pitchFamily="18" charset="0"/>
                <a:ea typeface="Montserrat"/>
                <a:cs typeface="Times New Roman" panose="02020603050405020304" pitchFamily="18" charset="0"/>
              </a:rPr>
              <a:t> FIFO queue data structure.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110615" y="332740"/>
            <a:ext cx="10506710" cy="5754370"/>
          </a:xfrm>
          <a:prstGeom prst="rect">
            <a:avLst/>
          </a:prstGeom>
        </p:spPr>
        <p:txBody>
          <a:bodyPr wrap="square">
            <a:spAutoFit/>
          </a:bodyPr>
          <a:lstStyle/>
          <a:p>
            <a:pPr marL="0" indent="0" algn="just">
              <a:spcBef>
                <a:spcPct val="0"/>
              </a:spcBef>
            </a:pPr>
            <a:r>
              <a:rPr sz="2800" b="1" i="0">
                <a:solidFill>
                  <a:srgbClr val="2B2A29"/>
                </a:solidFill>
                <a:latin typeface="Times New Roman" panose="02020603050405020304" pitchFamily="18" charset="0"/>
                <a:ea typeface="Montserrat"/>
                <a:cs typeface="Times New Roman" panose="02020603050405020304" pitchFamily="18" charset="0"/>
              </a:rPr>
              <a:t>Advantages:</a:t>
            </a:r>
          </a:p>
          <a:p>
            <a:pPr marL="342900" indent="-342900" algn="just">
              <a:spcBef>
                <a:spcPct val="0"/>
              </a:spcBef>
              <a:buFont typeface="Arial" panose="020B0604020202020204" pitchFamily="34" charset="0"/>
              <a:buChar char="•"/>
            </a:pPr>
            <a:r>
              <a:rPr sz="2400" b="0" i="0">
                <a:solidFill>
                  <a:srgbClr val="2B2A29"/>
                </a:solidFill>
                <a:latin typeface="Times New Roman" panose="02020603050405020304" pitchFamily="18" charset="0"/>
                <a:ea typeface="Montserrat"/>
                <a:cs typeface="Times New Roman" panose="02020603050405020304" pitchFamily="18" charset="0"/>
              </a:rPr>
              <a:t>BFS will provide a solution if any solution exists.</a:t>
            </a:r>
          </a:p>
          <a:p>
            <a:pPr marL="342900" indent="-342900" algn="just">
              <a:spcBef>
                <a:spcPct val="0"/>
              </a:spcBef>
              <a:buFont typeface="Arial" panose="020B0604020202020204" pitchFamily="34" charset="0"/>
              <a:buChar char="•"/>
            </a:pPr>
            <a:r>
              <a:rPr sz="2400" b="0" i="0">
                <a:solidFill>
                  <a:srgbClr val="2B2A29"/>
                </a:solidFill>
                <a:latin typeface="Times New Roman" panose="02020603050405020304" pitchFamily="18" charset="0"/>
                <a:ea typeface="Montserrat"/>
                <a:cs typeface="Times New Roman" panose="02020603050405020304" pitchFamily="18" charset="0"/>
              </a:rPr>
              <a:t>If there are more than one solutions for a given problem, then BFS will provide the minimal solution which requires the least number of steps.</a:t>
            </a:r>
          </a:p>
          <a:p>
            <a:pPr marL="342900" indent="-342900" algn="just">
              <a:spcBef>
                <a:spcPct val="0"/>
              </a:spcBef>
              <a:buFont typeface="Arial" panose="020B0604020202020204" pitchFamily="34" charset="0"/>
              <a:buChar char="•"/>
            </a:pPr>
            <a:r>
              <a:rPr sz="2400" b="0" i="0">
                <a:solidFill>
                  <a:srgbClr val="2B2A29"/>
                </a:solidFill>
                <a:latin typeface="Times New Roman" panose="02020603050405020304" pitchFamily="18" charset="0"/>
                <a:ea typeface="Montserrat"/>
                <a:cs typeface="Times New Roman" panose="02020603050405020304" pitchFamily="18" charset="0"/>
              </a:rPr>
              <a:t>It also helps in finding the shortest path in goal state, since it needs all nodes at the same hierarchical level before making a move to nodes at lower levels.</a:t>
            </a:r>
          </a:p>
          <a:p>
            <a:pPr marL="342900" indent="-342900" algn="just">
              <a:spcBef>
                <a:spcPct val="0"/>
              </a:spcBef>
              <a:buFont typeface="Arial" panose="020B0604020202020204" pitchFamily="34" charset="0"/>
              <a:buChar char="•"/>
            </a:pPr>
            <a:r>
              <a:rPr sz="2400" b="0" i="0">
                <a:solidFill>
                  <a:srgbClr val="2B2A29"/>
                </a:solidFill>
                <a:latin typeface="Times New Roman" panose="02020603050405020304" pitchFamily="18" charset="0"/>
                <a:ea typeface="Montserrat"/>
                <a:cs typeface="Times New Roman" panose="02020603050405020304" pitchFamily="18" charset="0"/>
              </a:rPr>
              <a:t>It is also very easy to comprehend with the help of this we can assign the higher rank among path types.</a:t>
            </a:r>
          </a:p>
          <a:p>
            <a:pPr indent="0" algn="just">
              <a:spcBef>
                <a:spcPct val="0"/>
              </a:spcBef>
              <a:buFont typeface="Arial" panose="020B0604020202020204" pitchFamily="34" charset="0"/>
              <a:buNone/>
            </a:pPr>
            <a:r>
              <a:rPr sz="2800" b="1">
                <a:solidFill>
                  <a:srgbClr val="2B2A29"/>
                </a:solidFill>
                <a:latin typeface="Times New Roman" panose="02020603050405020304" pitchFamily="18" charset="0"/>
                <a:ea typeface="Montserrat"/>
                <a:cs typeface="Times New Roman" panose="02020603050405020304" pitchFamily="18" charset="0"/>
              </a:rPr>
              <a:t>Disadvantages:</a:t>
            </a:r>
          </a:p>
          <a:p>
            <a:pPr marL="342900" indent="-342900" algn="just">
              <a:spcBef>
                <a:spcPct val="0"/>
              </a:spcBef>
              <a:buFont typeface="Arial" panose="020B0604020202020204" pitchFamily="34" charset="0"/>
              <a:buChar char="•"/>
            </a:pPr>
            <a:r>
              <a:rPr sz="2400">
                <a:solidFill>
                  <a:srgbClr val="2B2A29"/>
                </a:solidFill>
                <a:latin typeface="Times New Roman" panose="02020603050405020304" pitchFamily="18" charset="0"/>
                <a:ea typeface="Montserrat"/>
                <a:cs typeface="Times New Roman" panose="02020603050405020304" pitchFamily="18" charset="0"/>
              </a:rPr>
              <a:t>It requires lots of memory since each level of the tree must be saved into memory to expand the next level.</a:t>
            </a:r>
          </a:p>
          <a:p>
            <a:pPr marL="342900" indent="-342900" algn="just">
              <a:spcBef>
                <a:spcPct val="0"/>
              </a:spcBef>
              <a:buFont typeface="Arial" panose="020B0604020202020204" pitchFamily="34" charset="0"/>
              <a:buChar char="•"/>
            </a:pPr>
            <a:r>
              <a:rPr sz="2400">
                <a:solidFill>
                  <a:srgbClr val="2B2A29"/>
                </a:solidFill>
                <a:latin typeface="Times New Roman" panose="02020603050405020304" pitchFamily="18" charset="0"/>
                <a:ea typeface="Montserrat"/>
                <a:cs typeface="Times New Roman" panose="02020603050405020304" pitchFamily="18" charset="0"/>
              </a:rPr>
              <a:t>BFS needs lots of time if the solution is far away from the root node.</a:t>
            </a:r>
          </a:p>
          <a:p>
            <a:pPr marL="342900" indent="-342900" algn="just">
              <a:spcBef>
                <a:spcPct val="0"/>
              </a:spcBef>
              <a:buFont typeface="Arial" panose="020B0604020202020204" pitchFamily="34" charset="0"/>
              <a:buChar char="•"/>
            </a:pPr>
            <a:r>
              <a:rPr sz="2400">
                <a:solidFill>
                  <a:srgbClr val="2B2A29"/>
                </a:solidFill>
                <a:latin typeface="Times New Roman" panose="02020603050405020304" pitchFamily="18" charset="0"/>
                <a:ea typeface="Montserrat"/>
                <a:cs typeface="Times New Roman" panose="02020603050405020304" pitchFamily="18" charset="0"/>
              </a:rPr>
              <a:t>It can be very inefficient approach for searching through deeply layered spaces, as it needs to thoroughly explore all nodes at each level before moving on to the next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410845" y="116840"/>
            <a:ext cx="11192510" cy="2922270"/>
          </a:xfrm>
          <a:prstGeom prst="rect">
            <a:avLst/>
          </a:prstGeom>
        </p:spPr>
        <p:txBody>
          <a:bodyPr wrap="square">
            <a:spAutoFit/>
          </a:bodyPr>
          <a:lstStyle/>
          <a:p>
            <a:pPr marL="0" indent="0">
              <a:spcAft>
                <a:spcPct val="60000"/>
              </a:spcAft>
            </a:pPr>
            <a:r>
              <a:rPr sz="2400" b="0" i="0">
                <a:solidFill>
                  <a:srgbClr val="1D1D27"/>
                </a:solidFill>
                <a:latin typeface="Times New Roman" panose="02020603050405020304" pitchFamily="18" charset="0"/>
                <a:ea typeface="Montserrat"/>
                <a:cs typeface="Times New Roman" panose="02020603050405020304" pitchFamily="18" charset="0"/>
              </a:rPr>
              <a:t>Example:</a:t>
            </a:r>
          </a:p>
          <a:p>
            <a:pPr marL="0" indent="0" algn="just">
              <a:spcBef>
                <a:spcPct val="0"/>
              </a:spcBef>
            </a:pPr>
            <a:r>
              <a:rPr sz="2400" b="0" i="0">
                <a:solidFill>
                  <a:srgbClr val="2B2A29"/>
                </a:solidFill>
                <a:latin typeface="Times New Roman" panose="02020603050405020304" pitchFamily="18" charset="0"/>
                <a:ea typeface="Montserrat"/>
                <a:cs typeface="Times New Roman" panose="02020603050405020304" pitchFamily="18" charset="0"/>
              </a:rPr>
              <a:t>In the below tree structure, we have shown the traversing of the tree using BFS algorithm from the root node S to goal node K. BFS search algorithm traverse in layers, so it will follow the path which is shown by the dotted arrow, and the traversed path will be:</a:t>
            </a:r>
          </a:p>
          <a:p>
            <a:pPr marL="0" indent="0" algn="just">
              <a:spcBef>
                <a:spcPct val="0"/>
              </a:spcBef>
            </a:pPr>
            <a:endParaRPr sz="2400" b="0" i="0">
              <a:solidFill>
                <a:srgbClr val="2B2A29"/>
              </a:solidFill>
              <a:latin typeface="Times New Roman" panose="02020603050405020304" pitchFamily="18" charset="0"/>
              <a:ea typeface="Montserrat"/>
              <a:cs typeface="Times New Roman" panose="02020603050405020304" pitchFamily="18" charset="0"/>
            </a:endParaRPr>
          </a:p>
          <a:p>
            <a:pPr marL="0" indent="0" algn="just">
              <a:spcBef>
                <a:spcPct val="0"/>
              </a:spcBef>
            </a:pPr>
            <a:r>
              <a:rPr sz="2400" b="0" i="0">
                <a:solidFill>
                  <a:srgbClr val="2B2A29"/>
                </a:solidFill>
                <a:latin typeface="Times New Roman" panose="02020603050405020304" pitchFamily="18" charset="0"/>
                <a:ea typeface="Montserrat"/>
                <a:cs typeface="Times New Roman" panose="02020603050405020304" pitchFamily="18" charset="0"/>
              </a:rPr>
              <a:t>S---&gt; A---&gt;B----&gt;C---&gt;D----&gt;G---&gt;H---&gt;E----&gt;F----&gt;I----&gt;K  </a:t>
            </a:r>
          </a:p>
          <a:p>
            <a:pPr marL="0" indent="0" algn="just">
              <a:spcBef>
                <a:spcPct val="0"/>
              </a:spcBef>
            </a:pPr>
            <a:endParaRPr sz="2400" b="0" i="0">
              <a:solidFill>
                <a:srgbClr val="2B2A29"/>
              </a:solidFill>
              <a:latin typeface="Times New Roman" panose="02020603050405020304" pitchFamily="18" charset="0"/>
              <a:ea typeface="Montserrat"/>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786130" y="2559685"/>
            <a:ext cx="10786110" cy="43383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407035" y="981075"/>
            <a:ext cx="11412855" cy="4679950"/>
          </a:xfrm>
          <a:prstGeom prst="rect">
            <a:avLst/>
          </a:prstGeom>
        </p:spPr>
        <p:txBody>
          <a:bodyPr wrap="square">
            <a:noAutofit/>
          </a:bodyPr>
          <a:lstStyle/>
          <a:p>
            <a:pPr marL="0" indent="0" algn="just">
              <a:spcBef>
                <a:spcPct val="0"/>
              </a:spcBef>
            </a:pPr>
            <a:r>
              <a:rPr sz="2800" b="1" i="0">
                <a:solidFill>
                  <a:srgbClr val="2B2A29"/>
                </a:solidFill>
                <a:latin typeface="Times New Roman" panose="02020603050405020304" pitchFamily="18" charset="0"/>
                <a:ea typeface="Montserrat"/>
                <a:cs typeface="Times New Roman" panose="02020603050405020304" pitchFamily="18" charset="0"/>
              </a:rPr>
              <a:t>Time Complexity: </a:t>
            </a:r>
            <a:r>
              <a:rPr sz="2800" b="0" i="0">
                <a:solidFill>
                  <a:srgbClr val="2B2A29"/>
                </a:solidFill>
                <a:latin typeface="Times New Roman" panose="02020603050405020304" pitchFamily="18" charset="0"/>
                <a:ea typeface="Montserrat"/>
                <a:cs typeface="Times New Roman" panose="02020603050405020304" pitchFamily="18" charset="0"/>
              </a:rPr>
              <a:t>Time Complexity of BFS algorithm can be obtained by the number of nodes traversed in BFS until the shallowest Node. Where the d= depth of shallowest solution and b is a node at every state.</a:t>
            </a:r>
          </a:p>
          <a:p>
            <a:pPr marL="0" indent="0" algn="just">
              <a:spcBef>
                <a:spcPct val="0"/>
              </a:spcBef>
            </a:pPr>
            <a:r>
              <a:rPr sz="2800" b="0" i="0">
                <a:solidFill>
                  <a:srgbClr val="2B2A29"/>
                </a:solidFill>
                <a:latin typeface="Times New Roman" panose="02020603050405020304" pitchFamily="18" charset="0"/>
                <a:ea typeface="Montserrat"/>
                <a:cs typeface="Times New Roman" panose="02020603050405020304" pitchFamily="18" charset="0"/>
              </a:rPr>
              <a:t>T (b) = 1+b2+b3+.......+ bd= O (bd)</a:t>
            </a:r>
          </a:p>
          <a:p>
            <a:pPr marL="0" indent="0" algn="just">
              <a:spcBef>
                <a:spcPct val="0"/>
              </a:spcBef>
            </a:pPr>
            <a:r>
              <a:rPr sz="2800" b="1" i="0">
                <a:solidFill>
                  <a:srgbClr val="2B2A29"/>
                </a:solidFill>
                <a:latin typeface="Times New Roman" panose="02020603050405020304" pitchFamily="18" charset="0"/>
                <a:ea typeface="Montserrat"/>
                <a:cs typeface="Times New Roman" panose="02020603050405020304" pitchFamily="18" charset="0"/>
              </a:rPr>
              <a:t>Space Complexity:</a:t>
            </a:r>
            <a:r>
              <a:rPr sz="2800" b="0" i="0">
                <a:solidFill>
                  <a:srgbClr val="2B2A29"/>
                </a:solidFill>
                <a:latin typeface="Times New Roman" panose="02020603050405020304" pitchFamily="18" charset="0"/>
                <a:ea typeface="Montserrat"/>
                <a:cs typeface="Times New Roman" panose="02020603050405020304" pitchFamily="18" charset="0"/>
              </a:rPr>
              <a:t> Space complexity of BFS algorithm is given by the Memory size of frontier which is O(bd).</a:t>
            </a:r>
          </a:p>
          <a:p>
            <a:pPr marL="0" indent="0" algn="just">
              <a:spcBef>
                <a:spcPct val="0"/>
              </a:spcBef>
            </a:pPr>
            <a:r>
              <a:rPr sz="2800" b="1" i="0">
                <a:solidFill>
                  <a:srgbClr val="2B2A29"/>
                </a:solidFill>
                <a:latin typeface="Times New Roman" panose="02020603050405020304" pitchFamily="18" charset="0"/>
                <a:ea typeface="Montserrat"/>
                <a:cs typeface="Times New Roman" panose="02020603050405020304" pitchFamily="18" charset="0"/>
              </a:rPr>
              <a:t>Completeness: </a:t>
            </a:r>
            <a:r>
              <a:rPr sz="2800" b="0" i="0">
                <a:solidFill>
                  <a:srgbClr val="2B2A29"/>
                </a:solidFill>
                <a:latin typeface="Times New Roman" panose="02020603050405020304" pitchFamily="18" charset="0"/>
                <a:ea typeface="Montserrat"/>
                <a:cs typeface="Times New Roman" panose="02020603050405020304" pitchFamily="18" charset="0"/>
              </a:rPr>
              <a:t>BFS is complete, which means if the shallowest goal node is at some finite depth, then BFS will find a solution.</a:t>
            </a:r>
          </a:p>
          <a:p>
            <a:pPr marL="0" indent="0" algn="just">
              <a:spcBef>
                <a:spcPct val="0"/>
              </a:spcBef>
            </a:pPr>
            <a:r>
              <a:rPr sz="2800" b="1" i="0">
                <a:solidFill>
                  <a:srgbClr val="2B2A29"/>
                </a:solidFill>
                <a:latin typeface="Times New Roman" panose="02020603050405020304" pitchFamily="18" charset="0"/>
                <a:ea typeface="Montserrat"/>
                <a:cs typeface="Times New Roman" panose="02020603050405020304" pitchFamily="18" charset="0"/>
              </a:rPr>
              <a:t>Optimality:</a:t>
            </a:r>
            <a:r>
              <a:rPr sz="2800" b="0" i="0">
                <a:solidFill>
                  <a:srgbClr val="2B2A29"/>
                </a:solidFill>
                <a:latin typeface="Times New Roman" panose="02020603050405020304" pitchFamily="18" charset="0"/>
                <a:ea typeface="Montserrat"/>
                <a:cs typeface="Times New Roman" panose="02020603050405020304" pitchFamily="18" charset="0"/>
              </a:rPr>
              <a:t> BFS is optimal if path cost is a non-decreasing function of the depth of the node.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774700" y="765175"/>
            <a:ext cx="10781030" cy="4682490"/>
          </a:xfrm>
          <a:prstGeom prst="rect">
            <a:avLst/>
          </a:prstGeom>
        </p:spPr>
        <p:txBody>
          <a:bodyPr wrap="square">
            <a:spAutoFit/>
          </a:bodyPr>
          <a:lstStyle/>
          <a:p>
            <a:pPr marL="0" indent="0" algn="just">
              <a:spcAft>
                <a:spcPct val="60000"/>
              </a:spcAft>
            </a:pPr>
            <a:r>
              <a:rPr sz="2800" b="1" i="0">
                <a:solidFill>
                  <a:srgbClr val="1D1D27"/>
                </a:solidFill>
                <a:latin typeface="Times New Roman" panose="02020603050405020304" pitchFamily="18" charset="0"/>
                <a:ea typeface="Montserrat"/>
                <a:cs typeface="Times New Roman" panose="02020603050405020304" pitchFamily="18" charset="0"/>
              </a:rPr>
              <a:t>2. Depth-first Search</a:t>
            </a:r>
          </a:p>
          <a:p>
            <a:pPr marL="0" indent="0" algn="just">
              <a:spcAft>
                <a:spcPct val="60000"/>
              </a:spcAft>
            </a:pPr>
            <a:r>
              <a:rPr sz="2800" b="0" i="0">
                <a:solidFill>
                  <a:srgbClr val="1D1D27"/>
                </a:solidFill>
                <a:latin typeface="Times New Roman" panose="02020603050405020304" pitchFamily="18" charset="0"/>
                <a:ea typeface="Montserrat"/>
                <a:cs typeface="Times New Roman" panose="02020603050405020304" pitchFamily="18" charset="0"/>
              </a:rPr>
              <a:t>Depth-first search isa recursive algorithm for traversing a tree or graph data structure.</a:t>
            </a:r>
          </a:p>
          <a:p>
            <a:pPr marL="0" indent="0" algn="just">
              <a:spcAft>
                <a:spcPct val="60000"/>
              </a:spcAft>
            </a:pPr>
            <a:r>
              <a:rPr sz="2800" b="0" i="0">
                <a:solidFill>
                  <a:srgbClr val="1D1D27"/>
                </a:solidFill>
                <a:latin typeface="Times New Roman" panose="02020603050405020304" pitchFamily="18" charset="0"/>
                <a:ea typeface="Montserrat"/>
                <a:cs typeface="Times New Roman" panose="02020603050405020304" pitchFamily="18" charset="0"/>
              </a:rPr>
              <a:t>It is called the depth-first search because it starts from the root node and follows each path to its greatest depth node before moving to the next path.</a:t>
            </a:r>
          </a:p>
          <a:p>
            <a:pPr marL="0" indent="0" algn="just">
              <a:spcAft>
                <a:spcPct val="60000"/>
              </a:spcAft>
            </a:pPr>
            <a:r>
              <a:rPr sz="2800" b="0" i="0">
                <a:solidFill>
                  <a:srgbClr val="1D1D27"/>
                </a:solidFill>
                <a:latin typeface="Times New Roman" panose="02020603050405020304" pitchFamily="18" charset="0"/>
                <a:ea typeface="Montserrat"/>
                <a:cs typeface="Times New Roman" panose="02020603050405020304" pitchFamily="18" charset="0"/>
              </a:rPr>
              <a:t>DFS uses a stack data structure for its implementation.</a:t>
            </a:r>
          </a:p>
          <a:p>
            <a:pPr marL="0" indent="0" algn="just">
              <a:spcAft>
                <a:spcPct val="60000"/>
              </a:spcAft>
            </a:pPr>
            <a:r>
              <a:rPr sz="2800" b="0" i="0">
                <a:solidFill>
                  <a:srgbClr val="1D1D27"/>
                </a:solidFill>
                <a:latin typeface="Times New Roman" panose="02020603050405020304" pitchFamily="18" charset="0"/>
                <a:ea typeface="Montserrat"/>
                <a:cs typeface="Times New Roman" panose="02020603050405020304" pitchFamily="18" charset="0"/>
              </a:rPr>
              <a:t>The process of the DFS algorithm is similar to the BFS algorithm.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670560" y="476885"/>
            <a:ext cx="10848975" cy="5336540"/>
          </a:xfrm>
          <a:prstGeom prst="rect">
            <a:avLst/>
          </a:prstGeom>
        </p:spPr>
        <p:txBody>
          <a:bodyPr wrap="square">
            <a:noAutofit/>
          </a:bodyPr>
          <a:lstStyle/>
          <a:p>
            <a:pPr marL="0" indent="0" algn="just">
              <a:spcBef>
                <a:spcPct val="0"/>
              </a:spcBef>
            </a:pPr>
            <a:r>
              <a:rPr sz="2800" b="1" i="0">
                <a:solidFill>
                  <a:srgbClr val="2B2A29"/>
                </a:solidFill>
                <a:latin typeface="Times New Roman" panose="02020603050405020304" pitchFamily="18" charset="0"/>
                <a:ea typeface="Montserrat"/>
                <a:cs typeface="Times New Roman" panose="02020603050405020304" pitchFamily="18" charset="0"/>
              </a:rPr>
              <a:t>Advantage:</a:t>
            </a:r>
          </a:p>
          <a:p>
            <a:pPr marL="342900" indent="-342900" algn="just">
              <a:spcBef>
                <a:spcPct val="0"/>
              </a:spcBef>
              <a:buFont typeface="Arial" panose="020B0604020202020204" pitchFamily="34" charset="0"/>
              <a:buChar char="•"/>
            </a:pPr>
            <a:r>
              <a:rPr sz="2400" b="0" i="0">
                <a:solidFill>
                  <a:srgbClr val="2B2A29"/>
                </a:solidFill>
                <a:latin typeface="Times New Roman" panose="02020603050405020304" pitchFamily="18" charset="0"/>
                <a:ea typeface="Montserrat"/>
                <a:cs typeface="Times New Roman" panose="02020603050405020304" pitchFamily="18" charset="0"/>
              </a:rPr>
              <a:t>DFS requires very less memory as it only needs to store a stack of the nodes on the path from root node to the current node.</a:t>
            </a:r>
          </a:p>
          <a:p>
            <a:pPr marL="342900" indent="-342900" algn="just">
              <a:spcBef>
                <a:spcPct val="0"/>
              </a:spcBef>
              <a:buFont typeface="Arial" panose="020B0604020202020204" pitchFamily="34" charset="0"/>
              <a:buChar char="•"/>
            </a:pPr>
            <a:r>
              <a:rPr sz="2400" b="0" i="0">
                <a:solidFill>
                  <a:srgbClr val="2B2A29"/>
                </a:solidFill>
                <a:latin typeface="Times New Roman" panose="02020603050405020304" pitchFamily="18" charset="0"/>
                <a:ea typeface="Montserrat"/>
                <a:cs typeface="Times New Roman" panose="02020603050405020304" pitchFamily="18" charset="0"/>
              </a:rPr>
              <a:t>It takes less time to reach to the goal node than BFS algorithm (if it traverses in the right path).</a:t>
            </a:r>
          </a:p>
          <a:p>
            <a:pPr marL="342900" indent="-342900" algn="just">
              <a:spcBef>
                <a:spcPct val="0"/>
              </a:spcBef>
              <a:buFont typeface="Arial" panose="020B0604020202020204" pitchFamily="34" charset="0"/>
              <a:buChar char="•"/>
            </a:pPr>
            <a:r>
              <a:rPr sz="2400" b="0" i="0">
                <a:solidFill>
                  <a:srgbClr val="2B2A29"/>
                </a:solidFill>
                <a:latin typeface="Times New Roman" panose="02020603050405020304" pitchFamily="18" charset="0"/>
                <a:ea typeface="Montserrat"/>
                <a:cs typeface="Times New Roman" panose="02020603050405020304" pitchFamily="18" charset="0"/>
              </a:rPr>
              <a:t>With the help of this we can stores the route which is being tracked in memory to save time as it only needs to keep one at a particular time.</a:t>
            </a:r>
          </a:p>
          <a:p>
            <a:pPr marL="0" indent="0" algn="just">
              <a:spcBef>
                <a:spcPct val="0"/>
              </a:spcBef>
            </a:pPr>
            <a:r>
              <a:rPr sz="2800" b="1" i="0">
                <a:solidFill>
                  <a:srgbClr val="2B2A29"/>
                </a:solidFill>
                <a:latin typeface="Times New Roman" panose="02020603050405020304" pitchFamily="18" charset="0"/>
                <a:ea typeface="Montserrat"/>
                <a:cs typeface="Times New Roman" panose="02020603050405020304" pitchFamily="18" charset="0"/>
              </a:rPr>
              <a:t>Disadvantage:</a:t>
            </a:r>
            <a:endParaRPr sz="2800" b="0" i="0">
              <a:solidFill>
                <a:srgbClr val="2B2A29"/>
              </a:solidFill>
              <a:latin typeface="Times New Roman" panose="02020603050405020304" pitchFamily="18" charset="0"/>
              <a:ea typeface="Montserrat"/>
              <a:cs typeface="Times New Roman" panose="02020603050405020304" pitchFamily="18" charset="0"/>
            </a:endParaRPr>
          </a:p>
          <a:p>
            <a:pPr marL="342900" indent="-342900" algn="just">
              <a:spcBef>
                <a:spcPct val="0"/>
              </a:spcBef>
              <a:buFont typeface="Arial" panose="020B0604020202020204" pitchFamily="34" charset="0"/>
              <a:buChar char="•"/>
            </a:pPr>
            <a:r>
              <a:rPr sz="2400" b="0" i="0">
                <a:solidFill>
                  <a:srgbClr val="2B2A29"/>
                </a:solidFill>
                <a:latin typeface="Times New Roman" panose="02020603050405020304" pitchFamily="18" charset="0"/>
                <a:ea typeface="Montserrat"/>
                <a:cs typeface="Times New Roman" panose="02020603050405020304" pitchFamily="18" charset="0"/>
              </a:rPr>
              <a:t>There is the possibility that many states keep re-occurring, and there is no guarantee of finding the solution.</a:t>
            </a:r>
          </a:p>
          <a:p>
            <a:pPr marL="342900" indent="-342900" algn="just">
              <a:spcBef>
                <a:spcPct val="0"/>
              </a:spcBef>
              <a:buFont typeface="Arial" panose="020B0604020202020204" pitchFamily="34" charset="0"/>
              <a:buChar char="•"/>
            </a:pPr>
            <a:r>
              <a:rPr sz="2400" b="0" i="0">
                <a:solidFill>
                  <a:srgbClr val="2B2A29"/>
                </a:solidFill>
                <a:latin typeface="Times New Roman" panose="02020603050405020304" pitchFamily="18" charset="0"/>
                <a:ea typeface="Montserrat"/>
                <a:cs typeface="Times New Roman" panose="02020603050405020304" pitchFamily="18" charset="0"/>
              </a:rPr>
              <a:t>DFS algorithm goes for deep down searching and sometime it may go to the infinite loop.</a:t>
            </a:r>
          </a:p>
          <a:p>
            <a:pPr marL="342900" indent="-342900" algn="just">
              <a:spcBef>
                <a:spcPct val="0"/>
              </a:spcBef>
              <a:buFont typeface="Arial" panose="020B0604020202020204" pitchFamily="34" charset="0"/>
              <a:buChar char="•"/>
            </a:pPr>
            <a:r>
              <a:rPr sz="2400" b="0" i="0">
                <a:solidFill>
                  <a:srgbClr val="2B2A29"/>
                </a:solidFill>
                <a:latin typeface="Times New Roman" panose="02020603050405020304" pitchFamily="18" charset="0"/>
                <a:ea typeface="Montserrat"/>
                <a:cs typeface="Times New Roman" panose="02020603050405020304" pitchFamily="18" charset="0"/>
              </a:rPr>
              <a:t>The depth-first search (DFS) algorithm does not always find the shortest path to a solution.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911225" y="116840"/>
            <a:ext cx="11172190" cy="3291205"/>
          </a:xfrm>
          <a:prstGeom prst="rect">
            <a:avLst/>
          </a:prstGeom>
        </p:spPr>
        <p:txBody>
          <a:bodyPr wrap="square">
            <a:spAutoFit/>
          </a:bodyPr>
          <a:lstStyle/>
          <a:p>
            <a:pPr marL="0" indent="0" algn="just">
              <a:spcAft>
                <a:spcPct val="60000"/>
              </a:spcAft>
            </a:pPr>
            <a:r>
              <a:rPr sz="2400" b="0" i="0">
                <a:solidFill>
                  <a:srgbClr val="1D1D27"/>
                </a:solidFill>
                <a:latin typeface="Times New Roman" panose="02020603050405020304" pitchFamily="18" charset="0"/>
                <a:ea typeface="Montserrat"/>
                <a:cs typeface="Times New Roman" panose="02020603050405020304" pitchFamily="18" charset="0"/>
              </a:rPr>
              <a:t>Example:</a:t>
            </a:r>
            <a:r>
              <a:rPr lang="en-US" sz="2400" b="0" i="0">
                <a:solidFill>
                  <a:srgbClr val="1D1D27"/>
                </a:solidFill>
                <a:latin typeface="Times New Roman" panose="02020603050405020304" pitchFamily="18" charset="0"/>
                <a:ea typeface="Montserrat"/>
                <a:cs typeface="Times New Roman" panose="02020603050405020304" pitchFamily="18" charset="0"/>
              </a:rPr>
              <a:t>  </a:t>
            </a:r>
            <a:r>
              <a:rPr sz="2400" b="0" i="0">
                <a:solidFill>
                  <a:srgbClr val="2B2A29"/>
                </a:solidFill>
                <a:latin typeface="Times New Roman" panose="02020603050405020304" pitchFamily="18" charset="0"/>
                <a:ea typeface="Montserrat"/>
                <a:cs typeface="Times New Roman" panose="02020603050405020304" pitchFamily="18" charset="0"/>
              </a:rPr>
              <a:t>In the below search tree, we have shown the flow of depth-first search, and it will follow the order as:</a:t>
            </a:r>
          </a:p>
          <a:p>
            <a:pPr marL="0" indent="0" algn="just">
              <a:spcBef>
                <a:spcPct val="0"/>
              </a:spcBef>
            </a:pPr>
            <a:r>
              <a:rPr sz="2400" b="1" i="0">
                <a:solidFill>
                  <a:srgbClr val="2B2A29"/>
                </a:solidFill>
                <a:latin typeface="Times New Roman" panose="02020603050405020304" pitchFamily="18" charset="0"/>
                <a:ea typeface="Montserrat"/>
                <a:cs typeface="Times New Roman" panose="02020603050405020304" pitchFamily="18" charset="0"/>
              </a:rPr>
              <a:t>Root node---&gt;Left node ----&gt; right node.</a:t>
            </a:r>
          </a:p>
          <a:p>
            <a:pPr marL="0" indent="0" algn="just">
              <a:spcBef>
                <a:spcPct val="0"/>
              </a:spcBef>
            </a:pPr>
            <a:r>
              <a:rPr sz="2400" b="0" i="0">
                <a:solidFill>
                  <a:srgbClr val="2B2A29"/>
                </a:solidFill>
                <a:latin typeface="Times New Roman" panose="02020603050405020304" pitchFamily="18" charset="0"/>
                <a:ea typeface="Montserrat"/>
                <a:cs typeface="Times New Roman" panose="02020603050405020304" pitchFamily="18" charset="0"/>
              </a:rPr>
              <a:t>It will start searching from root node S, and traverse A, then B, then D and E, after traversing </a:t>
            </a:r>
            <a:r>
              <a:rPr sz="2400" b="1" i="0">
                <a:solidFill>
                  <a:srgbClr val="2B2A29"/>
                </a:solidFill>
                <a:latin typeface="Times New Roman" panose="02020603050405020304" pitchFamily="18" charset="0"/>
                <a:ea typeface="Montserrat"/>
                <a:cs typeface="Times New Roman" panose="02020603050405020304" pitchFamily="18" charset="0"/>
              </a:rPr>
              <a:t>E, it will backtrack the tree as E has no other successor and still goal node is not found</a:t>
            </a:r>
            <a:r>
              <a:rPr sz="2400" b="0" i="0">
                <a:solidFill>
                  <a:srgbClr val="2B2A29"/>
                </a:solidFill>
                <a:latin typeface="Times New Roman" panose="02020603050405020304" pitchFamily="18" charset="0"/>
                <a:ea typeface="Montserrat"/>
                <a:cs typeface="Times New Roman" panose="02020603050405020304" pitchFamily="18" charset="0"/>
              </a:rPr>
              <a:t>. After </a:t>
            </a:r>
            <a:r>
              <a:rPr sz="2400" b="1" i="0">
                <a:solidFill>
                  <a:srgbClr val="2B2A29"/>
                </a:solidFill>
                <a:latin typeface="Times New Roman" panose="02020603050405020304" pitchFamily="18" charset="0"/>
                <a:ea typeface="Montserrat"/>
                <a:cs typeface="Times New Roman" panose="02020603050405020304" pitchFamily="18" charset="0"/>
              </a:rPr>
              <a:t>backtracking it will traverse node C and then G, and here it will terminate as it found goal node.</a:t>
            </a:r>
            <a:endParaRPr sz="2400" b="0" i="0">
              <a:solidFill>
                <a:srgbClr val="2B2A29"/>
              </a:solidFill>
              <a:latin typeface="Times New Roman" panose="02020603050405020304" pitchFamily="18" charset="0"/>
              <a:ea typeface="Montserrat"/>
              <a:cs typeface="Times New Roman" panose="02020603050405020304" pitchFamily="18" charset="0"/>
            </a:endParaRPr>
          </a:p>
          <a:p>
            <a:pPr marL="0" indent="0" algn="just">
              <a:spcBef>
                <a:spcPct val="0"/>
              </a:spcBef>
            </a:pPr>
            <a:endParaRPr sz="2400" b="0" i="0">
              <a:solidFill>
                <a:srgbClr val="2B2A29"/>
              </a:solidFill>
              <a:latin typeface="Times New Roman" panose="02020603050405020304" pitchFamily="18" charset="0"/>
              <a:ea typeface="Montserrat"/>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718310" y="3044190"/>
            <a:ext cx="8783955" cy="402780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899795" y="260985"/>
            <a:ext cx="11110595" cy="6000750"/>
          </a:xfrm>
          <a:prstGeom prst="rect">
            <a:avLst/>
          </a:prstGeom>
        </p:spPr>
        <p:txBody>
          <a:bodyPr wrap="square">
            <a:spAutoFit/>
          </a:bodyPr>
          <a:lstStyle/>
          <a:p>
            <a:pPr marL="0" indent="0" algn="just">
              <a:spcBef>
                <a:spcPct val="0"/>
              </a:spcBef>
            </a:pPr>
            <a:r>
              <a:rPr sz="2400" b="1" i="0">
                <a:solidFill>
                  <a:srgbClr val="2B2A29"/>
                </a:solidFill>
                <a:latin typeface="Times New Roman" panose="02020603050405020304" pitchFamily="18" charset="0"/>
                <a:ea typeface="Montserrat"/>
                <a:cs typeface="Times New Roman" panose="02020603050405020304" pitchFamily="18" charset="0"/>
              </a:rPr>
              <a:t>Completeness: </a:t>
            </a:r>
            <a:r>
              <a:rPr sz="2400" b="0" i="0">
                <a:solidFill>
                  <a:srgbClr val="2B2A29"/>
                </a:solidFill>
                <a:latin typeface="Times New Roman" panose="02020603050405020304" pitchFamily="18" charset="0"/>
                <a:ea typeface="Montserrat"/>
                <a:cs typeface="Times New Roman" panose="02020603050405020304" pitchFamily="18" charset="0"/>
              </a:rPr>
              <a:t>DFS search algorithm is complete within finite state space as it will expand every node within a limited search tree.</a:t>
            </a:r>
          </a:p>
          <a:p>
            <a:pPr marL="0" indent="0" algn="just">
              <a:spcBef>
                <a:spcPct val="0"/>
              </a:spcBef>
            </a:pPr>
            <a:endParaRPr sz="2400" b="0" i="0">
              <a:solidFill>
                <a:srgbClr val="2B2A29"/>
              </a:solidFill>
              <a:latin typeface="Times New Roman" panose="02020603050405020304" pitchFamily="18" charset="0"/>
              <a:ea typeface="Montserrat"/>
              <a:cs typeface="Times New Roman" panose="02020603050405020304" pitchFamily="18" charset="0"/>
            </a:endParaRPr>
          </a:p>
          <a:p>
            <a:pPr marL="0" indent="0" algn="just">
              <a:spcBef>
                <a:spcPct val="0"/>
              </a:spcBef>
            </a:pPr>
            <a:r>
              <a:rPr sz="2400" b="1" i="0">
                <a:solidFill>
                  <a:srgbClr val="2B2A29"/>
                </a:solidFill>
                <a:latin typeface="Times New Roman" panose="02020603050405020304" pitchFamily="18" charset="0"/>
                <a:ea typeface="Montserrat"/>
                <a:cs typeface="Times New Roman" panose="02020603050405020304" pitchFamily="18" charset="0"/>
              </a:rPr>
              <a:t>Time Complexity: </a:t>
            </a:r>
            <a:r>
              <a:rPr sz="2400" b="0" i="0">
                <a:solidFill>
                  <a:srgbClr val="2B2A29"/>
                </a:solidFill>
                <a:latin typeface="Times New Roman" panose="02020603050405020304" pitchFamily="18" charset="0"/>
                <a:ea typeface="Montserrat"/>
                <a:cs typeface="Times New Roman" panose="02020603050405020304" pitchFamily="18" charset="0"/>
              </a:rPr>
              <a:t>Time complexity of DFS will be equivalent to the node traversed by the algorithm. It is given by:</a:t>
            </a:r>
          </a:p>
          <a:p>
            <a:pPr marL="0" indent="0" algn="ctr">
              <a:spcBef>
                <a:spcPct val="0"/>
              </a:spcBef>
            </a:pPr>
            <a:r>
              <a:rPr sz="2400" b="1" i="0">
                <a:solidFill>
                  <a:srgbClr val="2B2A29"/>
                </a:solidFill>
                <a:latin typeface="Times New Roman" panose="02020603050405020304" pitchFamily="18" charset="0"/>
                <a:ea typeface="Montserrat"/>
                <a:cs typeface="Times New Roman" panose="02020603050405020304" pitchFamily="18" charset="0"/>
              </a:rPr>
              <a:t>T(n)= 1+ n2+ n3 +.........+ nm=O(nm)</a:t>
            </a:r>
          </a:p>
          <a:p>
            <a:pPr marL="0" indent="0" algn="just">
              <a:spcBef>
                <a:spcPct val="0"/>
              </a:spcBef>
            </a:pPr>
            <a:endParaRPr sz="2400" b="0" i="0">
              <a:solidFill>
                <a:srgbClr val="2B2A29"/>
              </a:solidFill>
              <a:latin typeface="Times New Roman" panose="02020603050405020304" pitchFamily="18" charset="0"/>
              <a:ea typeface="Montserrat"/>
              <a:cs typeface="Times New Roman" panose="02020603050405020304" pitchFamily="18" charset="0"/>
            </a:endParaRPr>
          </a:p>
          <a:p>
            <a:pPr marL="0" indent="0" algn="just">
              <a:spcBef>
                <a:spcPct val="0"/>
              </a:spcBef>
            </a:pPr>
            <a:r>
              <a:rPr sz="2400" b="0" i="0">
                <a:solidFill>
                  <a:srgbClr val="2B2A29"/>
                </a:solidFill>
                <a:latin typeface="Times New Roman" panose="02020603050405020304" pitchFamily="18" charset="0"/>
                <a:ea typeface="Montserrat"/>
                <a:cs typeface="Times New Roman" panose="02020603050405020304" pitchFamily="18" charset="0"/>
              </a:rPr>
              <a:t>Where, m= maximum depth of any node and this can be much larger than d (Shallowest solution depth)</a:t>
            </a:r>
          </a:p>
          <a:p>
            <a:pPr marL="0" indent="0" algn="just">
              <a:spcBef>
                <a:spcPct val="0"/>
              </a:spcBef>
            </a:pPr>
            <a:endParaRPr sz="2400" b="0" i="0">
              <a:solidFill>
                <a:srgbClr val="2B2A29"/>
              </a:solidFill>
              <a:latin typeface="Times New Roman" panose="02020603050405020304" pitchFamily="18" charset="0"/>
              <a:ea typeface="Montserrat"/>
              <a:cs typeface="Times New Roman" panose="02020603050405020304" pitchFamily="18" charset="0"/>
            </a:endParaRPr>
          </a:p>
          <a:p>
            <a:pPr marL="0" indent="0" algn="just">
              <a:spcBef>
                <a:spcPct val="0"/>
              </a:spcBef>
            </a:pPr>
            <a:r>
              <a:rPr sz="2400" b="1" i="0">
                <a:solidFill>
                  <a:srgbClr val="2B2A29"/>
                </a:solidFill>
                <a:latin typeface="Times New Roman" panose="02020603050405020304" pitchFamily="18" charset="0"/>
                <a:ea typeface="Montserrat"/>
                <a:cs typeface="Times New Roman" panose="02020603050405020304" pitchFamily="18" charset="0"/>
              </a:rPr>
              <a:t>Space Complexity:</a:t>
            </a:r>
            <a:r>
              <a:rPr sz="2400" b="0" i="0">
                <a:solidFill>
                  <a:srgbClr val="2B2A29"/>
                </a:solidFill>
                <a:latin typeface="Times New Roman" panose="02020603050405020304" pitchFamily="18" charset="0"/>
                <a:ea typeface="Montserrat"/>
                <a:cs typeface="Times New Roman" panose="02020603050405020304" pitchFamily="18" charset="0"/>
              </a:rPr>
              <a:t> DFS algorithm needs to store only single path from the root node, hence space complexity of DFS is equivalent to the size of the fringe set, which is </a:t>
            </a:r>
            <a:r>
              <a:rPr lang="en-US" sz="2400" b="0" i="0">
                <a:solidFill>
                  <a:srgbClr val="2B2A29"/>
                </a:solidFill>
                <a:latin typeface="Times New Roman" panose="02020603050405020304" pitchFamily="18" charset="0"/>
                <a:ea typeface="Montserrat"/>
                <a:cs typeface="Times New Roman" panose="02020603050405020304" pitchFamily="18" charset="0"/>
              </a:rPr>
              <a:t>   -   </a:t>
            </a:r>
            <a:r>
              <a:rPr sz="2400" b="1" i="0">
                <a:solidFill>
                  <a:srgbClr val="2B2A29"/>
                </a:solidFill>
                <a:latin typeface="Times New Roman" panose="02020603050405020304" pitchFamily="18" charset="0"/>
                <a:ea typeface="Montserrat"/>
                <a:cs typeface="Times New Roman" panose="02020603050405020304" pitchFamily="18" charset="0"/>
              </a:rPr>
              <a:t>O(bm)</a:t>
            </a:r>
          </a:p>
          <a:p>
            <a:pPr marL="0" indent="0" algn="just">
              <a:spcBef>
                <a:spcPct val="0"/>
              </a:spcBef>
            </a:pPr>
            <a:endParaRPr sz="2400" b="0" i="0">
              <a:solidFill>
                <a:srgbClr val="2B2A29"/>
              </a:solidFill>
              <a:latin typeface="Times New Roman" panose="02020603050405020304" pitchFamily="18" charset="0"/>
              <a:ea typeface="Montserrat"/>
              <a:cs typeface="Times New Roman" panose="02020603050405020304" pitchFamily="18" charset="0"/>
            </a:endParaRPr>
          </a:p>
          <a:p>
            <a:pPr marL="0" indent="0" algn="just">
              <a:spcBef>
                <a:spcPct val="0"/>
              </a:spcBef>
            </a:pPr>
            <a:r>
              <a:rPr sz="2400" b="1" i="0">
                <a:solidFill>
                  <a:srgbClr val="2B2A29"/>
                </a:solidFill>
                <a:latin typeface="Times New Roman" panose="02020603050405020304" pitchFamily="18" charset="0"/>
                <a:ea typeface="Montserrat"/>
                <a:cs typeface="Times New Roman" panose="02020603050405020304" pitchFamily="18" charset="0"/>
              </a:rPr>
              <a:t>Optimal: </a:t>
            </a:r>
            <a:r>
              <a:rPr sz="2400" b="0" i="0">
                <a:solidFill>
                  <a:srgbClr val="2B2A29"/>
                </a:solidFill>
                <a:latin typeface="Times New Roman" panose="02020603050405020304" pitchFamily="18" charset="0"/>
                <a:ea typeface="Montserrat"/>
                <a:cs typeface="Times New Roman" panose="02020603050405020304" pitchFamily="18" charset="0"/>
              </a:rPr>
              <a:t>DFS search algorithm is non-optimal, as it may generate a large number of steps or high cost to reach to the goal node.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51180" y="836930"/>
            <a:ext cx="11217275" cy="4646295"/>
          </a:xfrm>
          <a:prstGeom prst="rect">
            <a:avLst/>
          </a:prstGeom>
          <a:noFill/>
        </p:spPr>
        <p:txBody>
          <a:bodyPr wrap="square" rtlCol="0">
            <a:spAutoFit/>
          </a:bodyPr>
          <a:lstStyle/>
          <a:p>
            <a:r>
              <a:rPr lang="en-US" sz="2800" b="1">
                <a:latin typeface="Times New Roman" panose="02020603050405020304" pitchFamily="18" charset="0"/>
                <a:cs typeface="Times New Roman" panose="02020603050405020304" pitchFamily="18" charset="0"/>
              </a:rPr>
              <a:t>3. Depth-Limited Search Algorithm:</a:t>
            </a:r>
          </a:p>
          <a:p>
            <a:endParaRPr lang="en-US" sz="2800" b="1">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A depth-limited search algorithm is similar to depth-first search with a </a:t>
            </a:r>
            <a:r>
              <a:rPr lang="en-US" sz="2400" b="1">
                <a:solidFill>
                  <a:srgbClr val="FF0000"/>
                </a:solidFill>
                <a:latin typeface="Times New Roman" panose="02020603050405020304" pitchFamily="18" charset="0"/>
                <a:cs typeface="Times New Roman" panose="02020603050405020304" pitchFamily="18" charset="0"/>
              </a:rPr>
              <a:t>predetermined limit</a:t>
            </a:r>
            <a:r>
              <a:rPr lang="en-US" sz="2400">
                <a:latin typeface="Times New Roman" panose="02020603050405020304" pitchFamily="18" charset="0"/>
                <a:cs typeface="Times New Roman" panose="02020603050405020304" pitchFamily="18" charset="0"/>
              </a:rPr>
              <a:t>. Depth-limited search can solve the drawback of the infinite path in the Depth-first search. In this algorithm, the node at the</a:t>
            </a:r>
            <a:r>
              <a:rPr lang="en-US" sz="2400" b="1">
                <a:latin typeface="Times New Roman" panose="02020603050405020304" pitchFamily="18" charset="0"/>
                <a:cs typeface="Times New Roman" panose="02020603050405020304" pitchFamily="18" charset="0"/>
              </a:rPr>
              <a:t> depth limit will treat as it has no successor nodes further.</a:t>
            </a: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Depth-limited search can be terminated with two Conditions of failure:</a:t>
            </a:r>
          </a:p>
          <a:p>
            <a:pPr algn="just"/>
            <a:endParaRPr lang="en-US" sz="240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Standard failure value:</a:t>
            </a:r>
            <a:r>
              <a:rPr lang="en-US" sz="2400">
                <a:latin typeface="Times New Roman" panose="02020603050405020304" pitchFamily="18" charset="0"/>
                <a:cs typeface="Times New Roman" panose="02020603050405020304" pitchFamily="18" charset="0"/>
              </a:rPr>
              <a:t> It indicates that problem does not have any solution.</a:t>
            </a:r>
          </a:p>
          <a:p>
            <a:pPr marL="342900" indent="-342900" algn="just">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Cutoff failure value</a:t>
            </a:r>
            <a:r>
              <a:rPr lang="en-US" sz="2400">
                <a:latin typeface="Times New Roman" panose="02020603050405020304" pitchFamily="18" charset="0"/>
                <a:cs typeface="Times New Roman" panose="02020603050405020304" pitchFamily="18" charset="0"/>
              </a:rPr>
              <a:t>: It defines no solution for the problem within a given depth limit.</a:t>
            </a:r>
          </a:p>
          <a:p>
            <a:pPr algn="just"/>
            <a:endParaRPr 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127125" y="332740"/>
            <a:ext cx="10314940" cy="6000750"/>
          </a:xfrm>
          <a:prstGeom prst="rect">
            <a:avLst/>
          </a:prstGeom>
        </p:spPr>
        <p:txBody>
          <a:bodyPr wrap="square">
            <a:spAutoFit/>
          </a:bodyPr>
          <a:lstStyle/>
          <a:p>
            <a:pPr marL="0" indent="0" algn="just">
              <a:spcBef>
                <a:spcPct val="0"/>
              </a:spcBef>
            </a:pPr>
            <a:r>
              <a:rPr sz="2400" b="1" i="0">
                <a:solidFill>
                  <a:srgbClr val="2B2A29"/>
                </a:solidFill>
                <a:latin typeface="Times New Roman" panose="02020603050405020304" pitchFamily="18" charset="0"/>
                <a:ea typeface="Montserrat"/>
                <a:cs typeface="Times New Roman" panose="02020603050405020304" pitchFamily="18" charset="0"/>
              </a:rPr>
              <a:t>Advantages:</a:t>
            </a:r>
          </a:p>
          <a:p>
            <a:pPr marL="342900" indent="-342900" algn="just">
              <a:spcBef>
                <a:spcPct val="0"/>
              </a:spcBef>
              <a:buFont typeface="Arial" panose="020B0604020202020204" pitchFamily="34" charset="0"/>
              <a:buChar char="•"/>
            </a:pPr>
            <a:r>
              <a:rPr sz="2400" b="0" i="0">
                <a:solidFill>
                  <a:srgbClr val="2B2A29"/>
                </a:solidFill>
                <a:latin typeface="Times New Roman" panose="02020603050405020304" pitchFamily="18" charset="0"/>
                <a:ea typeface="Montserrat"/>
                <a:cs typeface="Times New Roman" panose="02020603050405020304" pitchFamily="18" charset="0"/>
              </a:rPr>
              <a:t>Depth-Limited Search will restrict the search depth of the tree, thus, the algorithm will require fewer memory resources than the straight BFS (Breadth-First Search) and IDDFS (Iterative Deepening Depth-First Search). After all, this implies automatic selection of more segments of the search space and the consequent why consumption of the resources. </a:t>
            </a:r>
          </a:p>
          <a:p>
            <a:pPr marL="342900" indent="-342900" algn="just">
              <a:spcBef>
                <a:spcPct val="0"/>
              </a:spcBef>
              <a:buFont typeface="Arial" panose="020B0604020202020204" pitchFamily="34" charset="0"/>
              <a:buChar char="•"/>
            </a:pPr>
            <a:r>
              <a:rPr sz="2400" b="0" i="0">
                <a:solidFill>
                  <a:srgbClr val="2B2A29"/>
                </a:solidFill>
                <a:latin typeface="Times New Roman" panose="02020603050405020304" pitchFamily="18" charset="0"/>
                <a:ea typeface="Montserrat"/>
                <a:cs typeface="Times New Roman" panose="02020603050405020304" pitchFamily="18" charset="0"/>
              </a:rPr>
              <a:t>When there is a leaf node depth which is as large as the highest level allowed, do not describe its children, and then discard it from the stack.</a:t>
            </a:r>
          </a:p>
          <a:p>
            <a:pPr marL="342900" indent="-342900" algn="just">
              <a:spcBef>
                <a:spcPct val="0"/>
              </a:spcBef>
              <a:buFont typeface="Arial" panose="020B0604020202020204" pitchFamily="34" charset="0"/>
              <a:buChar char="•"/>
            </a:pPr>
            <a:r>
              <a:rPr sz="2400" b="0" i="0">
                <a:solidFill>
                  <a:srgbClr val="2B2A29"/>
                </a:solidFill>
                <a:latin typeface="Times New Roman" panose="02020603050405020304" pitchFamily="18" charset="0"/>
                <a:ea typeface="Montserrat"/>
                <a:cs typeface="Times New Roman" panose="02020603050405020304" pitchFamily="18" charset="0"/>
              </a:rPr>
              <a:t>Depth-Limited Search does not explain the infinite loops which can arise in classical when there are cycles in graph of cities.</a:t>
            </a:r>
          </a:p>
          <a:p>
            <a:pPr indent="0" algn="just">
              <a:spcBef>
                <a:spcPct val="0"/>
              </a:spcBef>
              <a:buFont typeface="Arial" panose="020B0604020202020204" pitchFamily="34" charset="0"/>
              <a:buNone/>
            </a:pPr>
            <a:r>
              <a:rPr sz="2400" b="1" i="0">
                <a:solidFill>
                  <a:srgbClr val="2B2A29"/>
                </a:solidFill>
                <a:latin typeface="Times New Roman" panose="02020603050405020304" pitchFamily="18" charset="0"/>
                <a:ea typeface="Montserrat"/>
                <a:cs typeface="Times New Roman" panose="02020603050405020304" pitchFamily="18" charset="0"/>
              </a:rPr>
              <a:t>Disadvantages:</a:t>
            </a:r>
          </a:p>
          <a:p>
            <a:pPr marL="342900" indent="-342900" algn="just">
              <a:spcBef>
                <a:spcPct val="0"/>
              </a:spcBef>
              <a:buFont typeface="Arial" panose="020B0604020202020204" pitchFamily="34" charset="0"/>
              <a:buChar char="•"/>
            </a:pPr>
            <a:r>
              <a:rPr sz="2400" b="0" i="0">
                <a:solidFill>
                  <a:srgbClr val="2B2A29"/>
                </a:solidFill>
                <a:latin typeface="Times New Roman" panose="02020603050405020304" pitchFamily="18" charset="0"/>
                <a:ea typeface="Montserrat"/>
                <a:cs typeface="Times New Roman" panose="02020603050405020304" pitchFamily="18" charset="0"/>
              </a:rPr>
              <a:t>Depth-limited search also has a disadvantage of incompleteness.</a:t>
            </a:r>
          </a:p>
          <a:p>
            <a:pPr marL="342900" indent="-342900" algn="just">
              <a:spcBef>
                <a:spcPct val="0"/>
              </a:spcBef>
              <a:buFont typeface="Arial" panose="020B0604020202020204" pitchFamily="34" charset="0"/>
              <a:buChar char="•"/>
            </a:pPr>
            <a:r>
              <a:rPr sz="2400" b="0" i="0">
                <a:solidFill>
                  <a:srgbClr val="2B2A29"/>
                </a:solidFill>
                <a:latin typeface="Times New Roman" panose="02020603050405020304" pitchFamily="18" charset="0"/>
                <a:ea typeface="Montserrat"/>
                <a:cs typeface="Times New Roman" panose="02020603050405020304" pitchFamily="18" charset="0"/>
              </a:rPr>
              <a:t>It may not be optimal if the problem has more than one solution.</a:t>
            </a:r>
          </a:p>
          <a:p>
            <a:pPr marL="342900" indent="-342900" algn="just">
              <a:spcBef>
                <a:spcPct val="0"/>
              </a:spcBef>
              <a:buFont typeface="Arial" panose="020B0604020202020204" pitchFamily="34" charset="0"/>
              <a:buChar char="•"/>
            </a:pPr>
            <a:r>
              <a:rPr sz="2400" b="0" i="0">
                <a:solidFill>
                  <a:srgbClr val="2B2A29"/>
                </a:solidFill>
                <a:latin typeface="Times New Roman" panose="02020603050405020304" pitchFamily="18" charset="0"/>
                <a:ea typeface="Montserrat"/>
                <a:cs typeface="Times New Roman" panose="02020603050405020304" pitchFamily="18" charset="0"/>
              </a:rPr>
              <a:t>The effectiveness of the Depth-Limited Search (DLS) algorithm is largely dependent on the depth limit specified. If the depth limit is set too low, the algorithm may fail to find the solution altogether.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631315" y="139383"/>
            <a:ext cx="5080000" cy="460375"/>
          </a:xfrm>
          <a:prstGeom prst="rect">
            <a:avLst/>
          </a:prstGeom>
        </p:spPr>
        <p:txBody>
          <a:bodyPr>
            <a:spAutoFit/>
          </a:bodyPr>
          <a:lstStyle/>
          <a:p>
            <a:pPr marL="0" indent="0">
              <a:spcAft>
                <a:spcPct val="60000"/>
              </a:spcAft>
            </a:pPr>
            <a:r>
              <a:rPr sz="2400" b="1" i="0">
                <a:solidFill>
                  <a:srgbClr val="1D1D27"/>
                </a:solidFill>
                <a:latin typeface="Times New Roman" panose="02020603050405020304" pitchFamily="18" charset="0"/>
                <a:ea typeface="Montserrat"/>
                <a:cs typeface="Times New Roman" panose="02020603050405020304" pitchFamily="18" charset="0"/>
              </a:rPr>
              <a:t>Example:</a:t>
            </a:r>
          </a:p>
        </p:txBody>
      </p:sp>
      <p:pic>
        <p:nvPicPr>
          <p:cNvPr id="3" name="Picture 2"/>
          <p:cNvPicPr/>
          <p:nvPr/>
        </p:nvPicPr>
        <p:blipFill>
          <a:blip r:embed="rId2"/>
          <a:stretch>
            <a:fillRect/>
          </a:stretch>
        </p:blipFill>
        <p:spPr>
          <a:xfrm>
            <a:off x="1508125" y="600075"/>
            <a:ext cx="9647555" cy="548703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487170" y="548640"/>
            <a:ext cx="9756140" cy="4399915"/>
          </a:xfrm>
          <a:prstGeom prst="rect">
            <a:avLst/>
          </a:prstGeom>
        </p:spPr>
        <p:txBody>
          <a:bodyPr wrap="square">
            <a:spAutoFit/>
          </a:bodyPr>
          <a:lstStyle/>
          <a:p>
            <a:pPr marL="0" indent="0" algn="just">
              <a:spcBef>
                <a:spcPct val="0"/>
              </a:spcBef>
            </a:pPr>
            <a:r>
              <a:rPr sz="2800" b="1" i="0">
                <a:solidFill>
                  <a:srgbClr val="2B2A29"/>
                </a:solidFill>
                <a:latin typeface="Times New Roman" panose="02020603050405020304" pitchFamily="18" charset="0"/>
                <a:ea typeface="Montserrat"/>
                <a:cs typeface="Times New Roman" panose="02020603050405020304" pitchFamily="18" charset="0"/>
              </a:rPr>
              <a:t>Completeness: </a:t>
            </a:r>
            <a:r>
              <a:rPr sz="2800" b="0" i="0">
                <a:solidFill>
                  <a:srgbClr val="2B2A29"/>
                </a:solidFill>
                <a:latin typeface="Times New Roman" panose="02020603050405020304" pitchFamily="18" charset="0"/>
                <a:ea typeface="Montserrat"/>
                <a:cs typeface="Times New Roman" panose="02020603050405020304" pitchFamily="18" charset="0"/>
              </a:rPr>
              <a:t>DLS search algorithm is complete if the solution is above the depth-limit.</a:t>
            </a:r>
          </a:p>
          <a:p>
            <a:pPr marL="0" indent="0" algn="just">
              <a:spcBef>
                <a:spcPct val="0"/>
              </a:spcBef>
            </a:pPr>
            <a:r>
              <a:rPr sz="2800" b="1" i="0">
                <a:solidFill>
                  <a:srgbClr val="2B2A29"/>
                </a:solidFill>
                <a:latin typeface="Times New Roman" panose="02020603050405020304" pitchFamily="18" charset="0"/>
                <a:ea typeface="Montserrat"/>
                <a:cs typeface="Times New Roman" panose="02020603050405020304" pitchFamily="18" charset="0"/>
              </a:rPr>
              <a:t>Time Complexity:</a:t>
            </a:r>
            <a:r>
              <a:rPr sz="2800" b="0" i="0">
                <a:solidFill>
                  <a:srgbClr val="2B2A29"/>
                </a:solidFill>
                <a:latin typeface="Times New Roman" panose="02020603050405020304" pitchFamily="18" charset="0"/>
                <a:ea typeface="Montserrat"/>
                <a:cs typeface="Times New Roman" panose="02020603050405020304" pitchFamily="18" charset="0"/>
              </a:rPr>
              <a:t> Time complexity of DLS algorithm is O(bℓ) where b is the branching factor of the search tree, and l is the depth limit.</a:t>
            </a:r>
          </a:p>
          <a:p>
            <a:pPr marL="0" indent="0" algn="just">
              <a:spcBef>
                <a:spcPct val="0"/>
              </a:spcBef>
            </a:pPr>
            <a:r>
              <a:rPr sz="2800" b="1" i="0">
                <a:solidFill>
                  <a:srgbClr val="2B2A29"/>
                </a:solidFill>
                <a:latin typeface="Times New Roman" panose="02020603050405020304" pitchFamily="18" charset="0"/>
                <a:ea typeface="Montserrat"/>
                <a:cs typeface="Times New Roman" panose="02020603050405020304" pitchFamily="18" charset="0"/>
              </a:rPr>
              <a:t>Space Complexity: </a:t>
            </a:r>
            <a:r>
              <a:rPr sz="2800" b="0" i="0">
                <a:solidFill>
                  <a:srgbClr val="2B2A29"/>
                </a:solidFill>
                <a:latin typeface="Times New Roman" panose="02020603050405020304" pitchFamily="18" charset="0"/>
                <a:ea typeface="Montserrat"/>
                <a:cs typeface="Times New Roman" panose="02020603050405020304" pitchFamily="18" charset="0"/>
              </a:rPr>
              <a:t>Space complexity of DLS algorithm is O(b×ℓ) where b is the branching factor of the search tree, and l is the depth limit.</a:t>
            </a:r>
            <a:r>
              <a:rPr lang="en-US" sz="2800" b="0" i="0">
                <a:solidFill>
                  <a:srgbClr val="2B2A29"/>
                </a:solidFill>
                <a:latin typeface="Times New Roman" panose="02020603050405020304" pitchFamily="18" charset="0"/>
                <a:ea typeface="Montserrat"/>
                <a:cs typeface="Times New Roman" panose="02020603050405020304" pitchFamily="18" charset="0"/>
              </a:rPr>
              <a:t> </a:t>
            </a:r>
          </a:p>
          <a:p>
            <a:pPr marL="0" indent="0" algn="just">
              <a:spcBef>
                <a:spcPct val="0"/>
              </a:spcBef>
            </a:pPr>
            <a:r>
              <a:rPr lang="en-US" sz="2800" b="1" i="0">
                <a:solidFill>
                  <a:srgbClr val="2B2A29"/>
                </a:solidFill>
                <a:latin typeface="Times New Roman" panose="02020603050405020304" pitchFamily="18" charset="0"/>
                <a:ea typeface="Montserrat"/>
                <a:cs typeface="Times New Roman" panose="02020603050405020304" pitchFamily="18" charset="0"/>
              </a:rPr>
              <a:t>Optimal:</a:t>
            </a:r>
            <a:r>
              <a:rPr lang="en-US" sz="2800" b="0" i="0">
                <a:solidFill>
                  <a:srgbClr val="2B2A29"/>
                </a:solidFill>
                <a:latin typeface="Times New Roman" panose="02020603050405020304" pitchFamily="18" charset="0"/>
                <a:ea typeface="Montserrat"/>
                <a:cs typeface="Times New Roman" panose="02020603050405020304" pitchFamily="18" charset="0"/>
              </a:rPr>
              <a:t> Depth-limited search can be viewed as a special case of DFS, and it is also not optimal even if ℓ&gt;d.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559560" y="260985"/>
            <a:ext cx="9770110" cy="5547995"/>
          </a:xfrm>
          <a:prstGeom prst="rect">
            <a:avLst/>
          </a:prstGeom>
        </p:spPr>
        <p:txBody>
          <a:bodyPr wrap="square">
            <a:spAutoFit/>
          </a:bodyPr>
          <a:lstStyle/>
          <a:p>
            <a:pPr marL="0" indent="0">
              <a:spcAft>
                <a:spcPct val="60000"/>
              </a:spcAft>
            </a:pPr>
            <a:r>
              <a:rPr lang="en-US" sz="2800" b="1" i="0">
                <a:solidFill>
                  <a:srgbClr val="1D1D27"/>
                </a:solidFill>
                <a:latin typeface="Times New Roman" panose="02020603050405020304" pitchFamily="18" charset="0"/>
                <a:ea typeface="Montserrat"/>
                <a:cs typeface="Times New Roman" panose="02020603050405020304" pitchFamily="18" charset="0"/>
              </a:rPr>
              <a:t>4. </a:t>
            </a:r>
            <a:r>
              <a:rPr sz="2800" b="1" i="0">
                <a:solidFill>
                  <a:srgbClr val="1D1D27"/>
                </a:solidFill>
                <a:latin typeface="Times New Roman" panose="02020603050405020304" pitchFamily="18" charset="0"/>
                <a:ea typeface="Montserrat"/>
                <a:cs typeface="Times New Roman" panose="02020603050405020304" pitchFamily="18" charset="0"/>
              </a:rPr>
              <a:t> Iterative deepening</a:t>
            </a:r>
            <a:r>
              <a:rPr lang="en-US" sz="2800" b="1" i="0">
                <a:solidFill>
                  <a:srgbClr val="1D1D27"/>
                </a:solidFill>
                <a:latin typeface="Times New Roman" panose="02020603050405020304" pitchFamily="18" charset="0"/>
                <a:ea typeface="Montserrat"/>
                <a:cs typeface="Times New Roman" panose="02020603050405020304" pitchFamily="18" charset="0"/>
              </a:rPr>
              <a:t> </a:t>
            </a:r>
            <a:r>
              <a:rPr sz="2800" b="1" i="0">
                <a:solidFill>
                  <a:srgbClr val="1D1D27"/>
                </a:solidFill>
                <a:latin typeface="Times New Roman" panose="02020603050405020304" pitchFamily="18" charset="0"/>
                <a:ea typeface="Montserrat"/>
                <a:cs typeface="Times New Roman" panose="02020603050405020304" pitchFamily="18" charset="0"/>
              </a:rPr>
              <a:t>depth-first Search:</a:t>
            </a:r>
          </a:p>
          <a:p>
            <a:pPr marL="457200" indent="-457200" algn="just">
              <a:spcBef>
                <a:spcPct val="0"/>
              </a:spcBef>
              <a:buFont typeface="Arial" panose="020B0604020202020204" pitchFamily="34" charset="0"/>
              <a:buChar char="•"/>
            </a:pPr>
            <a:r>
              <a:rPr sz="2800" b="0" i="0">
                <a:solidFill>
                  <a:srgbClr val="2B2A29"/>
                </a:solidFill>
                <a:latin typeface="Times New Roman" panose="02020603050405020304" pitchFamily="18" charset="0"/>
                <a:ea typeface="Montserrat"/>
                <a:cs typeface="Times New Roman" panose="02020603050405020304" pitchFamily="18" charset="0"/>
              </a:rPr>
              <a:t>The iterative deepening algorithm is a combination of DFS and BFS algorithms. This search algorithm finds out the best depth limit and does it by gradually increasing the limit until a goal is found.</a:t>
            </a:r>
          </a:p>
          <a:p>
            <a:pPr marL="457200" indent="-457200" algn="just">
              <a:spcBef>
                <a:spcPct val="0"/>
              </a:spcBef>
              <a:buFont typeface="Arial" panose="020B0604020202020204" pitchFamily="34" charset="0"/>
              <a:buChar char="•"/>
            </a:pPr>
            <a:r>
              <a:rPr sz="2800" b="0" i="0">
                <a:solidFill>
                  <a:srgbClr val="2B2A29"/>
                </a:solidFill>
                <a:latin typeface="Times New Roman" panose="02020603050405020304" pitchFamily="18" charset="0"/>
                <a:ea typeface="Montserrat"/>
                <a:cs typeface="Times New Roman" panose="02020603050405020304" pitchFamily="18" charset="0"/>
              </a:rPr>
              <a:t>This algorithm performs depth-first search up to a certain </a:t>
            </a:r>
            <a:r>
              <a:rPr sz="2800" b="1" i="0">
                <a:solidFill>
                  <a:srgbClr val="2B2A29"/>
                </a:solidFill>
                <a:latin typeface="Times New Roman" panose="02020603050405020304" pitchFamily="18" charset="0"/>
                <a:ea typeface="Montserrat"/>
                <a:cs typeface="Times New Roman" panose="02020603050405020304" pitchFamily="18" charset="0"/>
              </a:rPr>
              <a:t>"depth limit",</a:t>
            </a:r>
            <a:r>
              <a:rPr sz="2800" b="0" i="0">
                <a:solidFill>
                  <a:srgbClr val="2B2A29"/>
                </a:solidFill>
                <a:latin typeface="Times New Roman" panose="02020603050405020304" pitchFamily="18" charset="0"/>
                <a:ea typeface="Montserrat"/>
                <a:cs typeface="Times New Roman" panose="02020603050405020304" pitchFamily="18" charset="0"/>
              </a:rPr>
              <a:t> and it keeps increasing the depth limit after each iteration until the goal node is found.</a:t>
            </a:r>
          </a:p>
          <a:p>
            <a:pPr marL="457200" indent="-457200" algn="just">
              <a:spcBef>
                <a:spcPct val="0"/>
              </a:spcBef>
              <a:buFont typeface="Arial" panose="020B0604020202020204" pitchFamily="34" charset="0"/>
              <a:buChar char="•"/>
            </a:pPr>
            <a:r>
              <a:rPr sz="2800" b="0" i="0">
                <a:solidFill>
                  <a:srgbClr val="2B2A29"/>
                </a:solidFill>
                <a:latin typeface="Times New Roman" panose="02020603050405020304" pitchFamily="18" charset="0"/>
                <a:ea typeface="Montserrat"/>
                <a:cs typeface="Times New Roman" panose="02020603050405020304" pitchFamily="18" charset="0"/>
              </a:rPr>
              <a:t>This Search algorithm combines the benefits of Breadth-first search's fast search and depth-first search's memory efficiency.</a:t>
            </a:r>
          </a:p>
          <a:p>
            <a:pPr marL="457200" indent="-457200" algn="just">
              <a:spcBef>
                <a:spcPct val="0"/>
              </a:spcBef>
              <a:buFont typeface="Arial" panose="020B0604020202020204" pitchFamily="34" charset="0"/>
              <a:buChar char="•"/>
            </a:pPr>
            <a:r>
              <a:rPr sz="2800" b="0" i="0">
                <a:solidFill>
                  <a:srgbClr val="2B2A29"/>
                </a:solidFill>
                <a:latin typeface="Times New Roman" panose="02020603050405020304" pitchFamily="18" charset="0"/>
                <a:ea typeface="Montserrat"/>
                <a:cs typeface="Times New Roman" panose="02020603050405020304" pitchFamily="18" charset="0"/>
              </a:rPr>
              <a:t>The iterative search algorithm is useful uninformed search when search space is large, and depth of goal node is unknown.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4790" y="45085"/>
            <a:ext cx="11721465" cy="6123940"/>
          </a:xfrm>
          <a:prstGeom prst="rect">
            <a:avLst/>
          </a:prstGeom>
        </p:spPr>
        <p:txBody>
          <a:bodyPr wrap="square">
            <a:spAutoFit/>
          </a:bodyPr>
          <a:lstStyle/>
          <a:p>
            <a:pPr marL="0" indent="0" algn="just">
              <a:spcBef>
                <a:spcPct val="0"/>
              </a:spcBef>
            </a:pPr>
            <a:r>
              <a:rPr sz="2800" b="0" i="0">
                <a:solidFill>
                  <a:srgbClr val="2B2A29"/>
                </a:solidFill>
                <a:latin typeface="Times New Roman" panose="02020603050405020304" pitchFamily="18" charset="0"/>
                <a:ea typeface="Montserrat"/>
                <a:cs typeface="Times New Roman" panose="02020603050405020304" pitchFamily="18" charset="0"/>
              </a:rPr>
              <a:t>Here are the steps for Iterative deepening depth first search algorithm:</a:t>
            </a:r>
          </a:p>
          <a:p>
            <a:pPr marL="0" indent="0" algn="just">
              <a:spcBef>
                <a:spcPct val="0"/>
              </a:spcBef>
            </a:pPr>
            <a:endParaRPr sz="2800" b="0" i="0">
              <a:solidFill>
                <a:srgbClr val="2B2A29"/>
              </a:solidFill>
              <a:latin typeface="Times New Roman" panose="02020603050405020304" pitchFamily="18" charset="0"/>
              <a:ea typeface="Montserrat"/>
              <a:cs typeface="Times New Roman" panose="02020603050405020304" pitchFamily="18" charset="0"/>
            </a:endParaRPr>
          </a:p>
          <a:p>
            <a:pPr marL="285750" indent="-285750" algn="just">
              <a:spcBef>
                <a:spcPct val="0"/>
              </a:spcBef>
              <a:buFont typeface="Arial" panose="020B0604020202020204" pitchFamily="34" charset="0"/>
              <a:buChar char="•"/>
            </a:pPr>
            <a:r>
              <a:rPr sz="2800" b="0" i="0">
                <a:solidFill>
                  <a:srgbClr val="2B2A29"/>
                </a:solidFill>
                <a:latin typeface="Times New Roman" panose="02020603050405020304" pitchFamily="18" charset="0"/>
                <a:ea typeface="Montserrat"/>
                <a:cs typeface="Times New Roman" panose="02020603050405020304" pitchFamily="18" charset="0"/>
              </a:rPr>
              <a:t>Set the depth limit to 0.</a:t>
            </a:r>
          </a:p>
          <a:p>
            <a:pPr marL="285750" indent="-285750" algn="just">
              <a:spcBef>
                <a:spcPct val="0"/>
              </a:spcBef>
              <a:buFont typeface="Arial" panose="020B0604020202020204" pitchFamily="34" charset="0"/>
              <a:buChar char="•"/>
            </a:pPr>
            <a:r>
              <a:rPr sz="2800" b="0" i="0">
                <a:solidFill>
                  <a:srgbClr val="2B2A29"/>
                </a:solidFill>
                <a:latin typeface="Times New Roman" panose="02020603050405020304" pitchFamily="18" charset="0"/>
                <a:ea typeface="Montserrat"/>
                <a:cs typeface="Times New Roman" panose="02020603050405020304" pitchFamily="18" charset="0"/>
              </a:rPr>
              <a:t>Perform DFS to the depth limit.</a:t>
            </a:r>
          </a:p>
          <a:p>
            <a:pPr marL="285750" indent="-285750" algn="just">
              <a:spcBef>
                <a:spcPct val="0"/>
              </a:spcBef>
              <a:buFont typeface="Arial" panose="020B0604020202020204" pitchFamily="34" charset="0"/>
              <a:buChar char="•"/>
            </a:pPr>
            <a:r>
              <a:rPr sz="2800" b="0" i="0">
                <a:solidFill>
                  <a:srgbClr val="2B2A29"/>
                </a:solidFill>
                <a:latin typeface="Times New Roman" panose="02020603050405020304" pitchFamily="18" charset="0"/>
                <a:ea typeface="Montserrat"/>
                <a:cs typeface="Times New Roman" panose="02020603050405020304" pitchFamily="18" charset="0"/>
              </a:rPr>
              <a:t>If the goal state is found, return it.</a:t>
            </a:r>
          </a:p>
          <a:p>
            <a:pPr marL="285750" indent="-285750" algn="just">
              <a:spcBef>
                <a:spcPct val="0"/>
              </a:spcBef>
              <a:buFont typeface="Arial" panose="020B0604020202020204" pitchFamily="34" charset="0"/>
              <a:buChar char="•"/>
            </a:pPr>
            <a:r>
              <a:rPr sz="2800" b="0" i="0">
                <a:solidFill>
                  <a:srgbClr val="2B2A29"/>
                </a:solidFill>
                <a:latin typeface="Times New Roman" panose="02020603050405020304" pitchFamily="18" charset="0"/>
                <a:ea typeface="Montserrat"/>
                <a:cs typeface="Times New Roman" panose="02020603050405020304" pitchFamily="18" charset="0"/>
              </a:rPr>
              <a:t>If the goal state is not found and the maximum depth has not been reached, increment the depth limit and repeat steps 2-4.</a:t>
            </a:r>
          </a:p>
          <a:p>
            <a:pPr marL="285750" indent="-285750" algn="just">
              <a:spcBef>
                <a:spcPct val="0"/>
              </a:spcBef>
              <a:buFont typeface="Arial" panose="020B0604020202020204" pitchFamily="34" charset="0"/>
              <a:buChar char="•"/>
            </a:pPr>
            <a:r>
              <a:rPr sz="2800" b="0" i="0">
                <a:solidFill>
                  <a:srgbClr val="2B2A29"/>
                </a:solidFill>
                <a:latin typeface="Times New Roman" panose="02020603050405020304" pitchFamily="18" charset="0"/>
                <a:ea typeface="Montserrat"/>
                <a:cs typeface="Times New Roman" panose="02020603050405020304" pitchFamily="18" charset="0"/>
              </a:rPr>
              <a:t>If the goal state is not found and the maximum depth has been reached, terminate the search and return failure.</a:t>
            </a:r>
          </a:p>
          <a:p>
            <a:pPr marL="285750" indent="-285750" algn="just">
              <a:spcBef>
                <a:spcPct val="0"/>
              </a:spcBef>
              <a:buFont typeface="Arial" panose="020B0604020202020204" pitchFamily="34" charset="0"/>
              <a:buChar char="•"/>
            </a:pPr>
            <a:endParaRPr sz="2800" b="1" i="0">
              <a:solidFill>
                <a:srgbClr val="2B2A29"/>
              </a:solidFill>
              <a:latin typeface="Times New Roman" panose="02020603050405020304" pitchFamily="18" charset="0"/>
              <a:ea typeface="Montserrat"/>
              <a:cs typeface="Times New Roman" panose="02020603050405020304" pitchFamily="18" charset="0"/>
            </a:endParaRPr>
          </a:p>
          <a:p>
            <a:pPr indent="0" algn="just">
              <a:spcBef>
                <a:spcPct val="0"/>
              </a:spcBef>
              <a:buFont typeface="Arial" panose="020B0604020202020204" pitchFamily="34" charset="0"/>
              <a:buNone/>
            </a:pPr>
            <a:r>
              <a:rPr sz="2800" b="1" i="0">
                <a:solidFill>
                  <a:srgbClr val="2B2A29"/>
                </a:solidFill>
                <a:latin typeface="Times New Roman" panose="02020603050405020304" pitchFamily="18" charset="0"/>
                <a:ea typeface="Montserrat"/>
                <a:cs typeface="Times New Roman" panose="02020603050405020304" pitchFamily="18" charset="0"/>
              </a:rPr>
              <a:t>Advantages:</a:t>
            </a:r>
          </a:p>
          <a:p>
            <a:pPr indent="0" algn="just">
              <a:spcBef>
                <a:spcPct val="0"/>
              </a:spcBef>
              <a:buFont typeface="Arial" panose="020B0604020202020204" pitchFamily="34" charset="0"/>
              <a:buNone/>
            </a:pPr>
            <a:r>
              <a:rPr sz="2800" i="0">
                <a:solidFill>
                  <a:srgbClr val="2B2A29"/>
                </a:solidFill>
                <a:latin typeface="Times New Roman" panose="02020603050405020304" pitchFamily="18" charset="0"/>
                <a:ea typeface="Montserrat"/>
                <a:cs typeface="Times New Roman" panose="02020603050405020304" pitchFamily="18" charset="0"/>
              </a:rPr>
              <a:t>It combines the benefits of BFS and DFS search algorithm in terms of fast search and memory efficiency.</a:t>
            </a:r>
          </a:p>
          <a:p>
            <a:pPr indent="0" algn="just">
              <a:spcBef>
                <a:spcPct val="0"/>
              </a:spcBef>
              <a:buFont typeface="Arial" panose="020B0604020202020204" pitchFamily="34" charset="0"/>
              <a:buNone/>
            </a:pPr>
            <a:endParaRPr sz="2800" i="0">
              <a:solidFill>
                <a:srgbClr val="2B2A29"/>
              </a:solidFill>
              <a:latin typeface="Times New Roman" panose="02020603050405020304" pitchFamily="18" charset="0"/>
              <a:ea typeface="Montserrat"/>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60350" y="217805"/>
            <a:ext cx="11594465" cy="5840730"/>
          </a:xfrm>
          <a:prstGeom prst="rect">
            <a:avLst/>
          </a:prstGeom>
          <a:noFill/>
        </p:spPr>
        <p:txBody>
          <a:bodyPr wrap="square" rtlCol="0" anchor="t">
            <a:noAutofit/>
          </a:bodyPr>
          <a:lstStyle/>
          <a:p>
            <a:pPr marL="457200" indent="-457200" algn="just">
              <a:spcBef>
                <a:spcPct val="0"/>
              </a:spcBef>
              <a:buFont typeface="Arial" panose="020B0604020202020204" pitchFamily="34" charset="0"/>
              <a:buChar char="•"/>
            </a:pPr>
            <a:r>
              <a:rPr sz="2800">
                <a:solidFill>
                  <a:srgbClr val="2B2A29"/>
                </a:solidFill>
                <a:latin typeface="Times New Roman" panose="02020603050405020304" pitchFamily="18" charset="0"/>
                <a:ea typeface="Montserrat"/>
                <a:cs typeface="Times New Roman" panose="02020603050405020304" pitchFamily="18" charset="0"/>
                <a:sym typeface="+mn-ea"/>
              </a:rPr>
              <a:t>It is a type of straightforward which is used to put into practice since it builds upon the conventional depth-first search algorithm.</a:t>
            </a:r>
            <a:endParaRPr sz="2800" i="0">
              <a:solidFill>
                <a:srgbClr val="2B2A29"/>
              </a:solidFill>
              <a:latin typeface="Times New Roman" panose="02020603050405020304" pitchFamily="18" charset="0"/>
              <a:ea typeface="Montserrat"/>
              <a:cs typeface="Times New Roman" panose="02020603050405020304" pitchFamily="18" charset="0"/>
            </a:endParaRPr>
          </a:p>
          <a:p>
            <a:pPr marL="457200" indent="-457200" algn="just">
              <a:spcBef>
                <a:spcPct val="0"/>
              </a:spcBef>
              <a:buFont typeface="Arial" panose="020B0604020202020204" pitchFamily="34" charset="0"/>
              <a:buChar char="•"/>
            </a:pPr>
            <a:r>
              <a:rPr sz="2800">
                <a:solidFill>
                  <a:srgbClr val="2B2A29"/>
                </a:solidFill>
                <a:latin typeface="Times New Roman" panose="02020603050405020304" pitchFamily="18" charset="0"/>
                <a:ea typeface="Montserrat"/>
                <a:cs typeface="Times New Roman" panose="02020603050405020304" pitchFamily="18" charset="0"/>
                <a:sym typeface="+mn-ea"/>
              </a:rPr>
              <a:t>It is a type ofsearch algorithm which provides guarantees to find the optimal solution, as long as the cost of each edge in the search space is the same.</a:t>
            </a:r>
            <a:endParaRPr sz="2800" i="0">
              <a:solidFill>
                <a:srgbClr val="2B2A29"/>
              </a:solidFill>
              <a:latin typeface="Times New Roman" panose="02020603050405020304" pitchFamily="18" charset="0"/>
              <a:ea typeface="Montserrat"/>
              <a:cs typeface="Times New Roman" panose="02020603050405020304" pitchFamily="18" charset="0"/>
            </a:endParaRPr>
          </a:p>
          <a:p>
            <a:pPr marL="457200" indent="-457200" algn="just">
              <a:spcBef>
                <a:spcPct val="0"/>
              </a:spcBef>
              <a:buFont typeface="Arial" panose="020B0604020202020204" pitchFamily="34" charset="0"/>
              <a:buChar char="•"/>
            </a:pPr>
            <a:r>
              <a:rPr sz="2800">
                <a:solidFill>
                  <a:srgbClr val="2B2A29"/>
                </a:solidFill>
                <a:latin typeface="Times New Roman" panose="02020603050405020304" pitchFamily="18" charset="0"/>
                <a:ea typeface="Montserrat"/>
                <a:cs typeface="Times New Roman" panose="02020603050405020304" pitchFamily="18" charset="0"/>
                <a:sym typeface="+mn-ea"/>
              </a:rPr>
              <a:t>It is a type ofcomplete algorithm, and the meaning of this is it will always find a solution if one exists.</a:t>
            </a:r>
          </a:p>
          <a:p>
            <a:pPr indent="0" algn="just">
              <a:spcBef>
                <a:spcPct val="0"/>
              </a:spcBef>
              <a:buFont typeface="Arial" panose="020B0604020202020204" pitchFamily="34" charset="0"/>
              <a:buNone/>
            </a:pPr>
            <a:r>
              <a:rPr lang="en-US" sz="2800" b="1">
                <a:solidFill>
                  <a:srgbClr val="2B2A29"/>
                </a:solidFill>
                <a:latin typeface="Times New Roman" panose="02020603050405020304" pitchFamily="18" charset="0"/>
                <a:ea typeface="Montserrat"/>
                <a:cs typeface="Times New Roman" panose="02020603050405020304" pitchFamily="18" charset="0"/>
                <a:sym typeface="+mn-ea"/>
              </a:rPr>
              <a:t>Disadvantage</a:t>
            </a:r>
          </a:p>
          <a:p>
            <a:pPr indent="0" algn="just">
              <a:spcBef>
                <a:spcPct val="0"/>
              </a:spcBef>
              <a:buFont typeface="Arial" panose="020B0604020202020204" pitchFamily="34" charset="0"/>
              <a:buNone/>
            </a:pPr>
            <a:r>
              <a:rPr lang="en-US" sz="2800">
                <a:solidFill>
                  <a:srgbClr val="2B2A29"/>
                </a:solidFill>
                <a:latin typeface="Times New Roman" panose="02020603050405020304" pitchFamily="18" charset="0"/>
                <a:ea typeface="Montserrat"/>
                <a:cs typeface="Times New Roman" panose="02020603050405020304" pitchFamily="18" charset="0"/>
                <a:sym typeface="+mn-ea"/>
              </a:rPr>
              <a:t>The main drawback of IDDFS is that it repeats all the work of the previous phase.</a:t>
            </a:r>
          </a:p>
          <a:p>
            <a:pPr indent="0" algn="just">
              <a:spcBef>
                <a:spcPct val="0"/>
              </a:spcBef>
              <a:buFont typeface="Arial" panose="020B0604020202020204" pitchFamily="34" charset="0"/>
              <a:buNone/>
            </a:pPr>
            <a:r>
              <a:rPr lang="en-US" sz="2800" b="1">
                <a:solidFill>
                  <a:srgbClr val="2B2A29"/>
                </a:solidFill>
                <a:latin typeface="Times New Roman" panose="02020603050405020304" pitchFamily="18" charset="0"/>
                <a:ea typeface="Montserrat"/>
                <a:cs typeface="Times New Roman" panose="02020603050405020304" pitchFamily="18" charset="0"/>
                <a:sym typeface="+mn-ea"/>
              </a:rPr>
              <a:t>Example:</a:t>
            </a:r>
          </a:p>
          <a:p>
            <a:pPr indent="0" algn="just">
              <a:spcBef>
                <a:spcPct val="0"/>
              </a:spcBef>
              <a:buFont typeface="Arial" panose="020B0604020202020204" pitchFamily="34" charset="0"/>
              <a:buNone/>
            </a:pPr>
            <a:r>
              <a:rPr lang="en-US" sz="2800">
                <a:solidFill>
                  <a:srgbClr val="2B2A29"/>
                </a:solidFill>
                <a:latin typeface="Times New Roman" panose="02020603050405020304" pitchFamily="18" charset="0"/>
                <a:ea typeface="Montserrat"/>
                <a:cs typeface="Times New Roman" panose="02020603050405020304" pitchFamily="18" charset="0"/>
                <a:sym typeface="+mn-ea"/>
              </a:rPr>
              <a:t>Following tree structure is showing the iterative deepening depth-first search. IDDFS algorithm performs various iterations until it does not find the goal node. The iteration performed by the algorithm is given as:</a:t>
            </a:r>
          </a:p>
          <a:p>
            <a:pPr indent="0" algn="just">
              <a:spcBef>
                <a:spcPct val="0"/>
              </a:spcBef>
              <a:buFont typeface="Arial" panose="020B0604020202020204" pitchFamily="34" charset="0"/>
              <a:buNone/>
            </a:pPr>
            <a:endParaRPr lang="en-US" sz="2800">
              <a:solidFill>
                <a:srgbClr val="2B2A29"/>
              </a:solidFill>
              <a:latin typeface="Times New Roman" panose="02020603050405020304" pitchFamily="18" charset="0"/>
              <a:ea typeface="Montserrat"/>
              <a:cs typeface="Times New Roman" panose="02020603050405020304" pitchFamily="18" charset="0"/>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168910" y="490855"/>
            <a:ext cx="6689725" cy="5947410"/>
          </a:xfrm>
          <a:prstGeom prst="rect">
            <a:avLst/>
          </a:prstGeom>
        </p:spPr>
      </p:pic>
      <p:sp>
        <p:nvSpPr>
          <p:cNvPr id="3" name="Text Box 2"/>
          <p:cNvSpPr txBox="1"/>
          <p:nvPr/>
        </p:nvSpPr>
        <p:spPr>
          <a:xfrm>
            <a:off x="6240145" y="1557020"/>
            <a:ext cx="5745480" cy="4581525"/>
          </a:xfrm>
          <a:prstGeom prst="rect">
            <a:avLst/>
          </a:prstGeom>
        </p:spPr>
        <p:txBody>
          <a:bodyPr>
            <a:noAutofit/>
          </a:bodyPr>
          <a:lstStyle/>
          <a:p>
            <a:pPr marL="0" indent="0" algn="just"/>
            <a:r>
              <a:rPr sz="2800" b="0" i="0">
                <a:solidFill>
                  <a:srgbClr val="2B2A29"/>
                </a:solidFill>
                <a:latin typeface="Times New Roman" panose="02020603050405020304" pitchFamily="18" charset="0"/>
                <a:ea typeface="Montserrat"/>
                <a:cs typeface="Times New Roman" panose="02020603050405020304" pitchFamily="18" charset="0"/>
              </a:rPr>
              <a:t>1'st Iteration-----&gt; A</a:t>
            </a:r>
          </a:p>
          <a:p>
            <a:pPr marL="0" indent="0" algn="just"/>
            <a:r>
              <a:rPr sz="2800" b="0" i="0">
                <a:solidFill>
                  <a:srgbClr val="2B2A29"/>
                </a:solidFill>
                <a:latin typeface="Times New Roman" panose="02020603050405020304" pitchFamily="18" charset="0"/>
                <a:ea typeface="Montserrat"/>
                <a:cs typeface="Times New Roman" panose="02020603050405020304" pitchFamily="18" charset="0"/>
              </a:rPr>
              <a:t>2'nd Iteration----&gt; A, B, C</a:t>
            </a:r>
          </a:p>
          <a:p>
            <a:pPr marL="0" indent="0" algn="just"/>
            <a:r>
              <a:rPr sz="2800" b="0" i="0">
                <a:solidFill>
                  <a:srgbClr val="2B2A29"/>
                </a:solidFill>
                <a:latin typeface="Times New Roman" panose="02020603050405020304" pitchFamily="18" charset="0"/>
                <a:ea typeface="Montserrat"/>
                <a:cs typeface="Times New Roman" panose="02020603050405020304" pitchFamily="18" charset="0"/>
              </a:rPr>
              <a:t>3'rd Iteration------&gt;A, B, D, E, C, F, G</a:t>
            </a:r>
          </a:p>
          <a:p>
            <a:pPr marL="0" indent="0" algn="just"/>
            <a:r>
              <a:rPr sz="2800" b="0" i="0">
                <a:solidFill>
                  <a:srgbClr val="2B2A29"/>
                </a:solidFill>
                <a:latin typeface="Times New Roman" panose="02020603050405020304" pitchFamily="18" charset="0"/>
                <a:ea typeface="Montserrat"/>
                <a:cs typeface="Times New Roman" panose="02020603050405020304" pitchFamily="18" charset="0"/>
              </a:rPr>
              <a:t>4'th Iteration------&gt;A, B, D, H, I, E, C, F, K, G</a:t>
            </a:r>
          </a:p>
          <a:p>
            <a:pPr marL="0" indent="0" algn="just"/>
            <a:r>
              <a:rPr sz="2800" b="0" i="0">
                <a:solidFill>
                  <a:srgbClr val="2B2A29"/>
                </a:solidFill>
                <a:latin typeface="Times New Roman" panose="02020603050405020304" pitchFamily="18" charset="0"/>
                <a:ea typeface="Montserrat"/>
                <a:cs typeface="Times New Roman" panose="02020603050405020304" pitchFamily="18" charset="0"/>
              </a:rPr>
              <a:t>In the fourth iteration, the algorithm will find the goal node.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767080" y="1557020"/>
            <a:ext cx="10476230" cy="3107690"/>
          </a:xfrm>
          <a:prstGeom prst="rect">
            <a:avLst/>
          </a:prstGeom>
        </p:spPr>
        <p:txBody>
          <a:bodyPr wrap="square">
            <a:spAutoFit/>
          </a:bodyPr>
          <a:lstStyle/>
          <a:p>
            <a:pPr marL="0" indent="0" algn="just">
              <a:spcBef>
                <a:spcPct val="0"/>
              </a:spcBef>
            </a:pPr>
            <a:r>
              <a:rPr sz="2800" b="1" i="0">
                <a:solidFill>
                  <a:srgbClr val="2B2A29"/>
                </a:solidFill>
                <a:latin typeface="Times New Roman" panose="02020603050405020304" pitchFamily="18" charset="0"/>
                <a:ea typeface="Montserrat"/>
                <a:cs typeface="Times New Roman" panose="02020603050405020304" pitchFamily="18" charset="0"/>
              </a:rPr>
              <a:t>Completeness:</a:t>
            </a:r>
          </a:p>
          <a:p>
            <a:pPr marL="0" indent="0" algn="just">
              <a:spcBef>
                <a:spcPct val="0"/>
              </a:spcBef>
            </a:pPr>
            <a:r>
              <a:rPr sz="2800" b="0" i="0">
                <a:solidFill>
                  <a:srgbClr val="2B2A29"/>
                </a:solidFill>
                <a:latin typeface="Times New Roman" panose="02020603050405020304" pitchFamily="18" charset="0"/>
                <a:ea typeface="Montserrat"/>
                <a:cs typeface="Times New Roman" panose="02020603050405020304" pitchFamily="18" charset="0"/>
              </a:rPr>
              <a:t>This algorithm is complete is ifthe branching factor is finite.</a:t>
            </a:r>
          </a:p>
          <a:p>
            <a:pPr marL="0" indent="0" algn="just">
              <a:spcBef>
                <a:spcPct val="0"/>
              </a:spcBef>
            </a:pPr>
            <a:r>
              <a:rPr sz="2800" b="1" i="0">
                <a:solidFill>
                  <a:srgbClr val="2B2A29"/>
                </a:solidFill>
                <a:latin typeface="Times New Roman" panose="02020603050405020304" pitchFamily="18" charset="0"/>
                <a:ea typeface="Montserrat"/>
                <a:cs typeface="Times New Roman" panose="02020603050405020304" pitchFamily="18" charset="0"/>
              </a:rPr>
              <a:t>Time Complexity:</a:t>
            </a:r>
          </a:p>
          <a:p>
            <a:pPr marL="0" indent="0" algn="just">
              <a:spcBef>
                <a:spcPct val="0"/>
              </a:spcBef>
            </a:pPr>
            <a:r>
              <a:rPr sz="2800" b="0" i="0">
                <a:solidFill>
                  <a:srgbClr val="2B2A29"/>
                </a:solidFill>
                <a:latin typeface="Times New Roman" panose="02020603050405020304" pitchFamily="18" charset="0"/>
                <a:ea typeface="Montserrat"/>
                <a:cs typeface="Times New Roman" panose="02020603050405020304" pitchFamily="18" charset="0"/>
              </a:rPr>
              <a:t>Let's suppose b is the branching factor and depth is d then the worst-case time complexity is </a:t>
            </a:r>
            <a:r>
              <a:rPr sz="2800" b="1" i="0">
                <a:solidFill>
                  <a:srgbClr val="2B2A29"/>
                </a:solidFill>
                <a:latin typeface="Times New Roman" panose="02020603050405020304" pitchFamily="18" charset="0"/>
                <a:ea typeface="Montserrat"/>
                <a:cs typeface="Times New Roman" panose="02020603050405020304" pitchFamily="18" charset="0"/>
              </a:rPr>
              <a:t>O(bd).</a:t>
            </a:r>
          </a:p>
          <a:p>
            <a:pPr marL="0" indent="0" algn="just">
              <a:spcBef>
                <a:spcPct val="0"/>
              </a:spcBef>
            </a:pPr>
            <a:r>
              <a:rPr sz="2800" b="1" i="0">
                <a:solidFill>
                  <a:srgbClr val="2B2A29"/>
                </a:solidFill>
                <a:latin typeface="Times New Roman" panose="02020603050405020304" pitchFamily="18" charset="0"/>
                <a:ea typeface="Montserrat"/>
                <a:cs typeface="Times New Roman" panose="02020603050405020304" pitchFamily="18" charset="0"/>
              </a:rPr>
              <a:t>Space Complexity:</a:t>
            </a:r>
            <a:r>
              <a:rPr lang="en-US" sz="2800" b="0" i="0">
                <a:solidFill>
                  <a:srgbClr val="2B2A29"/>
                </a:solidFill>
                <a:latin typeface="Times New Roman" panose="02020603050405020304" pitchFamily="18" charset="0"/>
                <a:ea typeface="Montserrat"/>
                <a:cs typeface="Times New Roman" panose="02020603050405020304" pitchFamily="18" charset="0"/>
              </a:rPr>
              <a:t> The space complexity of IDDFS will be </a:t>
            </a:r>
            <a:r>
              <a:rPr lang="en-US" sz="2800" b="1" i="0">
                <a:solidFill>
                  <a:srgbClr val="2B2A29"/>
                </a:solidFill>
                <a:latin typeface="Times New Roman" panose="02020603050405020304" pitchFamily="18" charset="0"/>
                <a:ea typeface="Montserrat"/>
                <a:cs typeface="Times New Roman" panose="02020603050405020304" pitchFamily="18" charset="0"/>
              </a:rPr>
              <a:t>O(bd).</a:t>
            </a:r>
          </a:p>
          <a:p>
            <a:pPr marL="0" indent="0" algn="just">
              <a:spcBef>
                <a:spcPct val="0"/>
              </a:spcBef>
            </a:pPr>
            <a:endParaRPr lang="en-US" sz="2800" b="1" i="0">
              <a:solidFill>
                <a:srgbClr val="2B2A29"/>
              </a:solidFill>
              <a:latin typeface="Times New Roman" panose="02020603050405020304" pitchFamily="18" charset="0"/>
              <a:ea typeface="Montserrat"/>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0" y="431165"/>
            <a:ext cx="11740515" cy="6150610"/>
          </a:xfrm>
          <a:prstGeom prst="rect">
            <a:avLst/>
          </a:prstGeom>
        </p:spPr>
        <p:txBody>
          <a:bodyPr wrap="square">
            <a:noAutofit/>
          </a:bodyPr>
          <a:lstStyle/>
          <a:p>
            <a:pPr marL="0" indent="0" algn="ctr">
              <a:spcAft>
                <a:spcPct val="60000"/>
              </a:spcAft>
            </a:pPr>
            <a:r>
              <a:rPr sz="2800" b="1" i="0">
                <a:solidFill>
                  <a:srgbClr val="1D1D27"/>
                </a:solidFill>
                <a:latin typeface="Times New Roman" panose="02020603050405020304" pitchFamily="18" charset="0"/>
                <a:ea typeface="Montserrat"/>
                <a:cs typeface="Times New Roman" panose="02020603050405020304" pitchFamily="18" charset="0"/>
              </a:rPr>
              <a:t> </a:t>
            </a:r>
            <a:r>
              <a:rPr lang="en-US" sz="3600" b="1" i="0">
                <a:solidFill>
                  <a:srgbClr val="1D1D27"/>
                </a:solidFill>
                <a:latin typeface="Times New Roman" panose="02020603050405020304" pitchFamily="18" charset="0"/>
                <a:ea typeface="Montserrat"/>
                <a:cs typeface="Times New Roman" panose="02020603050405020304" pitchFamily="18" charset="0"/>
              </a:rPr>
              <a:t>5. </a:t>
            </a:r>
            <a:r>
              <a:rPr sz="3600" b="1" i="0">
                <a:solidFill>
                  <a:srgbClr val="1D1D27"/>
                </a:solidFill>
                <a:latin typeface="Times New Roman" panose="02020603050405020304" pitchFamily="18" charset="0"/>
                <a:ea typeface="Montserrat"/>
                <a:cs typeface="Times New Roman" panose="02020603050405020304" pitchFamily="18" charset="0"/>
              </a:rPr>
              <a:t>Bidirectional Search Algorithm:</a:t>
            </a:r>
          </a:p>
          <a:p>
            <a:pPr marL="457200" indent="-457200" algn="just">
              <a:spcAft>
                <a:spcPct val="60000"/>
              </a:spcAft>
              <a:buFont typeface="Arial" panose="020B0604020202020204" pitchFamily="34" charset="0"/>
              <a:buChar char="•"/>
            </a:pPr>
            <a:r>
              <a:rPr sz="2800" b="0" i="0">
                <a:solidFill>
                  <a:srgbClr val="1D1D27"/>
                </a:solidFill>
                <a:latin typeface="Times New Roman" panose="02020603050405020304" pitchFamily="18" charset="0"/>
                <a:ea typeface="Montserrat"/>
                <a:cs typeface="Times New Roman" panose="02020603050405020304" pitchFamily="18" charset="0"/>
              </a:rPr>
              <a:t>Bidirectional search algorithm runs two simultaneous searches, one form initial state called as </a:t>
            </a:r>
            <a:r>
              <a:rPr sz="2800" b="1" i="0">
                <a:solidFill>
                  <a:srgbClr val="1D1D27"/>
                </a:solidFill>
                <a:latin typeface="Times New Roman" panose="02020603050405020304" pitchFamily="18" charset="0"/>
                <a:ea typeface="Montserrat"/>
                <a:cs typeface="Times New Roman" panose="02020603050405020304" pitchFamily="18" charset="0"/>
              </a:rPr>
              <a:t>forward-search and other from goal node called as backward-search,</a:t>
            </a:r>
            <a:r>
              <a:rPr sz="2800" b="0" i="0">
                <a:solidFill>
                  <a:srgbClr val="1D1D27"/>
                </a:solidFill>
                <a:latin typeface="Times New Roman" panose="02020603050405020304" pitchFamily="18" charset="0"/>
                <a:ea typeface="Montserrat"/>
                <a:cs typeface="Times New Roman" panose="02020603050405020304" pitchFamily="18" charset="0"/>
              </a:rPr>
              <a:t> to find the goal node.</a:t>
            </a:r>
          </a:p>
          <a:p>
            <a:pPr marL="457200" indent="-457200" algn="just">
              <a:spcAft>
                <a:spcPct val="60000"/>
              </a:spcAft>
              <a:buFont typeface="Arial" panose="020B0604020202020204" pitchFamily="34" charset="0"/>
              <a:buChar char="•"/>
            </a:pPr>
            <a:r>
              <a:rPr sz="2800" b="0" i="0">
                <a:solidFill>
                  <a:srgbClr val="1D1D27"/>
                </a:solidFill>
                <a:latin typeface="Times New Roman" panose="02020603050405020304" pitchFamily="18" charset="0"/>
                <a:ea typeface="Montserrat"/>
                <a:cs typeface="Times New Roman" panose="02020603050405020304" pitchFamily="18" charset="0"/>
              </a:rPr>
              <a:t>Bidirectional search replaces one single search graph with two small subgraphs in which one starts the search from an initial vertex and other starts from goal vertex. The search stops when these two graphs intersect each other.</a:t>
            </a:r>
            <a:r>
              <a:rPr lang="en-US" sz="2800" b="0" i="0">
                <a:solidFill>
                  <a:srgbClr val="1D1D27"/>
                </a:solidFill>
                <a:latin typeface="Times New Roman" panose="02020603050405020304" pitchFamily="18" charset="0"/>
                <a:ea typeface="Montserrat"/>
                <a:cs typeface="Times New Roman" panose="02020603050405020304" pitchFamily="18" charset="0"/>
              </a:rPr>
              <a:t> </a:t>
            </a:r>
            <a:r>
              <a:rPr sz="2800" b="0" i="0">
                <a:solidFill>
                  <a:srgbClr val="1D1D27"/>
                </a:solidFill>
                <a:latin typeface="Times New Roman" panose="02020603050405020304" pitchFamily="18" charset="0"/>
                <a:ea typeface="Montserrat"/>
                <a:cs typeface="Times New Roman" panose="02020603050405020304" pitchFamily="18" charset="0"/>
              </a:rPr>
              <a:t>Bidirectional search can use search techniques such as BFS, DFS, DLS, etc.</a:t>
            </a:r>
          </a:p>
          <a:p>
            <a:pPr indent="0" algn="just">
              <a:spcAft>
                <a:spcPct val="60000"/>
              </a:spcAft>
              <a:buFont typeface="Arial" panose="020B0604020202020204" pitchFamily="34" charset="0"/>
              <a:buNone/>
            </a:pPr>
            <a:endParaRPr sz="2800" b="0" i="0">
              <a:solidFill>
                <a:srgbClr val="1D1D27"/>
              </a:solidFill>
              <a:latin typeface="Times New Roman" panose="02020603050405020304" pitchFamily="18" charset="0"/>
              <a:ea typeface="Montserrat"/>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127125" y="45085"/>
            <a:ext cx="10821670" cy="6322695"/>
          </a:xfrm>
          <a:prstGeom prst="rect">
            <a:avLst/>
          </a:prstGeom>
          <a:noFill/>
        </p:spPr>
        <p:txBody>
          <a:bodyPr wrap="square" rtlCol="0" anchor="t">
            <a:spAutoFit/>
          </a:bodyPr>
          <a:lstStyle/>
          <a:p>
            <a:pPr indent="0" algn="just">
              <a:spcAft>
                <a:spcPct val="60000"/>
              </a:spcAft>
              <a:buFont typeface="Arial" panose="020B0604020202020204" pitchFamily="34" charset="0"/>
              <a:buNone/>
            </a:pPr>
            <a:r>
              <a:rPr sz="2800" b="1">
                <a:solidFill>
                  <a:srgbClr val="1D1D27"/>
                </a:solidFill>
                <a:latin typeface="Times New Roman" panose="02020603050405020304" pitchFamily="18" charset="0"/>
                <a:ea typeface="Montserrat"/>
                <a:cs typeface="Times New Roman" panose="02020603050405020304" pitchFamily="18" charset="0"/>
                <a:sym typeface="+mn-ea"/>
              </a:rPr>
              <a:t>Advantages:</a:t>
            </a:r>
            <a:endParaRPr sz="2800" b="1" i="0">
              <a:solidFill>
                <a:srgbClr val="1D1D27"/>
              </a:solidFill>
              <a:latin typeface="Times New Roman" panose="02020603050405020304" pitchFamily="18" charset="0"/>
              <a:ea typeface="Montserrat"/>
              <a:cs typeface="Times New Roman" panose="02020603050405020304" pitchFamily="18" charset="0"/>
            </a:endParaRPr>
          </a:p>
          <a:p>
            <a:pPr marL="457200" indent="-457200" algn="just">
              <a:spcAft>
                <a:spcPct val="60000"/>
              </a:spcAft>
              <a:buFont typeface="Arial" panose="020B0604020202020204" pitchFamily="34" charset="0"/>
              <a:buChar char="•"/>
            </a:pPr>
            <a:r>
              <a:rPr sz="2400">
                <a:solidFill>
                  <a:srgbClr val="1D1D27"/>
                </a:solidFill>
                <a:latin typeface="Times New Roman" panose="02020603050405020304" pitchFamily="18" charset="0"/>
                <a:ea typeface="Montserrat"/>
                <a:cs typeface="Times New Roman" panose="02020603050405020304" pitchFamily="18" charset="0"/>
                <a:sym typeface="+mn-ea"/>
              </a:rPr>
              <a:t>Bidirectional search is fast.</a:t>
            </a:r>
            <a:endParaRPr sz="2400" b="0" i="0">
              <a:solidFill>
                <a:srgbClr val="1D1D27"/>
              </a:solidFill>
              <a:latin typeface="Times New Roman" panose="02020603050405020304" pitchFamily="18" charset="0"/>
              <a:ea typeface="Montserrat"/>
              <a:cs typeface="Times New Roman" panose="02020603050405020304" pitchFamily="18" charset="0"/>
            </a:endParaRPr>
          </a:p>
          <a:p>
            <a:pPr marL="457200" indent="-457200" algn="just">
              <a:spcAft>
                <a:spcPct val="60000"/>
              </a:spcAft>
              <a:buFont typeface="Arial" panose="020B0604020202020204" pitchFamily="34" charset="0"/>
              <a:buChar char="•"/>
            </a:pPr>
            <a:r>
              <a:rPr sz="2400">
                <a:solidFill>
                  <a:srgbClr val="1D1D27"/>
                </a:solidFill>
                <a:latin typeface="Times New Roman" panose="02020603050405020304" pitchFamily="18" charset="0"/>
                <a:ea typeface="Montserrat"/>
                <a:cs typeface="Times New Roman" panose="02020603050405020304" pitchFamily="18" charset="0"/>
                <a:sym typeface="+mn-ea"/>
              </a:rPr>
              <a:t>Bidirectional search requires less memory</a:t>
            </a:r>
            <a:endParaRPr sz="2400" b="0" i="0">
              <a:solidFill>
                <a:srgbClr val="1D1D27"/>
              </a:solidFill>
              <a:latin typeface="Times New Roman" panose="02020603050405020304" pitchFamily="18" charset="0"/>
              <a:ea typeface="Montserrat"/>
              <a:cs typeface="Times New Roman" panose="02020603050405020304" pitchFamily="18" charset="0"/>
            </a:endParaRPr>
          </a:p>
          <a:p>
            <a:pPr marL="457200" indent="-457200" algn="just">
              <a:spcAft>
                <a:spcPct val="60000"/>
              </a:spcAft>
              <a:buFont typeface="Arial" panose="020B0604020202020204" pitchFamily="34" charset="0"/>
              <a:buChar char="•"/>
            </a:pPr>
            <a:r>
              <a:rPr sz="2400">
                <a:solidFill>
                  <a:srgbClr val="1D1D27"/>
                </a:solidFill>
                <a:latin typeface="Times New Roman" panose="02020603050405020304" pitchFamily="18" charset="0"/>
                <a:ea typeface="Montserrat"/>
                <a:cs typeface="Times New Roman" panose="02020603050405020304" pitchFamily="18" charset="0"/>
                <a:sym typeface="+mn-ea"/>
              </a:rPr>
              <a:t>The graph can be extremely helpful when it is very large in size and there is no way to make it smaller. In such cases, using this tool becomes particularly useful.</a:t>
            </a:r>
          </a:p>
          <a:p>
            <a:pPr indent="0" algn="just">
              <a:spcAft>
                <a:spcPct val="60000"/>
              </a:spcAft>
              <a:buFont typeface="Arial" panose="020B0604020202020204" pitchFamily="34" charset="0"/>
              <a:buNone/>
            </a:pPr>
            <a:r>
              <a:rPr sz="2800" b="1">
                <a:solidFill>
                  <a:srgbClr val="1D1D27"/>
                </a:solidFill>
                <a:latin typeface="Times New Roman" panose="02020603050405020304" pitchFamily="18" charset="0"/>
                <a:ea typeface="Montserrat"/>
                <a:cs typeface="Times New Roman" panose="02020603050405020304" pitchFamily="18" charset="0"/>
                <a:sym typeface="+mn-ea"/>
              </a:rPr>
              <a:t>Disadvantages:</a:t>
            </a:r>
          </a:p>
          <a:p>
            <a:pPr marL="342900" indent="-342900" algn="just">
              <a:spcAft>
                <a:spcPct val="60000"/>
              </a:spcAft>
              <a:buFont typeface="Arial" panose="020B0604020202020204" pitchFamily="34" charset="0"/>
              <a:buChar char="•"/>
            </a:pPr>
            <a:r>
              <a:rPr sz="2400">
                <a:solidFill>
                  <a:srgbClr val="1D1D27"/>
                </a:solidFill>
                <a:latin typeface="Times New Roman" panose="02020603050405020304" pitchFamily="18" charset="0"/>
                <a:ea typeface="Montserrat"/>
                <a:cs typeface="Times New Roman" panose="02020603050405020304" pitchFamily="18" charset="0"/>
                <a:sym typeface="+mn-ea"/>
              </a:rPr>
              <a:t>Implementation of the bidirectional search tree is difficult.</a:t>
            </a:r>
          </a:p>
          <a:p>
            <a:pPr marL="342900" indent="-342900" algn="just">
              <a:spcAft>
                <a:spcPct val="60000"/>
              </a:spcAft>
              <a:buFont typeface="Arial" panose="020B0604020202020204" pitchFamily="34" charset="0"/>
              <a:buChar char="•"/>
            </a:pPr>
            <a:r>
              <a:rPr sz="2400">
                <a:solidFill>
                  <a:srgbClr val="1D1D27"/>
                </a:solidFill>
                <a:latin typeface="Times New Roman" panose="02020603050405020304" pitchFamily="18" charset="0"/>
                <a:ea typeface="Montserrat"/>
                <a:cs typeface="Times New Roman" panose="02020603050405020304" pitchFamily="18" charset="0"/>
                <a:sym typeface="+mn-ea"/>
              </a:rPr>
              <a:t>In bidirectional search, one should know the goal state in advance.</a:t>
            </a:r>
          </a:p>
          <a:p>
            <a:pPr marL="342900" indent="-342900" algn="just">
              <a:spcAft>
                <a:spcPct val="60000"/>
              </a:spcAft>
              <a:buFont typeface="Arial" panose="020B0604020202020204" pitchFamily="34" charset="0"/>
              <a:buChar char="•"/>
            </a:pPr>
            <a:r>
              <a:rPr sz="2400">
                <a:solidFill>
                  <a:srgbClr val="1D1D27"/>
                </a:solidFill>
                <a:latin typeface="Times New Roman" panose="02020603050405020304" pitchFamily="18" charset="0"/>
                <a:ea typeface="Montserrat"/>
                <a:cs typeface="Times New Roman" panose="02020603050405020304" pitchFamily="18" charset="0"/>
                <a:sym typeface="+mn-ea"/>
              </a:rPr>
              <a:t>Finding an efficient way to check if a match exists between search trees can be tricky, which can increase the time it takes to complete the task.</a:t>
            </a:r>
          </a:p>
          <a:p>
            <a:pPr marL="457200" indent="-457200" algn="just">
              <a:spcAft>
                <a:spcPct val="60000"/>
              </a:spcAft>
              <a:buFont typeface="Arial" panose="020B0604020202020204" pitchFamily="34" charset="0"/>
              <a:buChar char="•"/>
            </a:pPr>
            <a:endParaRPr lang="en-US" sz="2400">
              <a:solidFill>
                <a:srgbClr val="1D1D27"/>
              </a:solidFill>
              <a:latin typeface="Times New Roman" panose="02020603050405020304" pitchFamily="18" charset="0"/>
              <a:ea typeface="Montserrat"/>
              <a:cs typeface="Times New Roman" panose="02020603050405020304" pitchFamily="18" charset="0"/>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271270" y="116840"/>
            <a:ext cx="10760710" cy="2922270"/>
          </a:xfrm>
          <a:prstGeom prst="rect">
            <a:avLst/>
          </a:prstGeom>
        </p:spPr>
        <p:txBody>
          <a:bodyPr wrap="square">
            <a:spAutoFit/>
          </a:bodyPr>
          <a:lstStyle/>
          <a:p>
            <a:pPr marL="0" indent="0">
              <a:spcAft>
                <a:spcPct val="60000"/>
              </a:spcAft>
            </a:pPr>
            <a:r>
              <a:rPr sz="2400" b="1" i="0">
                <a:solidFill>
                  <a:srgbClr val="1D1D27"/>
                </a:solidFill>
                <a:latin typeface="Times New Roman" panose="02020603050405020304" pitchFamily="18" charset="0"/>
                <a:ea typeface="Montserrat"/>
                <a:cs typeface="Times New Roman" panose="02020603050405020304" pitchFamily="18" charset="0"/>
              </a:rPr>
              <a:t>Example:</a:t>
            </a:r>
          </a:p>
          <a:p>
            <a:pPr marL="0" indent="0" algn="just">
              <a:spcBef>
                <a:spcPct val="0"/>
              </a:spcBef>
            </a:pPr>
            <a:r>
              <a:rPr sz="2400" b="0" i="0">
                <a:solidFill>
                  <a:srgbClr val="2B2A29"/>
                </a:solidFill>
                <a:latin typeface="Times New Roman" panose="02020603050405020304" pitchFamily="18" charset="0"/>
                <a:ea typeface="Montserrat"/>
                <a:cs typeface="Times New Roman" panose="02020603050405020304" pitchFamily="18" charset="0"/>
              </a:rPr>
              <a:t>In the below search tree, bidirectional search algorithm is applied. This algorithm divides one graph/tree into two sub-graphs. It starts traversing from node 1 in the forward direction and starts from goal node 16 in the backward direction.</a:t>
            </a:r>
          </a:p>
          <a:p>
            <a:pPr marL="0" indent="0" algn="just">
              <a:spcBef>
                <a:spcPct val="0"/>
              </a:spcBef>
            </a:pPr>
            <a:r>
              <a:rPr sz="2400" b="0" i="0">
                <a:solidFill>
                  <a:srgbClr val="2B2A29"/>
                </a:solidFill>
                <a:latin typeface="Times New Roman" panose="02020603050405020304" pitchFamily="18" charset="0"/>
                <a:ea typeface="Montserrat"/>
                <a:cs typeface="Times New Roman" panose="02020603050405020304" pitchFamily="18" charset="0"/>
              </a:rPr>
              <a:t>The algorithm terminates at node 9 where two searches meet.</a:t>
            </a:r>
          </a:p>
          <a:p>
            <a:pPr marL="0" indent="0" algn="just">
              <a:spcBef>
                <a:spcPct val="0"/>
              </a:spcBef>
            </a:pPr>
            <a:endParaRPr sz="2400" b="0" i="0">
              <a:solidFill>
                <a:srgbClr val="2B2A29"/>
              </a:solidFill>
              <a:latin typeface="Times New Roman" panose="02020603050405020304" pitchFamily="18" charset="0"/>
              <a:ea typeface="Montserrat"/>
              <a:cs typeface="Times New Roman" panose="02020603050405020304" pitchFamily="18" charset="0"/>
            </a:endParaRPr>
          </a:p>
          <a:p>
            <a:pPr marL="0" indent="0" algn="just">
              <a:spcBef>
                <a:spcPct val="0"/>
              </a:spcBef>
            </a:pPr>
            <a:endParaRPr sz="2400" b="0" i="0">
              <a:solidFill>
                <a:srgbClr val="2B2A29"/>
              </a:solidFill>
              <a:latin typeface="Times New Roman" panose="02020603050405020304" pitchFamily="18" charset="0"/>
              <a:ea typeface="Montserrat"/>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285875" y="2348865"/>
            <a:ext cx="10286365" cy="457263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127125" y="1196975"/>
            <a:ext cx="10391140" cy="3107690"/>
          </a:xfrm>
          <a:prstGeom prst="rect">
            <a:avLst/>
          </a:prstGeom>
        </p:spPr>
        <p:txBody>
          <a:bodyPr wrap="square">
            <a:spAutoFit/>
          </a:bodyPr>
          <a:lstStyle/>
          <a:p>
            <a:pPr marL="0" indent="0" algn="just">
              <a:spcBef>
                <a:spcPct val="0"/>
              </a:spcBef>
            </a:pPr>
            <a:r>
              <a:rPr sz="2800" b="1" i="0">
                <a:solidFill>
                  <a:srgbClr val="2B2A29"/>
                </a:solidFill>
                <a:latin typeface="Times New Roman" panose="02020603050405020304" pitchFamily="18" charset="0"/>
                <a:ea typeface="Montserrat"/>
                <a:cs typeface="Times New Roman" panose="02020603050405020304" pitchFamily="18" charset="0"/>
              </a:rPr>
              <a:t>Completeness: </a:t>
            </a:r>
          </a:p>
          <a:p>
            <a:pPr marL="0" indent="0" algn="just">
              <a:spcBef>
                <a:spcPct val="0"/>
              </a:spcBef>
            </a:pPr>
            <a:r>
              <a:rPr sz="2800" b="0" i="0">
                <a:solidFill>
                  <a:srgbClr val="2B2A29"/>
                </a:solidFill>
                <a:latin typeface="Times New Roman" panose="02020603050405020304" pitchFamily="18" charset="0"/>
                <a:ea typeface="Montserrat"/>
                <a:cs typeface="Times New Roman" panose="02020603050405020304" pitchFamily="18" charset="0"/>
              </a:rPr>
              <a:t>Bidirectional Search is complete if we use BFS in both searches.</a:t>
            </a:r>
          </a:p>
          <a:p>
            <a:pPr marL="0" indent="0" algn="just">
              <a:spcBef>
                <a:spcPct val="0"/>
              </a:spcBef>
            </a:pPr>
            <a:r>
              <a:rPr sz="2800" b="1" i="0">
                <a:solidFill>
                  <a:srgbClr val="2B2A29"/>
                </a:solidFill>
                <a:latin typeface="Times New Roman" panose="02020603050405020304" pitchFamily="18" charset="0"/>
                <a:ea typeface="Montserrat"/>
                <a:cs typeface="Times New Roman" panose="02020603050405020304" pitchFamily="18" charset="0"/>
              </a:rPr>
              <a:t>Time Complexity: </a:t>
            </a:r>
          </a:p>
          <a:p>
            <a:pPr marL="0" indent="0" algn="just">
              <a:spcBef>
                <a:spcPct val="0"/>
              </a:spcBef>
            </a:pPr>
            <a:r>
              <a:rPr sz="2800" b="0" i="0">
                <a:solidFill>
                  <a:srgbClr val="2B2A29"/>
                </a:solidFill>
                <a:latin typeface="Times New Roman" panose="02020603050405020304" pitchFamily="18" charset="0"/>
                <a:ea typeface="Montserrat"/>
                <a:cs typeface="Times New Roman" panose="02020603050405020304" pitchFamily="18" charset="0"/>
              </a:rPr>
              <a:t>Time complexity of bidirectional search using BFS is </a:t>
            </a:r>
            <a:r>
              <a:rPr sz="2800" b="1" i="0">
                <a:solidFill>
                  <a:srgbClr val="2B2A29"/>
                </a:solidFill>
                <a:latin typeface="Times New Roman" panose="02020603050405020304" pitchFamily="18" charset="0"/>
                <a:ea typeface="Montserrat"/>
                <a:cs typeface="Times New Roman" panose="02020603050405020304" pitchFamily="18" charset="0"/>
              </a:rPr>
              <a:t>O(bd).</a:t>
            </a:r>
            <a:endParaRPr sz="2800" b="0" i="0">
              <a:solidFill>
                <a:srgbClr val="2B2A29"/>
              </a:solidFill>
              <a:latin typeface="Times New Roman" panose="02020603050405020304" pitchFamily="18" charset="0"/>
              <a:ea typeface="Montserrat"/>
              <a:cs typeface="Times New Roman" panose="02020603050405020304" pitchFamily="18" charset="0"/>
            </a:endParaRPr>
          </a:p>
          <a:p>
            <a:pPr marL="0" indent="0" algn="just">
              <a:spcBef>
                <a:spcPct val="0"/>
              </a:spcBef>
            </a:pPr>
            <a:r>
              <a:rPr sz="2800" b="1" i="0">
                <a:solidFill>
                  <a:srgbClr val="2B2A29"/>
                </a:solidFill>
                <a:latin typeface="Times New Roman" panose="02020603050405020304" pitchFamily="18" charset="0"/>
                <a:ea typeface="Montserrat"/>
                <a:cs typeface="Times New Roman" panose="02020603050405020304" pitchFamily="18" charset="0"/>
              </a:rPr>
              <a:t>Space Complexity:</a:t>
            </a:r>
          </a:p>
          <a:p>
            <a:pPr marL="0" indent="0" algn="just">
              <a:spcBef>
                <a:spcPct val="0"/>
              </a:spcBef>
            </a:pPr>
            <a:r>
              <a:rPr sz="2800" b="1" i="0">
                <a:solidFill>
                  <a:srgbClr val="2B2A29"/>
                </a:solidFill>
                <a:latin typeface="Times New Roman" panose="02020603050405020304" pitchFamily="18" charset="0"/>
                <a:ea typeface="Montserrat"/>
                <a:cs typeface="Times New Roman" panose="02020603050405020304" pitchFamily="18" charset="0"/>
              </a:rPr>
              <a:t> </a:t>
            </a:r>
            <a:r>
              <a:rPr sz="2800" b="0" i="0">
                <a:solidFill>
                  <a:srgbClr val="2B2A29"/>
                </a:solidFill>
                <a:latin typeface="Times New Roman" panose="02020603050405020304" pitchFamily="18" charset="0"/>
                <a:ea typeface="Montserrat"/>
                <a:cs typeface="Times New Roman" panose="02020603050405020304" pitchFamily="18" charset="0"/>
              </a:rPr>
              <a:t>Space complexity of bidirectional search is O(bd).</a:t>
            </a:r>
          </a:p>
          <a:p>
            <a:pPr marL="0" indent="0" algn="just">
              <a:spcBef>
                <a:spcPct val="0"/>
              </a:spcBef>
            </a:pPr>
            <a:r>
              <a:rPr sz="2800" b="1" i="0">
                <a:solidFill>
                  <a:srgbClr val="2B2A29"/>
                </a:solidFill>
                <a:latin typeface="Times New Roman" panose="02020603050405020304" pitchFamily="18" charset="0"/>
                <a:ea typeface="Montserrat"/>
                <a:cs typeface="Times New Roman" panose="02020603050405020304" pitchFamily="18" charset="0"/>
              </a:rPr>
              <a:t>Optimal:</a:t>
            </a:r>
            <a:r>
              <a:rPr sz="2800" b="0" i="0">
                <a:solidFill>
                  <a:srgbClr val="2B2A29"/>
                </a:solidFill>
                <a:latin typeface="Times New Roman" panose="02020603050405020304" pitchFamily="18" charset="0"/>
                <a:ea typeface="Montserrat"/>
                <a:cs typeface="Times New Roman" panose="02020603050405020304" pitchFamily="18" charset="0"/>
              </a:rPr>
              <a:t> Bidirectional search is Optimal.</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5400" y="476672"/>
            <a:ext cx="11089232" cy="5123180"/>
          </a:xfrm>
          <a:prstGeom prst="rect">
            <a:avLst/>
          </a:prstGeom>
        </p:spPr>
        <p:txBody>
          <a:bodyPr wrap="square">
            <a:spAutoFit/>
          </a:bodyPr>
          <a:lstStyle/>
          <a:p>
            <a:pPr algn="ctr">
              <a:lnSpc>
                <a:spcPct val="150000"/>
              </a:lnSpc>
            </a:pPr>
            <a:r>
              <a:rPr lang="en-US" sz="3600" b="1" dirty="0">
                <a:solidFill>
                  <a:srgbClr val="FF0000"/>
                </a:solidFill>
                <a:latin typeface="Times New Roman" panose="02020603050405020304" pitchFamily="18" charset="0"/>
                <a:cs typeface="Times New Roman" panose="02020603050405020304" pitchFamily="18" charset="0"/>
              </a:rPr>
              <a:t>Informed Search Algorithms</a:t>
            </a:r>
          </a:p>
          <a:p>
            <a:pPr algn="just">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  So far we have talked about the uninformed search algorithms which looked through search space for all possible solutions of the problem without having any </a:t>
            </a:r>
            <a:r>
              <a:rPr lang="en-US" sz="2600" b="1" dirty="0">
                <a:latin typeface="Times New Roman" panose="02020603050405020304" pitchFamily="18" charset="0"/>
                <a:cs typeface="Times New Roman" panose="02020603050405020304" pitchFamily="18" charset="0"/>
              </a:rPr>
              <a:t>additional knowledge about search space. </a:t>
            </a:r>
          </a:p>
          <a:p>
            <a:pPr algn="just">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  But informed search algorithm contains an array of knowledge such as how far we are from the goal, path cost, how to reach to goal node, etc. </a:t>
            </a:r>
          </a:p>
          <a:p>
            <a:pPr algn="just">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  This knowledge help agents to explore less to the search space and find more efficiently the goal node.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1424" y="1196752"/>
            <a:ext cx="10513168" cy="2676525"/>
          </a:xfrm>
          <a:prstGeom prst="rect">
            <a:avLst/>
          </a:prstGeom>
        </p:spPr>
        <p:txBody>
          <a:bodyPr wrap="square">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In the informed search we will discuss two main algorithms which are given below:</a:t>
            </a:r>
          </a:p>
          <a:p>
            <a:pPr algn="just">
              <a:lnSpc>
                <a:spcPct val="150000"/>
              </a:lnSpc>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 Best First Search Algorithm(Greedy search)</a:t>
            </a:r>
            <a:endParaRPr lang="en-US" sz="2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 A* Search Algorithm</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5325" y="379095"/>
            <a:ext cx="10657205" cy="5575935"/>
          </a:xfrm>
          <a:prstGeom prst="rect">
            <a:avLst/>
          </a:prstGeom>
        </p:spPr>
        <p:txBody>
          <a:bodyPr wrap="square">
            <a:noAutofit/>
          </a:bodyPr>
          <a:lstStyle/>
          <a:p>
            <a:pPr algn="ctr">
              <a:lnSpc>
                <a:spcPct val="150000"/>
              </a:lnSpc>
            </a:pPr>
            <a:r>
              <a:rPr lang="en-US" sz="2800" b="1" dirty="0">
                <a:latin typeface="Times New Roman" panose="02020603050405020304" pitchFamily="18" charset="0"/>
                <a:cs typeface="Times New Roman" panose="02020603050405020304" pitchFamily="18" charset="0"/>
              </a:rPr>
              <a:t>1.) Best-first Search Algorithm (Greedy Search):</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Greedy best-first search algorithm always selects the path which </a:t>
            </a:r>
            <a:r>
              <a:rPr lang="en-US" sz="2800" b="1" dirty="0">
                <a:latin typeface="Times New Roman" panose="02020603050405020304" pitchFamily="18" charset="0"/>
                <a:cs typeface="Times New Roman" panose="02020603050405020304" pitchFamily="18" charset="0"/>
              </a:rPr>
              <a:t>appears best at that moment. </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It is the combination of</a:t>
            </a:r>
            <a:r>
              <a:rPr lang="en-US" sz="2800" b="1" dirty="0">
                <a:latin typeface="Times New Roman" panose="02020603050405020304" pitchFamily="18" charset="0"/>
                <a:cs typeface="Times New Roman" panose="02020603050405020304" pitchFamily="18" charset="0"/>
              </a:rPr>
              <a:t> depth-first search and breadth-first search </a:t>
            </a:r>
            <a:r>
              <a:rPr lang="en-US" sz="2800" dirty="0">
                <a:latin typeface="Times New Roman" panose="02020603050405020304" pitchFamily="18" charset="0"/>
                <a:cs typeface="Times New Roman" panose="02020603050405020304" pitchFamily="18" charset="0"/>
              </a:rPr>
              <a:t>algorithms. It uses the </a:t>
            </a:r>
            <a:r>
              <a:rPr lang="en-US" sz="2800" b="1" dirty="0">
                <a:latin typeface="Times New Roman" panose="02020603050405020304" pitchFamily="18" charset="0"/>
                <a:cs typeface="Times New Roman" panose="02020603050405020304" pitchFamily="18" charset="0"/>
              </a:rPr>
              <a:t>heuristic function and search.</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Best-first search allows us to take the advantages of both algorithms. With the help of best-first search, at each step, we can choose the most promising node.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7408" y="620688"/>
            <a:ext cx="10225136" cy="4615815"/>
          </a:xfrm>
          <a:prstGeom prst="rect">
            <a:avLst/>
          </a:prstGeom>
        </p:spPr>
        <p:txBody>
          <a:bodyPr wrap="square">
            <a:spAutoFit/>
          </a:bodyPr>
          <a:lstStyle/>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In the best first search algorithm, we expand the node which is closest to the goal node and the closest cost is estimated by heuristic function, i.e.</a:t>
            </a:r>
          </a:p>
          <a:p>
            <a:pPr algn="ctr">
              <a:lnSpc>
                <a:spcPct val="150000"/>
              </a:lnSpc>
            </a:pPr>
            <a:r>
              <a:rPr lang="en-US" sz="2800" b="1" dirty="0">
                <a:latin typeface="Times New Roman" panose="02020603050405020304" pitchFamily="18" charset="0"/>
                <a:cs typeface="Times New Roman" panose="02020603050405020304" pitchFamily="18" charset="0"/>
              </a:rPr>
              <a:t>f(n)= g(n). </a:t>
            </a:r>
            <a:r>
              <a:rPr lang="en-US" sz="2800" dirty="0">
                <a:latin typeface="Times New Roman" panose="02020603050405020304" pitchFamily="18" charset="0"/>
                <a:cs typeface="Times New Roman" panose="02020603050405020304" pitchFamily="18" charset="0"/>
              </a:rPr>
              <a:t>  </a:t>
            </a:r>
          </a:p>
          <a:p>
            <a:pPr algn="just">
              <a:lnSpc>
                <a:spcPct val="150000"/>
              </a:lnSpc>
            </a:pPr>
            <a:r>
              <a:rPr lang="en-US" sz="2800" dirty="0">
                <a:latin typeface="Times New Roman" panose="02020603050405020304" pitchFamily="18" charset="0"/>
                <a:cs typeface="Times New Roman" panose="02020603050405020304" pitchFamily="18" charset="0"/>
              </a:rPr>
              <a:t>where, h(n)= estimated cost from node n to the goal.</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The greedy best first algorithm is implemented by the</a:t>
            </a:r>
            <a:r>
              <a:rPr lang="en-US" sz="2800" b="1" dirty="0">
                <a:latin typeface="Times New Roman" panose="02020603050405020304" pitchFamily="18" charset="0"/>
                <a:cs typeface="Times New Roman" panose="02020603050405020304" pitchFamily="18" charset="0"/>
              </a:rPr>
              <a:t> priority queue.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5360" y="260648"/>
            <a:ext cx="11593288" cy="5262245"/>
          </a:xfrm>
          <a:prstGeom prst="rect">
            <a:avLst/>
          </a:prstGeom>
        </p:spPr>
        <p:txBody>
          <a:bodyPr wrap="square">
            <a:spAutoFit/>
          </a:bodyPr>
          <a:lstStyle/>
          <a:p>
            <a:pPr algn="just">
              <a:lnSpc>
                <a:spcPct val="200000"/>
              </a:lnSpc>
            </a:pPr>
            <a:r>
              <a:rPr lang="en-US" sz="2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Best first search algorithm:</a:t>
            </a:r>
          </a:p>
          <a:p>
            <a:pPr algn="just">
              <a:lnSpc>
                <a:spcPct val="200000"/>
              </a:lnSpc>
            </a:pPr>
            <a:r>
              <a:rPr lang="en-US" sz="2800" b="1" dirty="0">
                <a:latin typeface="Times New Roman" panose="02020603050405020304" pitchFamily="18" charset="0"/>
                <a:cs typeface="Times New Roman" panose="02020603050405020304" pitchFamily="18" charset="0"/>
              </a:rPr>
              <a:t>Step 1:</a:t>
            </a:r>
            <a:r>
              <a:rPr lang="en-US" sz="2800" dirty="0">
                <a:latin typeface="Times New Roman" panose="02020603050405020304" pitchFamily="18" charset="0"/>
                <a:cs typeface="Times New Roman" panose="02020603050405020304" pitchFamily="18" charset="0"/>
              </a:rPr>
              <a:t> Place the starting node into the OPEN list.</a:t>
            </a:r>
          </a:p>
          <a:p>
            <a:pPr algn="just">
              <a:lnSpc>
                <a:spcPct val="200000"/>
              </a:lnSpc>
            </a:pPr>
            <a:r>
              <a:rPr lang="en-US" sz="2800" b="1" dirty="0">
                <a:latin typeface="Times New Roman" panose="02020603050405020304" pitchFamily="18" charset="0"/>
                <a:cs typeface="Times New Roman" panose="02020603050405020304" pitchFamily="18" charset="0"/>
              </a:rPr>
              <a:t>Step 2:</a:t>
            </a:r>
            <a:r>
              <a:rPr lang="en-US" sz="2800" dirty="0">
                <a:latin typeface="Times New Roman" panose="02020603050405020304" pitchFamily="18" charset="0"/>
                <a:cs typeface="Times New Roman" panose="02020603050405020304" pitchFamily="18" charset="0"/>
              </a:rPr>
              <a:t> If the OPEN list is empty, Stop and return failure.</a:t>
            </a:r>
          </a:p>
          <a:p>
            <a:pPr algn="just">
              <a:lnSpc>
                <a:spcPct val="200000"/>
              </a:lnSpc>
            </a:pPr>
            <a:r>
              <a:rPr lang="en-US" sz="2800" b="1" dirty="0">
                <a:latin typeface="Times New Roman" panose="02020603050405020304" pitchFamily="18" charset="0"/>
                <a:cs typeface="Times New Roman" panose="02020603050405020304" pitchFamily="18" charset="0"/>
              </a:rPr>
              <a:t>Step 3:</a:t>
            </a:r>
            <a:r>
              <a:rPr lang="en-US" sz="2800" dirty="0">
                <a:latin typeface="Times New Roman" panose="02020603050405020304" pitchFamily="18" charset="0"/>
                <a:cs typeface="Times New Roman" panose="02020603050405020304" pitchFamily="18" charset="0"/>
              </a:rPr>
              <a:t> Remove the </a:t>
            </a:r>
            <a:r>
              <a:rPr lang="en-US" sz="2800" b="1" dirty="0">
                <a:latin typeface="Times New Roman" panose="02020603050405020304" pitchFamily="18" charset="0"/>
                <a:cs typeface="Times New Roman" panose="02020603050405020304" pitchFamily="18" charset="0"/>
              </a:rPr>
              <a:t>node n</a:t>
            </a:r>
            <a:r>
              <a:rPr lang="en-US" sz="2800" dirty="0">
                <a:latin typeface="Times New Roman" panose="02020603050405020304" pitchFamily="18" charset="0"/>
                <a:cs typeface="Times New Roman" panose="02020603050405020304" pitchFamily="18" charset="0"/>
              </a:rPr>
              <a:t>, from the OPEN list which has the </a:t>
            </a:r>
            <a:r>
              <a:rPr lang="en-US" sz="2800" b="1" dirty="0">
                <a:latin typeface="Times New Roman" panose="02020603050405020304" pitchFamily="18" charset="0"/>
                <a:cs typeface="Times New Roman" panose="02020603050405020304" pitchFamily="18" charset="0"/>
              </a:rPr>
              <a:t>lowest value of h(n),</a:t>
            </a:r>
            <a:r>
              <a:rPr lang="en-US" sz="2800" dirty="0">
                <a:latin typeface="Times New Roman" panose="02020603050405020304" pitchFamily="18" charset="0"/>
                <a:cs typeface="Times New Roman" panose="02020603050405020304" pitchFamily="18" charset="0"/>
              </a:rPr>
              <a:t> and places it in the CLOSED list.</a:t>
            </a:r>
          </a:p>
          <a:p>
            <a:pPr algn="just">
              <a:lnSpc>
                <a:spcPct val="200000"/>
              </a:lnSpc>
            </a:pPr>
            <a:r>
              <a:rPr lang="en-US" sz="2800" b="1" dirty="0">
                <a:latin typeface="Times New Roman" panose="02020603050405020304" pitchFamily="18" charset="0"/>
                <a:cs typeface="Times New Roman" panose="02020603050405020304" pitchFamily="18" charset="0"/>
              </a:rPr>
              <a:t>Step 4:</a:t>
            </a:r>
            <a:r>
              <a:rPr lang="en-US" sz="2800" dirty="0">
                <a:latin typeface="Times New Roman" panose="02020603050405020304" pitchFamily="18" charset="0"/>
                <a:cs typeface="Times New Roman" panose="02020603050405020304" pitchFamily="18" charset="0"/>
              </a:rPr>
              <a:t> Expand the node n, and generate the successors of node 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5360" y="260649"/>
            <a:ext cx="11593288" cy="5692775"/>
          </a:xfrm>
          <a:prstGeom prst="rect">
            <a:avLst/>
          </a:prstGeom>
        </p:spPr>
        <p:txBody>
          <a:bodyPr wrap="square">
            <a:spAutoFit/>
          </a:bodyPr>
          <a:lstStyle/>
          <a:p>
            <a:pPr algn="just">
              <a:lnSpc>
                <a:spcPct val="200000"/>
              </a:lnSpc>
            </a:pPr>
            <a:r>
              <a:rPr lang="en-US" sz="2600" b="1" dirty="0">
                <a:latin typeface="Times New Roman" panose="02020603050405020304" pitchFamily="18" charset="0"/>
                <a:cs typeface="Times New Roman" panose="02020603050405020304" pitchFamily="18" charset="0"/>
              </a:rPr>
              <a:t>Step 5:</a:t>
            </a:r>
            <a:r>
              <a:rPr lang="en-US" sz="2600" dirty="0">
                <a:latin typeface="Times New Roman" panose="02020603050405020304" pitchFamily="18" charset="0"/>
                <a:cs typeface="Times New Roman" panose="02020603050405020304" pitchFamily="18" charset="0"/>
              </a:rPr>
              <a:t> Check each successor of node n, and find whether any node is a goal node or not. If any successor node is goal node, then return success and terminate the search, else proceed to Step 6.</a:t>
            </a:r>
          </a:p>
          <a:p>
            <a:pPr algn="just">
              <a:lnSpc>
                <a:spcPct val="200000"/>
              </a:lnSpc>
            </a:pPr>
            <a:r>
              <a:rPr lang="en-US" sz="2600" b="1" dirty="0">
                <a:latin typeface="Times New Roman" panose="02020603050405020304" pitchFamily="18" charset="0"/>
                <a:cs typeface="Times New Roman" panose="02020603050405020304" pitchFamily="18" charset="0"/>
              </a:rPr>
              <a:t>Step 6:</a:t>
            </a:r>
            <a:r>
              <a:rPr lang="en-US" sz="2600" dirty="0">
                <a:latin typeface="Times New Roman" panose="02020603050405020304" pitchFamily="18" charset="0"/>
                <a:cs typeface="Times New Roman" panose="02020603050405020304" pitchFamily="18" charset="0"/>
              </a:rPr>
              <a:t> For each successor node, algorithm checks for evaluation function f(n), and then check if the node has been in either OPEN or CLOSED list. If the node has not been in both list, then add it to the OPEN list.</a:t>
            </a:r>
          </a:p>
          <a:p>
            <a:pPr algn="just">
              <a:lnSpc>
                <a:spcPct val="200000"/>
              </a:lnSpc>
            </a:pPr>
            <a:r>
              <a:rPr lang="en-US" sz="2600" b="1" dirty="0">
                <a:latin typeface="Times New Roman" panose="02020603050405020304" pitchFamily="18" charset="0"/>
                <a:cs typeface="Times New Roman" panose="02020603050405020304" pitchFamily="18" charset="0"/>
              </a:rPr>
              <a:t>Step 7:</a:t>
            </a:r>
            <a:r>
              <a:rPr lang="en-US" sz="2600" dirty="0">
                <a:latin typeface="Times New Roman" panose="02020603050405020304" pitchFamily="18" charset="0"/>
                <a:cs typeface="Times New Roman" panose="02020603050405020304" pitchFamily="18" charset="0"/>
              </a:rPr>
              <a:t> Return to Step 2.</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5400" y="260648"/>
            <a:ext cx="10801200" cy="5262245"/>
          </a:xfrm>
          <a:prstGeom prst="rect">
            <a:avLst/>
          </a:prstGeom>
        </p:spPr>
        <p:txBody>
          <a:bodyPr wrap="square">
            <a:spAutoFit/>
          </a:bodyPr>
          <a:lstStyle/>
          <a:p>
            <a:pPr algn="just">
              <a:lnSpc>
                <a:spcPct val="150000"/>
              </a:lnSpc>
            </a:pPr>
            <a:r>
              <a:rPr lang="en-US" sz="2800" b="1" dirty="0">
                <a:latin typeface="Times New Roman" panose="02020603050405020304" pitchFamily="18" charset="0"/>
                <a:cs typeface="Times New Roman" panose="02020603050405020304" pitchFamily="18" charset="0"/>
              </a:rPr>
              <a:t>Advantages</a:t>
            </a:r>
            <a:r>
              <a:rPr lang="en-US" sz="2800" dirty="0">
                <a:latin typeface="Times New Roman" panose="02020603050405020304" pitchFamily="18" charset="0"/>
                <a:cs typeface="Times New Roman" panose="02020603050405020304" pitchFamily="18" charset="0"/>
              </a:rPr>
              <a:t>:</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Best first search can switch between BFS and DFS by gaining the advantages of both the algorithms.</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This algorithm is more efficient than BFS and DFS algorithms.</a:t>
            </a:r>
          </a:p>
          <a:p>
            <a:pPr algn="just">
              <a:lnSpc>
                <a:spcPct val="150000"/>
              </a:lnSpc>
            </a:pPr>
            <a:r>
              <a:rPr lang="en-US" sz="2800" b="1" dirty="0">
                <a:latin typeface="Times New Roman" panose="02020603050405020304" pitchFamily="18" charset="0"/>
                <a:cs typeface="Times New Roman" panose="02020603050405020304" pitchFamily="18" charset="0"/>
              </a:rPr>
              <a:t>Disadvantages</a:t>
            </a:r>
            <a:r>
              <a:rPr lang="en-US" sz="2800" dirty="0">
                <a:latin typeface="Times New Roman" panose="02020603050405020304" pitchFamily="18" charset="0"/>
                <a:cs typeface="Times New Roman" panose="02020603050405020304" pitchFamily="18" charset="0"/>
              </a:rPr>
              <a:t>:</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can behave as an unguided depth-first search in the worst case scenario.</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can get stuck in a loop as DFS.</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This algorithm is not optimal.</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Smile\Desktop\informed-search-algorithms.png"/>
          <p:cNvPicPr>
            <a:picLocks noChangeAspect="1" noChangeArrowheads="1"/>
          </p:cNvPicPr>
          <p:nvPr/>
        </p:nvPicPr>
        <p:blipFill>
          <a:blip r:embed="rId2" cstate="print"/>
          <a:srcRect/>
          <a:stretch>
            <a:fillRect/>
          </a:stretch>
        </p:blipFill>
        <p:spPr bwMode="auto">
          <a:xfrm>
            <a:off x="1415415" y="692785"/>
            <a:ext cx="9220835" cy="5481955"/>
          </a:xfrm>
          <a:prstGeom prst="rect">
            <a:avLst/>
          </a:prstGeom>
          <a:noFill/>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5400" y="476672"/>
            <a:ext cx="10873208" cy="645160"/>
          </a:xfrm>
          <a:prstGeom prst="rect">
            <a:avLst/>
          </a:prstGeom>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In this search example, we are using two lists which are </a:t>
            </a:r>
            <a:r>
              <a:rPr lang="en-US" sz="2400" b="1" dirty="0">
                <a:latin typeface="Times New Roman" panose="02020603050405020304" pitchFamily="18" charset="0"/>
                <a:cs typeface="Times New Roman" panose="02020603050405020304" pitchFamily="18" charset="0"/>
              </a:rPr>
              <a:t>OPEN</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CLOSED</a:t>
            </a:r>
            <a:r>
              <a:rPr lang="en-US" sz="2400" dirty="0">
                <a:latin typeface="Times New Roman" panose="02020603050405020304" pitchFamily="18" charset="0"/>
                <a:cs typeface="Times New Roman" panose="02020603050405020304" pitchFamily="18" charset="0"/>
              </a:rPr>
              <a:t> Lists. </a:t>
            </a:r>
          </a:p>
        </p:txBody>
      </p:sp>
      <p:pic>
        <p:nvPicPr>
          <p:cNvPr id="4" name="Picture 3"/>
          <p:cNvPicPr>
            <a:picLocks noChangeAspect="1"/>
          </p:cNvPicPr>
          <p:nvPr/>
        </p:nvPicPr>
        <p:blipFill>
          <a:blip r:embed="rId3"/>
          <a:stretch>
            <a:fillRect/>
          </a:stretch>
        </p:blipFill>
        <p:spPr>
          <a:xfrm>
            <a:off x="3331845" y="1557020"/>
            <a:ext cx="5686425" cy="459232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5400" y="302359"/>
            <a:ext cx="10945216" cy="6554470"/>
          </a:xfrm>
          <a:prstGeom prst="rect">
            <a:avLst/>
          </a:prstGeom>
        </p:spPr>
        <p:txBody>
          <a:bodyPr wrap="square">
            <a:spAutoFit/>
          </a:bodyPr>
          <a:lstStyle/>
          <a:p>
            <a:pPr>
              <a:lnSpc>
                <a:spcPct val="150000"/>
              </a:lnSpc>
            </a:pPr>
            <a:r>
              <a:rPr lang="en-US" sz="2800" b="1" dirty="0">
                <a:latin typeface="Times New Roman" panose="02020603050405020304" pitchFamily="18" charset="0"/>
                <a:cs typeface="Times New Roman" panose="02020603050405020304" pitchFamily="18" charset="0"/>
              </a:rPr>
              <a:t>Expand the nodes of S and put in the CLOSED list</a:t>
            </a:r>
            <a:endParaRPr lang="en-US" sz="2800" dirty="0">
              <a:latin typeface="Times New Roman" panose="02020603050405020304" pitchFamily="18" charset="0"/>
              <a:cs typeface="Times New Roman" panose="02020603050405020304" pitchFamily="18" charset="0"/>
            </a:endParaRPr>
          </a:p>
          <a:p>
            <a:pPr>
              <a:lnSpc>
                <a:spcPct val="150000"/>
              </a:lnSpc>
            </a:pPr>
            <a:r>
              <a:rPr lang="en-US" sz="2800" b="1" dirty="0">
                <a:latin typeface="Times New Roman" panose="02020603050405020304" pitchFamily="18" charset="0"/>
                <a:cs typeface="Times New Roman" panose="02020603050405020304" pitchFamily="18" charset="0"/>
              </a:rPr>
              <a:t>Initialization:</a:t>
            </a:r>
            <a:r>
              <a:rPr lang="en-US" sz="2800" dirty="0">
                <a:latin typeface="Times New Roman" panose="02020603050405020304" pitchFamily="18" charset="0"/>
                <a:cs typeface="Times New Roman" panose="02020603050405020304" pitchFamily="18" charset="0"/>
              </a:rPr>
              <a:t> Open [A, B], Closed [S]</a:t>
            </a:r>
          </a:p>
          <a:p>
            <a:pPr>
              <a:lnSpc>
                <a:spcPct val="150000"/>
              </a:lnSpc>
            </a:pPr>
            <a:r>
              <a:rPr lang="en-US" sz="2800" b="1" dirty="0">
                <a:latin typeface="Times New Roman" panose="02020603050405020304" pitchFamily="18" charset="0"/>
                <a:cs typeface="Times New Roman" panose="02020603050405020304" pitchFamily="18" charset="0"/>
              </a:rPr>
              <a:t>Iteration 1:</a:t>
            </a:r>
            <a:r>
              <a:rPr lang="en-US" sz="2800" dirty="0">
                <a:latin typeface="Times New Roman" panose="02020603050405020304" pitchFamily="18" charset="0"/>
                <a:cs typeface="Times New Roman" panose="02020603050405020304" pitchFamily="18" charset="0"/>
              </a:rPr>
              <a:t> Open [A], Closed [S, B]</a:t>
            </a:r>
          </a:p>
          <a:p>
            <a:pPr>
              <a:lnSpc>
                <a:spcPct val="150000"/>
              </a:lnSpc>
            </a:pPr>
            <a:r>
              <a:rPr lang="en-US" sz="2800" b="1" dirty="0">
                <a:latin typeface="Times New Roman" panose="02020603050405020304" pitchFamily="18" charset="0"/>
                <a:cs typeface="Times New Roman" panose="02020603050405020304" pitchFamily="18" charset="0"/>
              </a:rPr>
              <a:t>Iteration 2:</a:t>
            </a:r>
            <a:r>
              <a:rPr lang="en-US" sz="2800" dirty="0">
                <a:latin typeface="Times New Roman" panose="02020603050405020304" pitchFamily="18" charset="0"/>
                <a:cs typeface="Times New Roman" panose="02020603050405020304" pitchFamily="18" charset="0"/>
              </a:rPr>
              <a:t> Open [E, F, A], Closed [S, B]</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 Open [E, A], Closed [S, B, F]</a:t>
            </a:r>
          </a:p>
          <a:p>
            <a:pPr>
              <a:lnSpc>
                <a:spcPct val="150000"/>
              </a:lnSpc>
            </a:pPr>
            <a:r>
              <a:rPr lang="en-US" sz="2800" b="1" dirty="0">
                <a:latin typeface="Times New Roman" panose="02020603050405020304" pitchFamily="18" charset="0"/>
                <a:cs typeface="Times New Roman" panose="02020603050405020304" pitchFamily="18" charset="0"/>
              </a:rPr>
              <a:t>Iteration 3:</a:t>
            </a:r>
            <a:r>
              <a:rPr lang="en-US" sz="2800" dirty="0">
                <a:latin typeface="Times New Roman" panose="02020603050405020304" pitchFamily="18" charset="0"/>
                <a:cs typeface="Times New Roman" panose="02020603050405020304" pitchFamily="18" charset="0"/>
              </a:rPr>
              <a:t> Open [I, G, E, A], Closed [S, B, F]</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 Open [I, E, A], Closed [S, B, F, G]</a:t>
            </a:r>
          </a:p>
          <a:p>
            <a:pPr>
              <a:lnSpc>
                <a:spcPct val="150000"/>
              </a:lnSpc>
            </a:pPr>
            <a:r>
              <a:rPr lang="en-US" sz="2800" dirty="0">
                <a:latin typeface="Times New Roman" panose="02020603050405020304" pitchFamily="18" charset="0"/>
                <a:cs typeface="Times New Roman" panose="02020603050405020304" pitchFamily="18" charset="0"/>
              </a:rPr>
              <a:t>Hence the final solution path will be: </a:t>
            </a:r>
            <a:r>
              <a:rPr lang="en-US" sz="2800" b="1" dirty="0">
                <a:latin typeface="Times New Roman" panose="02020603050405020304" pitchFamily="18" charset="0"/>
                <a:cs typeface="Times New Roman" panose="02020603050405020304" pitchFamily="18" charset="0"/>
              </a:rPr>
              <a:t>S----&gt; B-----&gt;F----&gt; G</a:t>
            </a:r>
            <a:endParaRPr lang="en-US" sz="2800" dirty="0">
              <a:latin typeface="Times New Roman" panose="02020603050405020304" pitchFamily="18" charset="0"/>
              <a:cs typeface="Times New Roman" panose="02020603050405020304" pitchFamily="18" charset="0"/>
            </a:endParaRPr>
          </a:p>
          <a:p>
            <a:pPr>
              <a:lnSpc>
                <a:spcPct val="150000"/>
              </a:lnSpc>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83432" y="548680"/>
            <a:ext cx="10801200" cy="5262245"/>
          </a:xfrm>
          <a:prstGeom prst="rect">
            <a:avLst/>
          </a:prstGeom>
        </p:spPr>
        <p:txBody>
          <a:bodyPr wrap="square">
            <a:spAutoFit/>
          </a:bodyPr>
          <a:lstStyle/>
          <a:p>
            <a:pPr algn="just">
              <a:lnSpc>
                <a:spcPct val="150000"/>
              </a:lnSpc>
            </a:pPr>
            <a:r>
              <a:rPr lang="en-US" sz="2800" b="1" dirty="0">
                <a:latin typeface="Times New Roman" panose="02020603050405020304" pitchFamily="18" charset="0"/>
                <a:cs typeface="Times New Roman" panose="02020603050405020304" pitchFamily="18" charset="0"/>
              </a:rPr>
              <a:t>Time Complexity:</a:t>
            </a:r>
            <a:r>
              <a:rPr lang="en-US" sz="2800" dirty="0">
                <a:latin typeface="Times New Roman" panose="02020603050405020304" pitchFamily="18" charset="0"/>
                <a:cs typeface="Times New Roman" panose="02020603050405020304" pitchFamily="18" charset="0"/>
              </a:rPr>
              <a:t> The worst case time complexity of Greedy best first search is O(</a:t>
            </a:r>
            <a:r>
              <a:rPr lang="en-US" sz="2800" dirty="0" err="1">
                <a:latin typeface="Times New Roman" panose="02020603050405020304" pitchFamily="18" charset="0"/>
                <a:cs typeface="Times New Roman" panose="02020603050405020304" pitchFamily="18" charset="0"/>
              </a:rPr>
              <a:t>b</a:t>
            </a:r>
            <a:r>
              <a:rPr lang="en-US" sz="2800" baseline="30000" dirty="0" err="1">
                <a:latin typeface="Times New Roman" panose="02020603050405020304" pitchFamily="18" charset="0"/>
                <a:cs typeface="Times New Roman" panose="02020603050405020304" pitchFamily="18" charset="0"/>
              </a:rPr>
              <a:t>m</a:t>
            </a:r>
            <a:r>
              <a:rPr lang="en-US" sz="2800" dirty="0">
                <a:latin typeface="Times New Roman" panose="02020603050405020304" pitchFamily="18" charset="0"/>
                <a:cs typeface="Times New Roman" panose="02020603050405020304" pitchFamily="18" charset="0"/>
              </a:rPr>
              <a:t>).</a:t>
            </a:r>
          </a:p>
          <a:p>
            <a:pPr algn="just">
              <a:lnSpc>
                <a:spcPct val="150000"/>
              </a:lnSpc>
            </a:pPr>
            <a:r>
              <a:rPr lang="en-US" sz="2800" b="1" dirty="0">
                <a:latin typeface="Times New Roman" panose="02020603050405020304" pitchFamily="18" charset="0"/>
                <a:cs typeface="Times New Roman" panose="02020603050405020304" pitchFamily="18" charset="0"/>
              </a:rPr>
              <a:t>Space Complexity:</a:t>
            </a:r>
            <a:r>
              <a:rPr lang="en-US" sz="2800" dirty="0">
                <a:latin typeface="Times New Roman" panose="02020603050405020304" pitchFamily="18" charset="0"/>
                <a:cs typeface="Times New Roman" panose="02020603050405020304" pitchFamily="18" charset="0"/>
              </a:rPr>
              <a:t> The worst case space complexity of Greedy best first search is O(</a:t>
            </a:r>
            <a:r>
              <a:rPr lang="en-US" sz="2800" dirty="0" err="1">
                <a:latin typeface="Times New Roman" panose="02020603050405020304" pitchFamily="18" charset="0"/>
                <a:cs typeface="Times New Roman" panose="02020603050405020304" pitchFamily="18" charset="0"/>
              </a:rPr>
              <a:t>b</a:t>
            </a:r>
            <a:r>
              <a:rPr lang="en-US" sz="2800" baseline="30000" dirty="0" err="1">
                <a:latin typeface="Times New Roman" panose="02020603050405020304" pitchFamily="18" charset="0"/>
                <a:cs typeface="Times New Roman" panose="02020603050405020304" pitchFamily="18" charset="0"/>
              </a:rPr>
              <a:t>m</a:t>
            </a:r>
            <a:r>
              <a:rPr lang="en-US" sz="2800" dirty="0">
                <a:latin typeface="Times New Roman" panose="02020603050405020304" pitchFamily="18" charset="0"/>
                <a:cs typeface="Times New Roman" panose="02020603050405020304" pitchFamily="18" charset="0"/>
              </a:rPr>
              <a:t>). Where, m is the maximum depth of the search space.</a:t>
            </a:r>
          </a:p>
          <a:p>
            <a:pPr algn="just">
              <a:lnSpc>
                <a:spcPct val="150000"/>
              </a:lnSpc>
            </a:pPr>
            <a:r>
              <a:rPr lang="en-US" sz="2800" b="1" dirty="0">
                <a:latin typeface="Times New Roman" panose="02020603050405020304" pitchFamily="18" charset="0"/>
                <a:cs typeface="Times New Roman" panose="02020603050405020304" pitchFamily="18" charset="0"/>
              </a:rPr>
              <a:t>Complete:</a:t>
            </a:r>
            <a:r>
              <a:rPr lang="en-US" sz="2800" dirty="0">
                <a:latin typeface="Times New Roman" panose="02020603050405020304" pitchFamily="18" charset="0"/>
                <a:cs typeface="Times New Roman" panose="02020603050405020304" pitchFamily="18" charset="0"/>
              </a:rPr>
              <a:t> Greedy best-first search is also incomplete, even if the given state space is finite.</a:t>
            </a:r>
          </a:p>
          <a:p>
            <a:pPr algn="just">
              <a:lnSpc>
                <a:spcPct val="150000"/>
              </a:lnSpc>
            </a:pPr>
            <a:r>
              <a:rPr lang="en-US" sz="2800" b="1" dirty="0">
                <a:latin typeface="Times New Roman" panose="02020603050405020304" pitchFamily="18" charset="0"/>
                <a:cs typeface="Times New Roman" panose="02020603050405020304" pitchFamily="18" charset="0"/>
              </a:rPr>
              <a:t>Optimal:</a:t>
            </a:r>
            <a:r>
              <a:rPr lang="en-US" sz="2800" dirty="0">
                <a:latin typeface="Times New Roman" panose="02020603050405020304" pitchFamily="18" charset="0"/>
                <a:cs typeface="Times New Roman" panose="02020603050405020304" pitchFamily="18" charset="0"/>
              </a:rPr>
              <a:t> Greedy best first search algorithm is not optimal.</a:t>
            </a:r>
          </a:p>
          <a:p>
            <a:pPr algn="just">
              <a:lnSpc>
                <a:spcPct val="150000"/>
              </a:lnSpc>
            </a:pP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7408" y="548680"/>
            <a:ext cx="10729192" cy="4707890"/>
          </a:xfrm>
          <a:prstGeom prst="rect">
            <a:avLst/>
          </a:prstGeom>
        </p:spPr>
        <p:txBody>
          <a:bodyPr wrap="square">
            <a:spAutoFit/>
          </a:bodyPr>
          <a:lstStyle/>
          <a:p>
            <a:pPr algn="just">
              <a:lnSpc>
                <a:spcPct val="150000"/>
              </a:lnSpc>
            </a:pPr>
            <a:r>
              <a:rPr lang="en-US" sz="3200" b="1" dirty="0">
                <a:latin typeface="Times New Roman" panose="02020603050405020304" pitchFamily="18" charset="0"/>
                <a:cs typeface="Times New Roman" panose="02020603050405020304" pitchFamily="18" charset="0"/>
              </a:rPr>
              <a:t>2.) A* Search Algorithm:</a:t>
            </a:r>
            <a:endParaRPr lang="en-US" sz="2800" b="1"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A* search is the most commonly known form of best-first search. </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It uses heuristic function h(n), and cost to reach the node n from the start state g(n). It has features of greedy best-first search, by which it solve the problem efficiently.</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A* search algorithm finds the shortest path through the search space using the heuristic function.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9416" y="764704"/>
            <a:ext cx="10729192" cy="4615815"/>
          </a:xfrm>
          <a:prstGeom prst="rect">
            <a:avLst/>
          </a:prstGeom>
        </p:spPr>
        <p:txBody>
          <a:bodyPr wrap="square">
            <a:spAutoFit/>
          </a:bodyPr>
          <a:lstStyle/>
          <a:p>
            <a:pPr algn="just">
              <a:lnSpc>
                <a:spcPct val="150000"/>
              </a:lnSpc>
            </a:pPr>
            <a:r>
              <a:rPr lang="en-US" sz="28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Algorithm of A* search:</a:t>
            </a:r>
          </a:p>
          <a:p>
            <a:pPr algn="just">
              <a:lnSpc>
                <a:spcPct val="150000"/>
              </a:lnSpc>
            </a:pPr>
            <a:r>
              <a:rPr lang="en-US" sz="2800" b="1" dirty="0">
                <a:latin typeface="Times New Roman" panose="02020603050405020304" pitchFamily="18" charset="0"/>
                <a:cs typeface="Times New Roman" panose="02020603050405020304" pitchFamily="18" charset="0"/>
              </a:rPr>
              <a:t>Step1:</a:t>
            </a:r>
            <a:r>
              <a:rPr lang="en-US" sz="2800" dirty="0">
                <a:latin typeface="Times New Roman" panose="02020603050405020304" pitchFamily="18" charset="0"/>
                <a:cs typeface="Times New Roman" panose="02020603050405020304" pitchFamily="18" charset="0"/>
              </a:rPr>
              <a:t> Place the starting node in the OPEN list.</a:t>
            </a:r>
          </a:p>
          <a:p>
            <a:pPr algn="just">
              <a:lnSpc>
                <a:spcPct val="150000"/>
              </a:lnSpc>
            </a:pPr>
            <a:r>
              <a:rPr lang="en-US" sz="2800" b="1" dirty="0">
                <a:latin typeface="Times New Roman" panose="02020603050405020304" pitchFamily="18" charset="0"/>
                <a:cs typeface="Times New Roman" panose="02020603050405020304" pitchFamily="18" charset="0"/>
              </a:rPr>
              <a:t>Step 2:</a:t>
            </a:r>
            <a:r>
              <a:rPr lang="en-US" sz="2800" dirty="0">
                <a:latin typeface="Times New Roman" panose="02020603050405020304" pitchFamily="18" charset="0"/>
                <a:cs typeface="Times New Roman" panose="02020603050405020304" pitchFamily="18" charset="0"/>
              </a:rPr>
              <a:t> Check if the OPEN list is empty or not, if the list is empty then return failure and stops.</a:t>
            </a:r>
          </a:p>
          <a:p>
            <a:pPr algn="just">
              <a:lnSpc>
                <a:spcPct val="150000"/>
              </a:lnSpc>
            </a:pPr>
            <a:r>
              <a:rPr lang="en-US" sz="2800" b="1" dirty="0">
                <a:latin typeface="Times New Roman" panose="02020603050405020304" pitchFamily="18" charset="0"/>
                <a:cs typeface="Times New Roman" panose="02020603050405020304" pitchFamily="18" charset="0"/>
              </a:rPr>
              <a:t>Step 3:</a:t>
            </a:r>
            <a:r>
              <a:rPr lang="en-US" sz="2800" dirty="0">
                <a:latin typeface="Times New Roman" panose="02020603050405020304" pitchFamily="18" charset="0"/>
                <a:cs typeface="Times New Roman" panose="02020603050405020304" pitchFamily="18" charset="0"/>
              </a:rPr>
              <a:t> Select the node from the OPEN list which has the smallest value of evaluation function (</a:t>
            </a:r>
            <a:r>
              <a:rPr lang="en-US" sz="2800" dirty="0" err="1">
                <a:latin typeface="Times New Roman" panose="02020603050405020304" pitchFamily="18" charset="0"/>
                <a:cs typeface="Times New Roman" panose="02020603050405020304" pitchFamily="18" charset="0"/>
              </a:rPr>
              <a:t>g+h</a:t>
            </a:r>
            <a:r>
              <a:rPr lang="en-US" sz="2800" dirty="0">
                <a:latin typeface="Times New Roman" panose="02020603050405020304" pitchFamily="18" charset="0"/>
                <a:cs typeface="Times New Roman" panose="02020603050405020304" pitchFamily="18" charset="0"/>
              </a:rPr>
              <a:t>), if node n is goal node then return success and stop, otherwise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1384" y="548680"/>
            <a:ext cx="11161240" cy="3322955"/>
          </a:xfrm>
          <a:prstGeom prst="rect">
            <a:avLst/>
          </a:prstGeom>
        </p:spPr>
        <p:txBody>
          <a:bodyPr wrap="square">
            <a:spAutoFit/>
          </a:bodyPr>
          <a:lstStyle/>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This search algorithm expands less search tree and provides optimal result faster. A* algorithm  uses g(n)+h(n) instead of g(n).</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In A* search algorithm, we use search heuristic as well as the cost to reach the node. Hence we can combine both costs as following, and this sum is called as a </a:t>
            </a:r>
            <a:r>
              <a:rPr lang="en-US" sz="2800" b="1" dirty="0">
                <a:latin typeface="Times New Roman" panose="02020603050405020304" pitchFamily="18" charset="0"/>
                <a:cs typeface="Times New Roman" panose="02020603050405020304" pitchFamily="18" charset="0"/>
              </a:rPr>
              <a:t>fitness number</a:t>
            </a:r>
            <a:r>
              <a:rPr lang="en-US" sz="2800" dirty="0">
                <a:latin typeface="Times New Roman" panose="02020603050405020304" pitchFamily="18" charset="0"/>
                <a:cs typeface="Times New Roman" panose="02020603050405020304" pitchFamily="18" charset="0"/>
              </a:rPr>
              <a:t>.</a:t>
            </a:r>
          </a:p>
        </p:txBody>
      </p:sp>
      <p:pic>
        <p:nvPicPr>
          <p:cNvPr id="3074" name="Picture 2" descr="C:\Users\Smile\Desktop\informed-search-algorithms3.png"/>
          <p:cNvPicPr>
            <a:picLocks noChangeAspect="1" noChangeArrowheads="1"/>
          </p:cNvPicPr>
          <p:nvPr/>
        </p:nvPicPr>
        <p:blipFill>
          <a:blip r:embed="rId2" cstate="print"/>
          <a:srcRect/>
          <a:stretch>
            <a:fillRect/>
          </a:stretch>
        </p:blipFill>
        <p:spPr bwMode="auto">
          <a:xfrm>
            <a:off x="2279576" y="4509120"/>
            <a:ext cx="7056784" cy="1659159"/>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7408" y="620688"/>
            <a:ext cx="10801200" cy="4615815"/>
          </a:xfrm>
          <a:prstGeom prst="rect">
            <a:avLst/>
          </a:prstGeom>
        </p:spPr>
        <p:txBody>
          <a:bodyPr wrap="square">
            <a:spAutoFit/>
          </a:bodyPr>
          <a:lstStyle/>
          <a:p>
            <a:pPr algn="just">
              <a:lnSpc>
                <a:spcPct val="150000"/>
              </a:lnSpc>
            </a:pPr>
            <a:r>
              <a:rPr lang="en-US" sz="2800" b="1" dirty="0">
                <a:latin typeface="Times New Roman" panose="02020603050405020304" pitchFamily="18" charset="0"/>
                <a:cs typeface="Times New Roman" panose="02020603050405020304" pitchFamily="18" charset="0"/>
              </a:rPr>
              <a:t>Step 4:</a:t>
            </a:r>
            <a:r>
              <a:rPr lang="en-US" sz="2800" dirty="0">
                <a:latin typeface="Times New Roman" panose="02020603050405020304" pitchFamily="18" charset="0"/>
                <a:cs typeface="Times New Roman" panose="02020603050405020304" pitchFamily="18" charset="0"/>
              </a:rPr>
              <a:t> Expand node n and generate all of its successors, and put n into the closed list. For each successor n', check whether n' is already in the OPEN or CLOSED list, if not then compute evaluation function for n' and place into Open list.</a:t>
            </a:r>
          </a:p>
          <a:p>
            <a:pPr algn="just">
              <a:lnSpc>
                <a:spcPct val="150000"/>
              </a:lnSpc>
            </a:pPr>
            <a:r>
              <a:rPr lang="en-US" sz="2800" b="1" dirty="0">
                <a:latin typeface="Times New Roman" panose="02020603050405020304" pitchFamily="18" charset="0"/>
                <a:cs typeface="Times New Roman" panose="02020603050405020304" pitchFamily="18" charset="0"/>
              </a:rPr>
              <a:t>Step 5:</a:t>
            </a:r>
            <a:r>
              <a:rPr lang="en-US" sz="2800" dirty="0">
                <a:latin typeface="Times New Roman" panose="02020603050405020304" pitchFamily="18" charset="0"/>
                <a:cs typeface="Times New Roman" panose="02020603050405020304" pitchFamily="18" charset="0"/>
              </a:rPr>
              <a:t> Else if node n' is already in OPEN and CLOSED, then it should be attached to the back pointer which reflects the lowest g(n') value.</a:t>
            </a:r>
          </a:p>
          <a:p>
            <a:pPr algn="just">
              <a:lnSpc>
                <a:spcPct val="150000"/>
              </a:lnSpc>
            </a:pPr>
            <a:r>
              <a:rPr lang="en-US" sz="2800" b="1" dirty="0">
                <a:latin typeface="Times New Roman" panose="02020603050405020304" pitchFamily="18" charset="0"/>
                <a:cs typeface="Times New Roman" panose="02020603050405020304" pitchFamily="18" charset="0"/>
              </a:rPr>
              <a:t>Step 6:</a:t>
            </a:r>
            <a:r>
              <a:rPr lang="en-US" sz="2800" dirty="0">
                <a:latin typeface="Times New Roman" panose="02020603050405020304" pitchFamily="18" charset="0"/>
                <a:cs typeface="Times New Roman" panose="02020603050405020304" pitchFamily="18" charset="0"/>
              </a:rPr>
              <a:t> Return to </a:t>
            </a:r>
            <a:r>
              <a:rPr lang="en-US" sz="2800" b="1" dirty="0">
                <a:latin typeface="Times New Roman" panose="02020603050405020304" pitchFamily="18" charset="0"/>
                <a:cs typeface="Times New Roman" panose="02020603050405020304" pitchFamily="18" charset="0"/>
              </a:rPr>
              <a:t>Step 2</a:t>
            </a:r>
            <a:r>
              <a:rPr lang="en-US" sz="28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9034" y="333033"/>
            <a:ext cx="10801200" cy="5631180"/>
          </a:xfrm>
          <a:prstGeom prst="rect">
            <a:avLst/>
          </a:prstGeom>
        </p:spPr>
        <p:txBody>
          <a:bodyPr wrap="square">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Advantages:</a:t>
            </a:r>
          </a:p>
          <a:p>
            <a:pPr algn="just">
              <a:lnSpc>
                <a:spcPct val="150000"/>
              </a:lnSpc>
            </a:pPr>
            <a:r>
              <a:rPr lang="en-US" sz="2400" dirty="0">
                <a:latin typeface="Times New Roman" panose="02020603050405020304" pitchFamily="18" charset="0"/>
                <a:cs typeface="Times New Roman" panose="02020603050405020304" pitchFamily="18" charset="0"/>
              </a:rPr>
              <a:t>A* search algorithm is the best algorithm than other search algorithms.</a:t>
            </a:r>
          </a:p>
          <a:p>
            <a:pPr algn="just">
              <a:lnSpc>
                <a:spcPct val="150000"/>
              </a:lnSpc>
            </a:pPr>
            <a:r>
              <a:rPr lang="en-US" sz="2400" dirty="0">
                <a:latin typeface="Times New Roman" panose="02020603050405020304" pitchFamily="18" charset="0"/>
                <a:cs typeface="Times New Roman" panose="02020603050405020304" pitchFamily="18" charset="0"/>
              </a:rPr>
              <a:t>A* search algorithm is optimal and complete.</a:t>
            </a:r>
          </a:p>
          <a:p>
            <a:pPr algn="just">
              <a:lnSpc>
                <a:spcPct val="150000"/>
              </a:lnSpc>
            </a:pPr>
            <a:r>
              <a:rPr lang="en-US" sz="2400" dirty="0">
                <a:latin typeface="Times New Roman" panose="02020603050405020304" pitchFamily="18" charset="0"/>
                <a:cs typeface="Times New Roman" panose="02020603050405020304" pitchFamily="18" charset="0"/>
              </a:rPr>
              <a:t>This algorithm can solve every complex problems.</a:t>
            </a:r>
          </a:p>
          <a:p>
            <a:pPr algn="just">
              <a:lnSpc>
                <a:spcPct val="150000"/>
              </a:lnSpc>
            </a:pPr>
            <a:r>
              <a:rPr lang="en-US" sz="2400" b="1" dirty="0">
                <a:latin typeface="Times New Roman" panose="02020603050405020304" pitchFamily="18" charset="0"/>
                <a:cs typeface="Times New Roman" panose="02020603050405020304" pitchFamily="18" charset="0"/>
              </a:rPr>
              <a:t>Disadvantages:</a:t>
            </a:r>
          </a:p>
          <a:p>
            <a:pPr algn="just">
              <a:lnSpc>
                <a:spcPct val="150000"/>
              </a:lnSpc>
            </a:pPr>
            <a:r>
              <a:rPr lang="en-US" sz="2400" dirty="0">
                <a:latin typeface="Times New Roman" panose="02020603050405020304" pitchFamily="18" charset="0"/>
                <a:cs typeface="Times New Roman" panose="02020603050405020304" pitchFamily="18" charset="0"/>
              </a:rPr>
              <a:t>It does not always produce the shortest path as it mostly based on heuristics and approximation.</a:t>
            </a:r>
          </a:p>
          <a:p>
            <a:pPr algn="just">
              <a:lnSpc>
                <a:spcPct val="150000"/>
              </a:lnSpc>
            </a:pPr>
            <a:r>
              <a:rPr lang="en-US" sz="2400" dirty="0">
                <a:latin typeface="Times New Roman" panose="02020603050405020304" pitchFamily="18" charset="0"/>
                <a:cs typeface="Times New Roman" panose="02020603050405020304" pitchFamily="18" charset="0"/>
              </a:rPr>
              <a:t>A* search algorithm has some complexity issues.</a:t>
            </a:r>
          </a:p>
          <a:p>
            <a:pPr algn="just">
              <a:lnSpc>
                <a:spcPct val="150000"/>
              </a:lnSpc>
            </a:pPr>
            <a:r>
              <a:rPr lang="en-US" sz="2400" dirty="0">
                <a:latin typeface="Times New Roman" panose="02020603050405020304" pitchFamily="18" charset="0"/>
                <a:cs typeface="Times New Roman" panose="02020603050405020304" pitchFamily="18" charset="0"/>
              </a:rPr>
              <a:t>The main drawback of A* is memory requirement as it keeps all generated nodes in the memory, so it is not practical for various large-scale problems.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Smile\Desktop\informed-search-algorithms4.png"/>
          <p:cNvPicPr>
            <a:picLocks noChangeAspect="1" noChangeArrowheads="1"/>
          </p:cNvPicPr>
          <p:nvPr/>
        </p:nvPicPr>
        <p:blipFill>
          <a:blip r:embed="rId2" cstate="print"/>
          <a:srcRect/>
          <a:stretch>
            <a:fillRect/>
          </a:stretch>
        </p:blipFill>
        <p:spPr bwMode="auto">
          <a:xfrm>
            <a:off x="1236980" y="548640"/>
            <a:ext cx="10091420" cy="5738495"/>
          </a:xfrm>
          <a:prstGeom prst="rect">
            <a:avLst/>
          </a:prstGeom>
          <a:noFill/>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9416" y="476672"/>
            <a:ext cx="10657184" cy="4615815"/>
          </a:xfrm>
          <a:prstGeom prst="rect">
            <a:avLst/>
          </a:prstGeom>
        </p:spPr>
        <p:txBody>
          <a:bodyPr wrap="square">
            <a:spAutoFit/>
          </a:bodyPr>
          <a:lstStyle/>
          <a:p>
            <a:pPr>
              <a:lnSpc>
                <a:spcPct val="150000"/>
              </a:lnSpc>
            </a:pPr>
            <a:r>
              <a:rPr lang="en-US" sz="2800" b="1" dirty="0">
                <a:latin typeface="Times New Roman" panose="02020603050405020304" pitchFamily="18" charset="0"/>
                <a:cs typeface="Times New Roman" panose="02020603050405020304" pitchFamily="18" charset="0"/>
              </a:rPr>
              <a:t>Initialization:</a:t>
            </a:r>
            <a:r>
              <a:rPr lang="en-US" sz="2800" dirty="0">
                <a:latin typeface="Times New Roman" panose="02020603050405020304" pitchFamily="18" charset="0"/>
                <a:cs typeface="Times New Roman" panose="02020603050405020304" pitchFamily="18" charset="0"/>
              </a:rPr>
              <a:t> {(S, 5)}</a:t>
            </a:r>
          </a:p>
          <a:p>
            <a:pPr>
              <a:lnSpc>
                <a:spcPct val="150000"/>
              </a:lnSpc>
            </a:pPr>
            <a:r>
              <a:rPr lang="en-US" sz="2800" b="1" dirty="0">
                <a:latin typeface="Times New Roman" panose="02020603050405020304" pitchFamily="18" charset="0"/>
                <a:cs typeface="Times New Roman" panose="02020603050405020304" pitchFamily="18" charset="0"/>
              </a:rPr>
              <a:t>Iteration1:</a:t>
            </a:r>
            <a:r>
              <a:rPr lang="en-US" sz="2800" dirty="0">
                <a:latin typeface="Times New Roman" panose="02020603050405020304" pitchFamily="18" charset="0"/>
                <a:cs typeface="Times New Roman" panose="02020603050405020304" pitchFamily="18" charset="0"/>
              </a:rPr>
              <a:t> {(S--&gt; A, 4), (S--&gt;G, 10)}</a:t>
            </a:r>
          </a:p>
          <a:p>
            <a:pPr>
              <a:lnSpc>
                <a:spcPct val="150000"/>
              </a:lnSpc>
            </a:pPr>
            <a:r>
              <a:rPr lang="en-US" sz="2800" b="1" dirty="0">
                <a:latin typeface="Times New Roman" panose="02020603050405020304" pitchFamily="18" charset="0"/>
                <a:cs typeface="Times New Roman" panose="02020603050405020304" pitchFamily="18" charset="0"/>
              </a:rPr>
              <a:t>Iteration2:</a:t>
            </a:r>
            <a:r>
              <a:rPr lang="en-US" sz="2800" dirty="0">
                <a:latin typeface="Times New Roman" panose="02020603050405020304" pitchFamily="18" charset="0"/>
                <a:cs typeface="Times New Roman" panose="02020603050405020304" pitchFamily="18" charset="0"/>
              </a:rPr>
              <a:t> {(S--&gt; A--&gt;C, 4), (S--&gt; A--&gt;B, 7), (S--&gt;G, 10)}</a:t>
            </a:r>
          </a:p>
          <a:p>
            <a:pPr>
              <a:lnSpc>
                <a:spcPct val="150000"/>
              </a:lnSpc>
            </a:pPr>
            <a:r>
              <a:rPr lang="en-US" sz="2800" b="1" dirty="0">
                <a:latin typeface="Times New Roman" panose="02020603050405020304" pitchFamily="18" charset="0"/>
                <a:cs typeface="Times New Roman" panose="02020603050405020304" pitchFamily="18" charset="0"/>
              </a:rPr>
              <a:t>Iteration3:</a:t>
            </a:r>
            <a:r>
              <a:rPr lang="en-US" sz="2800" dirty="0">
                <a:latin typeface="Times New Roman" panose="02020603050405020304" pitchFamily="18" charset="0"/>
                <a:cs typeface="Times New Roman" panose="02020603050405020304" pitchFamily="18" charset="0"/>
              </a:rPr>
              <a:t> {(S--&gt; A--&gt;C---&gt;G, 6), (S--&gt; A--&gt;C---&gt;D, 11), (S--&gt; A--&gt;B, 7), (S--&gt;G, 10)}</a:t>
            </a:r>
          </a:p>
          <a:p>
            <a:pPr>
              <a:lnSpc>
                <a:spcPct val="150000"/>
              </a:lnSpc>
            </a:pPr>
            <a:r>
              <a:rPr lang="en-US" sz="2800" b="1" dirty="0">
                <a:latin typeface="Times New Roman" panose="02020603050405020304" pitchFamily="18" charset="0"/>
                <a:cs typeface="Times New Roman" panose="02020603050405020304" pitchFamily="18" charset="0"/>
              </a:rPr>
              <a:t>Iteration 4</a:t>
            </a:r>
            <a:r>
              <a:rPr lang="en-US" sz="2800" dirty="0">
                <a:latin typeface="Times New Roman" panose="02020603050405020304" pitchFamily="18" charset="0"/>
                <a:cs typeface="Times New Roman" panose="02020603050405020304" pitchFamily="18" charset="0"/>
              </a:rPr>
              <a:t> will give the final result, as </a:t>
            </a:r>
            <a:r>
              <a:rPr lang="en-US" sz="2800" b="1" dirty="0">
                <a:latin typeface="Times New Roman" panose="02020603050405020304" pitchFamily="18" charset="0"/>
                <a:cs typeface="Times New Roman" panose="02020603050405020304" pitchFamily="18" charset="0"/>
              </a:rPr>
              <a:t>S---&gt;A---&gt;C---&gt;G</a:t>
            </a:r>
            <a:r>
              <a:rPr lang="en-US" sz="2800" dirty="0">
                <a:latin typeface="Times New Roman" panose="02020603050405020304" pitchFamily="18" charset="0"/>
                <a:cs typeface="Times New Roman" panose="02020603050405020304" pitchFamily="18" charset="0"/>
              </a:rPr>
              <a:t> it provides the optimal path with cost 6.</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7368" y="548680"/>
            <a:ext cx="11305256" cy="5262245"/>
          </a:xfrm>
          <a:prstGeom prst="rect">
            <a:avLst/>
          </a:prstGeom>
        </p:spPr>
        <p:txBody>
          <a:bodyPr wrap="square">
            <a:spAutoFit/>
          </a:bodyPr>
          <a:lstStyle/>
          <a:p>
            <a:pPr algn="just">
              <a:lnSpc>
                <a:spcPct val="150000"/>
              </a:lnSpc>
            </a:pPr>
            <a:r>
              <a:rPr lang="en-US" sz="2800" b="1" dirty="0">
                <a:latin typeface="Times New Roman" panose="02020603050405020304" pitchFamily="18" charset="0"/>
                <a:cs typeface="Times New Roman" panose="02020603050405020304" pitchFamily="18" charset="0"/>
              </a:rPr>
              <a:t>Points to remember:</a:t>
            </a:r>
            <a:endParaRPr lang="en-US" sz="2800" dirty="0">
              <a:latin typeface="Times New Roman" panose="02020603050405020304" pitchFamily="18" charset="0"/>
              <a:cs typeface="Times New Roman" panose="02020603050405020304" pitchFamily="18" charset="0"/>
            </a:endParaRPr>
          </a:p>
          <a:p>
            <a:pPr algn="just">
              <a:lnSpc>
                <a:spcPct val="150000"/>
              </a:lnSpc>
            </a:pPr>
            <a:r>
              <a:rPr lang="en-US" sz="2800" dirty="0">
                <a:latin typeface="Times New Roman" panose="02020603050405020304" pitchFamily="18" charset="0"/>
                <a:cs typeface="Times New Roman" panose="02020603050405020304" pitchFamily="18" charset="0"/>
              </a:rPr>
              <a:t>A* algorithm returns the path which occurred first, and it does not search for all remaining paths.</a:t>
            </a:r>
          </a:p>
          <a:p>
            <a:pPr algn="just">
              <a:lnSpc>
                <a:spcPct val="150000"/>
              </a:lnSpc>
            </a:pPr>
            <a:r>
              <a:rPr lang="en-US" sz="2800" dirty="0">
                <a:latin typeface="Times New Roman" panose="02020603050405020304" pitchFamily="18" charset="0"/>
                <a:cs typeface="Times New Roman" panose="02020603050405020304" pitchFamily="18" charset="0"/>
              </a:rPr>
              <a:t>The efficiency of A* algorithm depends on the quality of heuristic.</a:t>
            </a:r>
          </a:p>
          <a:p>
            <a:pPr algn="just">
              <a:lnSpc>
                <a:spcPct val="150000"/>
              </a:lnSpc>
            </a:pPr>
            <a:r>
              <a:rPr lang="en-US" sz="2800" dirty="0">
                <a:latin typeface="Times New Roman" panose="02020603050405020304" pitchFamily="18" charset="0"/>
                <a:cs typeface="Times New Roman" panose="02020603050405020304" pitchFamily="18" charset="0"/>
              </a:rPr>
              <a:t>A* algorithm expands all nodes which satisfy the condition f(n)</a:t>
            </a:r>
          </a:p>
          <a:p>
            <a:pPr algn="just">
              <a:lnSpc>
                <a:spcPct val="150000"/>
              </a:lnSpc>
            </a:pPr>
            <a:r>
              <a:rPr lang="en-US" sz="2800" b="1" dirty="0">
                <a:latin typeface="Times New Roman" panose="02020603050405020304" pitchFamily="18" charset="0"/>
                <a:cs typeface="Times New Roman" panose="02020603050405020304" pitchFamily="18" charset="0"/>
              </a:rPr>
              <a:t>Complete:</a:t>
            </a:r>
            <a:r>
              <a:rPr lang="en-US" sz="2800" dirty="0">
                <a:latin typeface="Times New Roman" panose="02020603050405020304" pitchFamily="18" charset="0"/>
                <a:cs typeface="Times New Roman" panose="02020603050405020304" pitchFamily="18" charset="0"/>
              </a:rPr>
              <a:t> A* algorithm is complete as long as:</a:t>
            </a:r>
          </a:p>
          <a:p>
            <a:pPr algn="just">
              <a:lnSpc>
                <a:spcPct val="150000"/>
              </a:lnSpc>
            </a:pPr>
            <a:r>
              <a:rPr lang="en-US" sz="2800" dirty="0">
                <a:latin typeface="Times New Roman" panose="02020603050405020304" pitchFamily="18" charset="0"/>
                <a:cs typeface="Times New Roman" panose="02020603050405020304" pitchFamily="18" charset="0"/>
              </a:rPr>
              <a:t>Branching factor is finite.</a:t>
            </a:r>
          </a:p>
          <a:p>
            <a:pPr algn="just">
              <a:lnSpc>
                <a:spcPct val="150000"/>
              </a:lnSpc>
            </a:pPr>
            <a:r>
              <a:rPr lang="en-US" sz="2800" dirty="0">
                <a:latin typeface="Times New Roman" panose="02020603050405020304" pitchFamily="18" charset="0"/>
                <a:cs typeface="Times New Roman" panose="02020603050405020304" pitchFamily="18" charset="0"/>
              </a:rPr>
              <a:t>Cost at every action is fixed.</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9376" y="1125007"/>
            <a:ext cx="11161240" cy="4492625"/>
          </a:xfrm>
          <a:prstGeom prst="rect">
            <a:avLst/>
          </a:prstGeom>
        </p:spPr>
        <p:txBody>
          <a:bodyPr wrap="square">
            <a:spAutoFit/>
          </a:bodyPr>
          <a:lstStyle/>
          <a:p>
            <a:pPr algn="just"/>
            <a:r>
              <a:rPr lang="en-US" sz="2600" b="1" dirty="0">
                <a:latin typeface="Times New Roman" panose="02020603050405020304" pitchFamily="18" charset="0"/>
                <a:cs typeface="Times New Roman" panose="02020603050405020304" pitchFamily="18" charset="0"/>
              </a:rPr>
              <a:t>Optimal:</a:t>
            </a:r>
            <a:r>
              <a:rPr lang="en-US" sz="2600" dirty="0">
                <a:latin typeface="Times New Roman" panose="02020603050405020304" pitchFamily="18" charset="0"/>
                <a:cs typeface="Times New Roman" panose="02020603050405020304" pitchFamily="18" charset="0"/>
              </a:rPr>
              <a:t> A* search algorithm is optimal if it follows below two conditions:</a:t>
            </a:r>
          </a:p>
          <a:p>
            <a:pPr algn="just"/>
            <a:r>
              <a:rPr lang="en-US" sz="2600" b="1" dirty="0">
                <a:latin typeface="Times New Roman" panose="02020603050405020304" pitchFamily="18" charset="0"/>
                <a:cs typeface="Times New Roman" panose="02020603050405020304" pitchFamily="18" charset="0"/>
              </a:rPr>
              <a:t>Admissible:</a:t>
            </a:r>
            <a:r>
              <a:rPr lang="en-US" sz="2600" dirty="0">
                <a:latin typeface="Times New Roman" panose="02020603050405020304" pitchFamily="18" charset="0"/>
                <a:cs typeface="Times New Roman" panose="02020603050405020304" pitchFamily="18" charset="0"/>
              </a:rPr>
              <a:t> the first condition requires for optimality is that h(n) should be an admissible heuristic for A* tree search. An admissible heuristic is optimistic in nature.</a:t>
            </a:r>
          </a:p>
          <a:p>
            <a:pPr algn="just"/>
            <a:r>
              <a:rPr lang="en-US" sz="2600" b="1" dirty="0">
                <a:latin typeface="Times New Roman" panose="02020603050405020304" pitchFamily="18" charset="0"/>
                <a:cs typeface="Times New Roman" panose="02020603050405020304" pitchFamily="18" charset="0"/>
              </a:rPr>
              <a:t>Consistency:</a:t>
            </a:r>
            <a:r>
              <a:rPr lang="en-US" sz="2600" dirty="0">
                <a:latin typeface="Times New Roman" panose="02020603050405020304" pitchFamily="18" charset="0"/>
                <a:cs typeface="Times New Roman" panose="02020603050405020304" pitchFamily="18" charset="0"/>
              </a:rPr>
              <a:t> Second required condition is consistency for only A* graph-search.</a:t>
            </a:r>
          </a:p>
          <a:p>
            <a:pPr algn="just"/>
            <a:r>
              <a:rPr lang="en-US" sz="2600" dirty="0">
                <a:latin typeface="Times New Roman" panose="02020603050405020304" pitchFamily="18" charset="0"/>
                <a:cs typeface="Times New Roman" panose="02020603050405020304" pitchFamily="18" charset="0"/>
              </a:rPr>
              <a:t>If the heuristic function is admissible, then A* tree search will always find the least cost path.</a:t>
            </a:r>
          </a:p>
          <a:p>
            <a:pPr algn="just"/>
            <a:r>
              <a:rPr lang="en-US" sz="2600" b="1" dirty="0">
                <a:latin typeface="Times New Roman" panose="02020603050405020304" pitchFamily="18" charset="0"/>
                <a:cs typeface="Times New Roman" panose="02020603050405020304" pitchFamily="18" charset="0"/>
              </a:rPr>
              <a:t>Time Complexity:</a:t>
            </a:r>
            <a:r>
              <a:rPr lang="en-US" sz="2600" dirty="0">
                <a:latin typeface="Times New Roman" panose="02020603050405020304" pitchFamily="18" charset="0"/>
                <a:cs typeface="Times New Roman" panose="02020603050405020304" pitchFamily="18" charset="0"/>
              </a:rPr>
              <a:t> The time complexity of A* search algorithm depends on heuristic function, and the number of nodes expanded is exponential to the depth of solution d. So the time complexity is O(</a:t>
            </a:r>
            <a:r>
              <a:rPr lang="en-US" sz="2600" dirty="0" err="1">
                <a:latin typeface="Times New Roman" panose="02020603050405020304" pitchFamily="18" charset="0"/>
                <a:cs typeface="Times New Roman" panose="02020603050405020304" pitchFamily="18" charset="0"/>
              </a:rPr>
              <a:t>b^d</a:t>
            </a:r>
            <a:r>
              <a:rPr lang="en-US" sz="2600" dirty="0">
                <a:latin typeface="Times New Roman" panose="02020603050405020304" pitchFamily="18" charset="0"/>
                <a:cs typeface="Times New Roman" panose="02020603050405020304" pitchFamily="18" charset="0"/>
              </a:rPr>
              <a:t>), where b is the branching factor.</a:t>
            </a:r>
          </a:p>
          <a:p>
            <a:pPr algn="just"/>
            <a:r>
              <a:rPr lang="en-US" sz="2600" b="1" dirty="0">
                <a:latin typeface="Times New Roman" panose="02020603050405020304" pitchFamily="18" charset="0"/>
                <a:cs typeface="Times New Roman" panose="02020603050405020304" pitchFamily="18" charset="0"/>
              </a:rPr>
              <a:t>Space Complexity:</a:t>
            </a:r>
            <a:r>
              <a:rPr lang="en-US" sz="2600" dirty="0">
                <a:latin typeface="Times New Roman" panose="02020603050405020304" pitchFamily="18" charset="0"/>
                <a:cs typeface="Times New Roman" panose="02020603050405020304" pitchFamily="18" charset="0"/>
              </a:rPr>
              <a:t> The space complexity of A* search algorithm is </a:t>
            </a:r>
            <a:r>
              <a:rPr lang="en-US" sz="2600" b="1" dirty="0">
                <a:latin typeface="Times New Roman" panose="02020603050405020304" pitchFamily="18" charset="0"/>
                <a:cs typeface="Times New Roman" panose="02020603050405020304" pitchFamily="18" charset="0"/>
              </a:rPr>
              <a:t>O(</a:t>
            </a:r>
            <a:r>
              <a:rPr lang="en-US" sz="2600" b="1" dirty="0" err="1">
                <a:latin typeface="Times New Roman" panose="02020603050405020304" pitchFamily="18" charset="0"/>
                <a:cs typeface="Times New Roman" panose="02020603050405020304" pitchFamily="18" charset="0"/>
              </a:rPr>
              <a:t>b^d</a:t>
            </a:r>
            <a:r>
              <a:rPr lang="en-US" sz="2600" b="1" dirty="0">
                <a:latin typeface="Times New Roman" panose="02020603050405020304" pitchFamily="18" charset="0"/>
                <a:cs typeface="Times New Roman" panose="02020603050405020304" pitchFamily="18" charset="0"/>
              </a:rPr>
              <a:t>)</a:t>
            </a:r>
            <a:endParaRPr lang="en-US" sz="2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7408" y="620688"/>
            <a:ext cx="10729192" cy="6554470"/>
          </a:xfrm>
          <a:prstGeom prst="rect">
            <a:avLst/>
          </a:prstGeom>
        </p:spPr>
        <p:txBody>
          <a:bodyPr wrap="square">
            <a:spAutoFit/>
          </a:bodyPr>
          <a:lstStyle/>
          <a:p>
            <a:pPr algn="just">
              <a:lnSpc>
                <a:spcPct val="150000"/>
              </a:lnSpc>
            </a:pPr>
            <a:r>
              <a:rPr lang="en-US" sz="2800" b="1" u="sng" dirty="0">
                <a:latin typeface="Times New Roman" panose="02020603050405020304" pitchFamily="18" charset="0"/>
                <a:cs typeface="Times New Roman" panose="02020603050405020304" pitchFamily="18" charset="0"/>
              </a:rPr>
              <a:t>Problem Reduction with AO* Algorithm</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When a problem can be divided into a set of sub problems, where each sub problem can be solved separately and a combination of these will be a solution, AND-OR graphs or AND - OR trees are used for representing the solution. </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The decomposition of the problem or problem reduction generates AND arcs. </a:t>
            </a:r>
          </a:p>
          <a:p>
            <a:pPr algn="just">
              <a:lnSpc>
                <a:spcPct val="150000"/>
              </a:lnSpc>
              <a:buFont typeface="Arial" panose="020B0604020202020204" pitchFamily="34" charset="0"/>
              <a:buChar char="•"/>
            </a:pPr>
            <a:r>
              <a:rPr lang="en-US" sz="2800" dirty="0" err="1">
                <a:latin typeface="Times New Roman" panose="02020603050405020304" pitchFamily="18" charset="0"/>
                <a:cs typeface="Times New Roman" panose="02020603050405020304" pitchFamily="18" charset="0"/>
              </a:rPr>
              <a:t>Marelli</a:t>
            </a:r>
            <a:r>
              <a:rPr lang="en-US" sz="2800" dirty="0">
                <a:latin typeface="Times New Roman" panose="02020603050405020304" pitchFamily="18" charset="0"/>
                <a:cs typeface="Times New Roman" panose="02020603050405020304" pitchFamily="18" charset="0"/>
              </a:rPr>
              <a:t> and </a:t>
            </a:r>
            <a:r>
              <a:rPr lang="en-US" sz="2800" dirty="0" err="1">
                <a:latin typeface="Times New Roman" panose="02020603050405020304" pitchFamily="18" charset="0"/>
                <a:cs typeface="Times New Roman" panose="02020603050405020304" pitchFamily="18" charset="0"/>
              </a:rPr>
              <a:t>Montanani</a:t>
            </a:r>
            <a:r>
              <a:rPr lang="en-US" sz="2800" dirty="0">
                <a:latin typeface="Times New Roman" panose="02020603050405020304" pitchFamily="18" charset="0"/>
                <a:cs typeface="Times New Roman" panose="02020603050405020304" pitchFamily="18" charset="0"/>
              </a:rPr>
              <a:t> [1973],[1978] and </a:t>
            </a:r>
            <a:r>
              <a:rPr lang="en-US" sz="2800" dirty="0" err="1">
                <a:latin typeface="Times New Roman" panose="02020603050405020304" pitchFamily="18" charset="0"/>
                <a:cs typeface="Times New Roman" panose="02020603050405020304" pitchFamily="18" charset="0"/>
              </a:rPr>
              <a:t>Nilson</a:t>
            </a:r>
            <a:r>
              <a:rPr lang="en-US" sz="2800" dirty="0">
                <a:latin typeface="Times New Roman" panose="02020603050405020304" pitchFamily="18" charset="0"/>
                <a:cs typeface="Times New Roman" panose="02020603050405020304" pitchFamily="18" charset="0"/>
              </a:rPr>
              <a:t>[1980] proposed.</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Nilson</a:t>
            </a:r>
            <a:r>
              <a:rPr lang="en-US" sz="2800" dirty="0">
                <a:latin typeface="Times New Roman" panose="02020603050405020304" pitchFamily="18" charset="0"/>
                <a:cs typeface="Times New Roman" panose="02020603050405020304" pitchFamily="18" charset="0"/>
              </a:rPr>
              <a:t> calls it AO* Algorithm.</a:t>
            </a:r>
          </a:p>
          <a:p>
            <a:pPr algn="just">
              <a:lnSpc>
                <a:spcPct val="150000"/>
              </a:lnSpc>
            </a:pP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911225" y="476885"/>
            <a:ext cx="10841355" cy="4615815"/>
          </a:xfrm>
          <a:prstGeom prst="rect">
            <a:avLst/>
          </a:prstGeom>
          <a:noFill/>
        </p:spPr>
        <p:txBody>
          <a:bodyPr wrap="square" rtlCol="0" anchor="t">
            <a:spAutoFit/>
          </a:bodyPr>
          <a:lstStyle/>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sym typeface="+mn-ea"/>
              </a:rPr>
              <a:t>  One AND arc may point to any number of successor nodes.</a:t>
            </a:r>
            <a:endParaRPr lang="en-US" sz="2800"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sym typeface="+mn-ea"/>
              </a:rPr>
              <a:t>  All these must be solved so that the arc will rise to many arcs, indicating several possible solutions. </a:t>
            </a:r>
            <a:endParaRPr lang="en-US" sz="2800"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sym typeface="+mn-ea"/>
              </a:rPr>
              <a:t>  Hence the graph is known as AND - OR instead of AND. Figure shows an AND - OR graph.</a:t>
            </a:r>
            <a:endParaRPr lang="en-US" sz="2800"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sym typeface="+mn-ea"/>
              </a:rPr>
              <a:t> </a:t>
            </a:r>
            <a:r>
              <a:rPr lang="en-US" sz="2800" dirty="0">
                <a:solidFill>
                  <a:srgbClr val="C00000"/>
                </a:solidFill>
                <a:latin typeface="Times New Roman" panose="02020603050405020304" pitchFamily="18" charset="0"/>
                <a:cs typeface="Times New Roman" panose="02020603050405020304" pitchFamily="18" charset="0"/>
                <a:sym typeface="+mn-ea"/>
              </a:rPr>
              <a:t>OR node represents a choice between possible decomposition</a:t>
            </a:r>
            <a:endParaRPr lang="en-US" sz="2800" dirty="0">
              <a:solidFill>
                <a:srgbClr val="C00000"/>
              </a:solidFill>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sz="2800" dirty="0">
                <a:solidFill>
                  <a:srgbClr val="C00000"/>
                </a:solidFill>
                <a:latin typeface="Times New Roman" panose="02020603050405020304" pitchFamily="18" charset="0"/>
                <a:cs typeface="Times New Roman" panose="02020603050405020304" pitchFamily="18" charset="0"/>
                <a:sym typeface="+mn-ea"/>
              </a:rPr>
              <a:t> AND node represents a given decomposition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704215" y="655320"/>
            <a:ext cx="11039475" cy="5114925"/>
          </a:xfrm>
          <a:prstGeom prst="rect">
            <a:avLst/>
          </a:prstGeom>
        </p:spPr>
        <p:txBody>
          <a:bodyPr wrap="square">
            <a:noAutofit/>
          </a:bodyPr>
          <a:lstStyle/>
          <a:p>
            <a:pPr marL="0" indent="0" algn="l" fontAlgn="base">
              <a:spcBef>
                <a:spcPct val="0"/>
              </a:spcBef>
              <a:spcAft>
                <a:spcPct val="0"/>
              </a:spcAft>
            </a:pPr>
            <a:r>
              <a:rPr sz="2800" b="1" i="0">
                <a:solidFill>
                  <a:srgbClr val="FF0000"/>
                </a:solidFill>
                <a:latin typeface="Times New Roman" panose="02020603050405020304" pitchFamily="18" charset="0"/>
                <a:ea typeface="Source Sans 3"/>
                <a:cs typeface="Times New Roman" panose="02020603050405020304" pitchFamily="18" charset="0"/>
              </a:rPr>
              <a:t>Memory-bounded search ( Memory Bounded Heuristic Search ) in AI</a:t>
            </a:r>
          </a:p>
          <a:p>
            <a:pPr marL="0" indent="0" algn="l" fontAlgn="base">
              <a:spcBef>
                <a:spcPct val="0"/>
              </a:spcBef>
              <a:spcAft>
                <a:spcPct val="0"/>
              </a:spcAft>
            </a:pPr>
            <a:endParaRPr sz="1600" b="1" i="0">
              <a:solidFill>
                <a:srgbClr val="273239"/>
              </a:solidFill>
              <a:latin typeface="Source Sans 3"/>
              <a:ea typeface="Source Sans 3"/>
            </a:endParaRPr>
          </a:p>
          <a:p>
            <a:pPr marL="0" indent="0" algn="just" fontAlgn="base">
              <a:spcBef>
                <a:spcPct val="0"/>
              </a:spcBef>
              <a:spcAft>
                <a:spcPct val="0"/>
              </a:spcAft>
            </a:pPr>
            <a:r>
              <a:rPr sz="2000" i="0">
                <a:solidFill>
                  <a:srgbClr val="273239"/>
                </a:solidFill>
                <a:latin typeface="Times New Roman" panose="02020603050405020304" pitchFamily="18" charset="0"/>
                <a:ea typeface="Source Sans 3"/>
                <a:cs typeface="Times New Roman" panose="02020603050405020304" pitchFamily="18" charset="0"/>
              </a:rPr>
              <a:t>Search algorithms are fundamental techniques in the field of artificial intelligence (AI) that let agents or systems solve challenging issues. Memory-bounded search strategies are necessary because AI systems often encounter constrained memory resources in real-world circumstances. The notion of memory-bound search, often referred to as memory-bounded heuristic search, is examined in this article along with its importance in AI applications. We will review how AI effectively manages search jobs when memory resources are limited and provide a useful how-to manual for putting memory-bound search algorithms into practice.</a:t>
            </a:r>
          </a:p>
          <a:p>
            <a:pPr marL="0" indent="0" algn="just" fontAlgn="base">
              <a:spcBef>
                <a:spcPct val="0"/>
              </a:spcBef>
              <a:spcAft>
                <a:spcPct val="0"/>
              </a:spcAft>
            </a:pPr>
            <a:endParaRPr sz="2000" i="0">
              <a:solidFill>
                <a:srgbClr val="273239"/>
              </a:solidFill>
              <a:latin typeface="Times New Roman" panose="02020603050405020304" pitchFamily="18" charset="0"/>
              <a:ea typeface="Source Sans 3"/>
              <a:cs typeface="Times New Roman" panose="02020603050405020304" pitchFamily="18" charset="0"/>
            </a:endParaRPr>
          </a:p>
          <a:p>
            <a:pPr marL="0" indent="0" algn="just" fontAlgn="base">
              <a:spcBef>
                <a:spcPct val="0"/>
              </a:spcBef>
              <a:spcAft>
                <a:spcPct val="0"/>
              </a:spcAft>
            </a:pPr>
            <a:r>
              <a:rPr sz="2000" i="0">
                <a:solidFill>
                  <a:srgbClr val="273239"/>
                </a:solidFill>
                <a:latin typeface="Times New Roman" panose="02020603050405020304" pitchFamily="18" charset="0"/>
                <a:ea typeface="Source Sans 3"/>
                <a:cs typeface="Times New Roman" panose="02020603050405020304" pitchFamily="18" charset="0"/>
              </a:rPr>
              <a:t>Conventional search methods, such as the A* or Dijkstra's algorithms, sometimes require infinite memory, which may not be realistic in many circumstances.</a:t>
            </a:r>
          </a:p>
          <a:p>
            <a:pPr marL="0" indent="0" algn="just" fontAlgn="base">
              <a:spcBef>
                <a:spcPct val="0"/>
              </a:spcBef>
              <a:spcAft>
                <a:spcPct val="0"/>
              </a:spcAft>
            </a:pPr>
            <a:r>
              <a:rPr lang="en-US" sz="2000" i="0">
                <a:solidFill>
                  <a:srgbClr val="273239"/>
                </a:solidFill>
                <a:latin typeface="Times New Roman" panose="02020603050405020304" pitchFamily="18" charset="0"/>
                <a:ea typeface="Source Sans 3"/>
                <a:cs typeface="Times New Roman" panose="02020603050405020304" pitchFamily="18" charset="0"/>
              </a:rPr>
              <a:t> </a:t>
            </a:r>
            <a:r>
              <a:rPr sz="2000" i="0">
                <a:solidFill>
                  <a:srgbClr val="273239"/>
                </a:solidFill>
                <a:latin typeface="Times New Roman" panose="02020603050405020304" pitchFamily="18" charset="0"/>
                <a:ea typeface="Source Sans 3"/>
                <a:cs typeface="Times New Roman" panose="02020603050405020304" pitchFamily="18" charset="0"/>
              </a:rPr>
              <a:t>Memory-bound search algorithms, on the other hand, are created with the limitation of finite memory in mind. The goal of these algorithms is to effectively use the memory that is available while finding optimum or nearly optimal solutions. They do this by deciding which information to keep and retrieve strategically, as well as by using heuristic functions to direct the search process.</a:t>
            </a:r>
          </a:p>
          <a:p>
            <a:pPr marL="0" indent="0" algn="just" fontAlgn="base">
              <a:spcBef>
                <a:spcPct val="0"/>
              </a:spcBef>
              <a:spcAft>
                <a:spcPct val="0"/>
              </a:spcAft>
            </a:pPr>
            <a:endParaRPr sz="2000" i="0">
              <a:solidFill>
                <a:srgbClr val="273239"/>
              </a:solidFill>
              <a:latin typeface="Times New Roman" panose="02020603050405020304" pitchFamily="18" charset="0"/>
              <a:ea typeface="Source Sans 3"/>
              <a:cs typeface="Times New Roman" panose="02020603050405020304" pitchFamily="18" charset="0"/>
            </a:endParaRPr>
          </a:p>
          <a:p>
            <a:pPr marL="0" indent="0" algn="just" fontAlgn="base">
              <a:spcBef>
                <a:spcPct val="0"/>
              </a:spcBef>
              <a:spcAft>
                <a:spcPct val="0"/>
              </a:spcAft>
            </a:pPr>
            <a:endParaRPr sz="2000" i="0">
              <a:solidFill>
                <a:srgbClr val="273239"/>
              </a:solidFill>
              <a:latin typeface="Times New Roman" panose="02020603050405020304" pitchFamily="18" charset="0"/>
              <a:ea typeface="Source Sans 3"/>
              <a:cs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638810" y="636905"/>
            <a:ext cx="10996295" cy="5619115"/>
          </a:xfrm>
          <a:prstGeom prst="rect">
            <a:avLst/>
          </a:prstGeom>
        </p:spPr>
        <p:txBody>
          <a:bodyPr wrap="square">
            <a:noAutofit/>
          </a:bodyPr>
          <a:lstStyle/>
          <a:p>
            <a:pPr marL="0" indent="0" algn="ctr" fontAlgn="base">
              <a:spcBef>
                <a:spcPct val="0"/>
              </a:spcBef>
              <a:spcAft>
                <a:spcPct val="0"/>
              </a:spcAft>
            </a:pPr>
            <a:r>
              <a:rPr sz="2800" b="1" i="0">
                <a:solidFill>
                  <a:srgbClr val="FF0000"/>
                </a:solidFill>
                <a:latin typeface="Times New Roman" panose="02020603050405020304" pitchFamily="18" charset="0"/>
                <a:ea typeface="Nunito"/>
                <a:cs typeface="Times New Roman" panose="02020603050405020304" pitchFamily="18" charset="0"/>
              </a:rPr>
              <a:t>Benefits of Memory-Bound Search</a:t>
            </a:r>
          </a:p>
          <a:p>
            <a:pPr marL="0" indent="0" algn="ctr" fontAlgn="base">
              <a:spcBef>
                <a:spcPct val="0"/>
              </a:spcBef>
              <a:spcAft>
                <a:spcPct val="0"/>
              </a:spcAft>
            </a:pPr>
            <a:endParaRPr sz="2800" b="1" i="0">
              <a:solidFill>
                <a:srgbClr val="FF0000"/>
              </a:solidFill>
              <a:latin typeface="Times New Roman" panose="02020603050405020304" pitchFamily="18" charset="0"/>
              <a:ea typeface="Nunito"/>
              <a:cs typeface="Times New Roman" panose="02020603050405020304" pitchFamily="18" charset="0"/>
            </a:endParaRPr>
          </a:p>
          <a:p>
            <a:pPr marL="0" indent="0" algn="just" fontAlgn="base">
              <a:spcBef>
                <a:spcPct val="0"/>
              </a:spcBef>
              <a:spcAft>
                <a:spcPct val="0"/>
              </a:spcAft>
              <a:buAutoNum type="arabicPeriod"/>
            </a:pPr>
            <a:r>
              <a:rPr sz="2400" b="1" i="0">
                <a:solidFill>
                  <a:srgbClr val="273239"/>
                </a:solidFill>
                <a:latin typeface="Times New Roman" panose="02020603050405020304" pitchFamily="18" charset="0"/>
                <a:ea typeface="Nunito"/>
                <a:cs typeface="Times New Roman" panose="02020603050405020304" pitchFamily="18" charset="0"/>
              </a:rPr>
              <a:t> </a:t>
            </a:r>
            <a:r>
              <a:rPr sz="2400" b="0" i="0">
                <a:solidFill>
                  <a:srgbClr val="273239"/>
                </a:solidFill>
                <a:latin typeface="Times New Roman" panose="02020603050405020304" pitchFamily="18" charset="0"/>
                <a:ea typeface="Nunito"/>
                <a:cs typeface="Times New Roman" panose="02020603050405020304" pitchFamily="18" charset="0"/>
              </a:rPr>
              <a:t>Memory-bound search algorithms perform well when memory is limited. They don't need a lot of memory to hold the whole search space or exploration history to locate solutions.</a:t>
            </a:r>
          </a:p>
          <a:p>
            <a:pPr marL="0" indent="0" algn="just" fontAlgn="base">
              <a:spcBef>
                <a:spcPct val="0"/>
              </a:spcBef>
              <a:spcAft>
                <a:spcPct val="0"/>
              </a:spcAft>
              <a:buAutoNum type="arabicPeriod"/>
            </a:pPr>
            <a:r>
              <a:rPr sz="2400" b="0" i="0">
                <a:solidFill>
                  <a:srgbClr val="273239"/>
                </a:solidFill>
                <a:latin typeface="Times New Roman" panose="02020603050405020304" pitchFamily="18" charset="0"/>
                <a:ea typeface="Nunito"/>
                <a:cs typeface="Times New Roman" panose="02020603050405020304" pitchFamily="18" charset="0"/>
              </a:rPr>
              <a:t> Memory-bound search algorithms are useful for a variety of AI applications, particularly those integrated into hardware with constrained memory. IoT devices, robots, autonomous cars, and</a:t>
            </a:r>
            <a:r>
              <a:rPr sz="2400" b="0" i="0" u="sng">
                <a:solidFill>
                  <a:srgbClr val="273239"/>
                </a:solidFill>
                <a:latin typeface="Times New Roman" panose="02020603050405020304" pitchFamily="18" charset="0"/>
                <a:ea typeface="Nunito"/>
                <a:cs typeface="Times New Roman" panose="02020603050405020304" pitchFamily="18" charset="0"/>
                <a:hlinkClick r:id="rId2"/>
              </a:rPr>
              <a:t> real-time systems</a:t>
            </a:r>
            <a:r>
              <a:rPr sz="2400" b="0" i="0">
                <a:solidFill>
                  <a:srgbClr val="273239"/>
                </a:solidFill>
                <a:latin typeface="Times New Roman" panose="02020603050405020304" pitchFamily="18" charset="0"/>
                <a:ea typeface="Nunito"/>
                <a:cs typeface="Times New Roman" panose="02020603050405020304" pitchFamily="18" charset="0"/>
              </a:rPr>
              <a:t> fall under this category.</a:t>
            </a:r>
          </a:p>
          <a:p>
            <a:pPr marL="0" indent="0" algn="just" fontAlgn="base">
              <a:spcBef>
                <a:spcPct val="0"/>
              </a:spcBef>
              <a:spcAft>
                <a:spcPct val="0"/>
              </a:spcAft>
              <a:buAutoNum type="arabicPeriod"/>
            </a:pPr>
            <a:r>
              <a:rPr sz="2400" b="0" i="0">
                <a:solidFill>
                  <a:srgbClr val="273239"/>
                </a:solidFill>
                <a:latin typeface="Times New Roman" panose="02020603050405020304" pitchFamily="18" charset="0"/>
                <a:ea typeface="Nunito"/>
                <a:cs typeface="Times New Roman" panose="02020603050405020304" pitchFamily="18" charset="0"/>
              </a:rPr>
              <a:t> Memory-bound search looks for the optimal answer given the memory restrictions. These algorithms may often effectively provide optimum or almost ideal answers by using well-informed heuristics.</a:t>
            </a:r>
          </a:p>
          <a:p>
            <a:pPr marL="0" indent="0" algn="just" fontAlgn="base">
              <a:spcBef>
                <a:spcPct val="0"/>
              </a:spcBef>
              <a:spcAft>
                <a:spcPct val="0"/>
              </a:spcAft>
              <a:buAutoNum type="arabicPeriod"/>
            </a:pPr>
            <a:r>
              <a:rPr sz="2400" b="0" i="0">
                <a:solidFill>
                  <a:srgbClr val="273239"/>
                </a:solidFill>
                <a:latin typeface="Times New Roman" panose="02020603050405020304" pitchFamily="18" charset="0"/>
                <a:ea typeface="Nunito"/>
                <a:cs typeface="Times New Roman" panose="02020603050405020304" pitchFamily="18" charset="0"/>
              </a:rPr>
              <a:t> The memory allocation and deallocation techniques used by these algorithms are dynamic. They make decisions about what data to keep and when to remove or replace it, so memory is used effectively during the search process.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415415" y="692785"/>
            <a:ext cx="9643110" cy="5015865"/>
          </a:xfrm>
          <a:prstGeom prst="rect">
            <a:avLst/>
          </a:prstGeom>
        </p:spPr>
        <p:txBody>
          <a:bodyPr wrap="square">
            <a:spAutoFit/>
          </a:bodyPr>
          <a:lstStyle/>
          <a:p>
            <a:pPr marL="0" indent="0" algn="ctr" fontAlgn="base">
              <a:spcBef>
                <a:spcPct val="0"/>
              </a:spcBef>
              <a:spcAft>
                <a:spcPct val="0"/>
              </a:spcAft>
            </a:pPr>
            <a:r>
              <a:rPr sz="3200" b="1" i="0">
                <a:solidFill>
                  <a:srgbClr val="FF0000"/>
                </a:solidFill>
                <a:latin typeface="Times New Roman" panose="02020603050405020304" pitchFamily="18" charset="0"/>
                <a:ea typeface="Source Sans 3"/>
                <a:cs typeface="Times New Roman" panose="02020603050405020304" pitchFamily="18" charset="0"/>
              </a:rPr>
              <a:t>Heuristic Function In AI</a:t>
            </a:r>
          </a:p>
          <a:p>
            <a:pPr marL="0" indent="0" algn="just" fontAlgn="base">
              <a:spcBef>
                <a:spcPct val="0"/>
              </a:spcBef>
              <a:spcAft>
                <a:spcPct val="0"/>
              </a:spcAft>
            </a:pPr>
            <a:endParaRPr sz="2400" i="0">
              <a:solidFill>
                <a:srgbClr val="273239"/>
              </a:solidFill>
              <a:latin typeface="Times New Roman" panose="02020603050405020304" pitchFamily="18" charset="0"/>
              <a:ea typeface="Source Sans 3"/>
              <a:cs typeface="Times New Roman" panose="02020603050405020304" pitchFamily="18" charset="0"/>
            </a:endParaRPr>
          </a:p>
          <a:p>
            <a:pPr marL="0" indent="0" algn="just" fontAlgn="base">
              <a:spcBef>
                <a:spcPct val="0"/>
              </a:spcBef>
              <a:spcAft>
                <a:spcPct val="0"/>
              </a:spcAft>
            </a:pPr>
            <a:r>
              <a:rPr sz="2400" i="0">
                <a:solidFill>
                  <a:srgbClr val="273239"/>
                </a:solidFill>
                <a:latin typeface="Times New Roman" panose="02020603050405020304" pitchFamily="18" charset="0"/>
                <a:ea typeface="Source Sans 3"/>
                <a:cs typeface="Times New Roman" panose="02020603050405020304" pitchFamily="18" charset="0"/>
              </a:rPr>
              <a:t>Heuristic functions are strategies or methods that guide the search process in AI algorithms by providing estimates of the most promising path to a solution. They are often used in scenarios where finding an exact solution is computationally infeasible. Instead, heuristics provide a practical approach by narrowing down the search space, leading to faster and more efficient problem-solving.</a:t>
            </a:r>
          </a:p>
          <a:p>
            <a:pPr marL="0" indent="0" algn="just" fontAlgn="base">
              <a:spcBef>
                <a:spcPct val="0"/>
              </a:spcBef>
              <a:spcAft>
                <a:spcPct val="0"/>
              </a:spcAft>
            </a:pPr>
            <a:endParaRPr sz="2400" i="0">
              <a:solidFill>
                <a:srgbClr val="273239"/>
              </a:solidFill>
              <a:latin typeface="Times New Roman" panose="02020603050405020304" pitchFamily="18" charset="0"/>
              <a:ea typeface="Source Sans 3"/>
              <a:cs typeface="Times New Roman" panose="02020603050405020304" pitchFamily="18" charset="0"/>
            </a:endParaRPr>
          </a:p>
          <a:p>
            <a:pPr marL="0" indent="0" algn="just" fontAlgn="base">
              <a:spcBef>
                <a:spcPct val="0"/>
              </a:spcBef>
              <a:spcAft>
                <a:spcPct val="0"/>
              </a:spcAft>
            </a:pPr>
            <a:r>
              <a:rPr sz="2400" i="0">
                <a:solidFill>
                  <a:srgbClr val="273239"/>
                </a:solidFill>
                <a:latin typeface="Times New Roman" panose="02020603050405020304" pitchFamily="18" charset="0"/>
                <a:ea typeface="Source Sans 3"/>
                <a:cs typeface="Times New Roman" panose="02020603050405020304" pitchFamily="18" charset="0"/>
              </a:rPr>
              <a:t>Heuristic functions transform complex problems into more manageable subproblems by providing estimates that guide the search process. This approach is particularly effective in AI planning, where the goal is to sequence actions that lead to a desired outcome.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983615" y="908685"/>
            <a:ext cx="10592435" cy="4626610"/>
          </a:xfrm>
          <a:prstGeom prst="rect">
            <a:avLst/>
          </a:prstGeom>
        </p:spPr>
        <p:txBody>
          <a:bodyPr wrap="square">
            <a:noAutofit/>
          </a:bodyPr>
          <a:lstStyle/>
          <a:p>
            <a:pPr marL="0" indent="0" algn="just" fontAlgn="base">
              <a:spcBef>
                <a:spcPct val="0"/>
              </a:spcBef>
              <a:spcAft>
                <a:spcPct val="0"/>
              </a:spcAft>
            </a:pPr>
            <a:r>
              <a:rPr sz="2400" b="1" i="0">
                <a:solidFill>
                  <a:srgbClr val="273239"/>
                </a:solidFill>
                <a:latin typeface="Times New Roman" panose="02020603050405020304" pitchFamily="18" charset="0"/>
                <a:ea typeface="Nunito"/>
                <a:cs typeface="Times New Roman" panose="02020603050405020304" pitchFamily="18" charset="0"/>
              </a:rPr>
              <a:t>Heuristic Search Algorithm in AI</a:t>
            </a:r>
          </a:p>
          <a:p>
            <a:pPr marL="0" indent="0" algn="just" fontAlgn="base">
              <a:spcBef>
                <a:spcPct val="0"/>
              </a:spcBef>
              <a:spcAft>
                <a:spcPct val="0"/>
              </a:spcAft>
            </a:pPr>
            <a:r>
              <a:rPr sz="2400" b="0" i="0">
                <a:solidFill>
                  <a:srgbClr val="273239"/>
                </a:solidFill>
                <a:latin typeface="Times New Roman" panose="02020603050405020304" pitchFamily="18" charset="0"/>
                <a:ea typeface="Nunito"/>
                <a:cs typeface="Times New Roman" panose="02020603050405020304" pitchFamily="18" charset="0"/>
              </a:rPr>
              <a:t>Heuristic search algorithms leverage heuristic functions to make more intelligent decisions during the search process. Some common heuristic search algorithms include:</a:t>
            </a:r>
          </a:p>
          <a:p>
            <a:pPr marL="0" indent="0" algn="just" fontAlgn="base">
              <a:spcBef>
                <a:spcPct val="0"/>
              </a:spcBef>
              <a:spcAft>
                <a:spcPct val="0"/>
              </a:spcAft>
            </a:pPr>
            <a:r>
              <a:rPr sz="2400" b="1" i="0">
                <a:solidFill>
                  <a:srgbClr val="273239"/>
                </a:solidFill>
                <a:latin typeface="Times New Roman" panose="02020603050405020304" pitchFamily="18" charset="0"/>
                <a:ea typeface="Nunito"/>
                <a:cs typeface="Times New Roman" panose="02020603050405020304" pitchFamily="18" charset="0"/>
              </a:rPr>
              <a:t>A* Algorithm</a:t>
            </a:r>
          </a:p>
          <a:p>
            <a:pPr marL="0" indent="0" algn="just" fontAlgn="base">
              <a:spcBef>
                <a:spcPct val="0"/>
              </a:spcBef>
              <a:spcAft>
                <a:spcPct val="0"/>
              </a:spcAft>
            </a:pPr>
            <a:r>
              <a:rPr sz="2400" b="0" i="0">
                <a:solidFill>
                  <a:srgbClr val="273239"/>
                </a:solidFill>
                <a:latin typeface="Times New Roman" panose="02020603050405020304" pitchFamily="18" charset="0"/>
                <a:ea typeface="Nunito"/>
                <a:cs typeface="Times New Roman" panose="02020603050405020304" pitchFamily="18" charset="0"/>
              </a:rPr>
              <a:t>The</a:t>
            </a:r>
            <a:r>
              <a:rPr sz="2400" b="0" i="0" u="sng">
                <a:solidFill>
                  <a:srgbClr val="273239"/>
                </a:solidFill>
                <a:latin typeface="Times New Roman" panose="02020603050405020304" pitchFamily="18" charset="0"/>
                <a:ea typeface="Nunito"/>
                <a:cs typeface="Times New Roman" panose="02020603050405020304" pitchFamily="18" charset="0"/>
                <a:hlinkClick r:id="rId2"/>
              </a:rPr>
              <a:t> A* algorithm</a:t>
            </a:r>
            <a:r>
              <a:rPr sz="2400" b="0" i="0">
                <a:solidFill>
                  <a:srgbClr val="273239"/>
                </a:solidFill>
                <a:latin typeface="Times New Roman" panose="02020603050405020304" pitchFamily="18" charset="0"/>
                <a:ea typeface="Nunito"/>
                <a:cs typeface="Times New Roman" panose="02020603050405020304" pitchFamily="18" charset="0"/>
              </a:rPr>
              <a:t> is one of the most widely used heuristic search algorithms. It uses both the actual cost from the start node to the current node (g(n)) and the estimated cost from the current node to the goal (h(n)). The total estimated cost (f(n)) is the sum of these two values:</a:t>
            </a:r>
          </a:p>
          <a:p>
            <a:pPr marL="0" indent="0" algn="just" fontAlgn="base">
              <a:spcBef>
                <a:spcPct val="0"/>
              </a:spcBef>
              <a:spcAft>
                <a:spcPct val="0"/>
              </a:spcAft>
            </a:pPr>
            <a:r>
              <a:rPr sz="2400" b="0" i="0">
                <a:solidFill>
                  <a:srgbClr val="273239"/>
                </a:solidFill>
                <a:latin typeface="Times New Roman" panose="02020603050405020304" pitchFamily="18" charset="0"/>
                <a:ea typeface="katex_main"/>
                <a:cs typeface="Times New Roman" panose="02020603050405020304" pitchFamily="18" charset="0"/>
              </a:rPr>
              <a:t>f(n)=g(n)+h(n)</a:t>
            </a:r>
            <a:r>
              <a:rPr sz="2400" b="0" i="1">
                <a:solidFill>
                  <a:srgbClr val="273239"/>
                </a:solidFill>
                <a:latin typeface="Times New Roman" panose="02020603050405020304" pitchFamily="18" charset="0"/>
                <a:ea typeface="KaTeX_Math"/>
                <a:cs typeface="Times New Roman" panose="02020603050405020304" pitchFamily="18" charset="0"/>
              </a:rPr>
              <a:t>f</a:t>
            </a:r>
            <a:r>
              <a:rPr sz="2400" b="0" i="0">
                <a:solidFill>
                  <a:srgbClr val="273239"/>
                </a:solidFill>
                <a:latin typeface="Times New Roman" panose="02020603050405020304" pitchFamily="18" charset="0"/>
                <a:ea typeface="katex_main"/>
                <a:cs typeface="Times New Roman" panose="02020603050405020304" pitchFamily="18" charset="0"/>
              </a:rPr>
              <a:t>(</a:t>
            </a:r>
            <a:r>
              <a:rPr sz="2400" b="0" i="1">
                <a:solidFill>
                  <a:srgbClr val="273239"/>
                </a:solidFill>
                <a:latin typeface="Times New Roman" panose="02020603050405020304" pitchFamily="18" charset="0"/>
                <a:ea typeface="KaTeX_Math"/>
                <a:cs typeface="Times New Roman" panose="02020603050405020304" pitchFamily="18" charset="0"/>
              </a:rPr>
              <a:t>n</a:t>
            </a:r>
            <a:r>
              <a:rPr sz="2400" b="0" i="0">
                <a:solidFill>
                  <a:srgbClr val="273239"/>
                </a:solidFill>
                <a:latin typeface="Times New Roman" panose="02020603050405020304" pitchFamily="18" charset="0"/>
                <a:ea typeface="katex_main"/>
                <a:cs typeface="Times New Roman" panose="02020603050405020304" pitchFamily="18" charset="0"/>
              </a:rPr>
              <a:t>)=</a:t>
            </a:r>
            <a:r>
              <a:rPr sz="2400" b="0" i="1">
                <a:solidFill>
                  <a:srgbClr val="273239"/>
                </a:solidFill>
                <a:latin typeface="Times New Roman" panose="02020603050405020304" pitchFamily="18" charset="0"/>
                <a:ea typeface="KaTeX_Math"/>
                <a:cs typeface="Times New Roman" panose="02020603050405020304" pitchFamily="18" charset="0"/>
              </a:rPr>
              <a:t>g</a:t>
            </a:r>
            <a:r>
              <a:rPr sz="2400" b="0" i="0">
                <a:solidFill>
                  <a:srgbClr val="273239"/>
                </a:solidFill>
                <a:latin typeface="Times New Roman" panose="02020603050405020304" pitchFamily="18" charset="0"/>
                <a:ea typeface="katex_main"/>
                <a:cs typeface="Times New Roman" panose="02020603050405020304" pitchFamily="18" charset="0"/>
              </a:rPr>
              <a:t>(</a:t>
            </a:r>
            <a:r>
              <a:rPr sz="2400" b="0" i="1">
                <a:solidFill>
                  <a:srgbClr val="273239"/>
                </a:solidFill>
                <a:latin typeface="Times New Roman" panose="02020603050405020304" pitchFamily="18" charset="0"/>
                <a:ea typeface="KaTeX_Math"/>
                <a:cs typeface="Times New Roman" panose="02020603050405020304" pitchFamily="18" charset="0"/>
              </a:rPr>
              <a:t>n</a:t>
            </a:r>
            <a:r>
              <a:rPr sz="2400" b="0" i="0">
                <a:solidFill>
                  <a:srgbClr val="273239"/>
                </a:solidFill>
                <a:latin typeface="Times New Roman" panose="02020603050405020304" pitchFamily="18" charset="0"/>
                <a:ea typeface="katex_main"/>
                <a:cs typeface="Times New Roman" panose="02020603050405020304" pitchFamily="18" charset="0"/>
              </a:rPr>
              <a:t>)+</a:t>
            </a:r>
            <a:r>
              <a:rPr sz="2400" b="0" i="1">
                <a:solidFill>
                  <a:srgbClr val="273239"/>
                </a:solidFill>
                <a:latin typeface="Times New Roman" panose="02020603050405020304" pitchFamily="18" charset="0"/>
                <a:ea typeface="KaTeX_Math"/>
                <a:cs typeface="Times New Roman" panose="02020603050405020304" pitchFamily="18" charset="0"/>
              </a:rPr>
              <a:t>h</a:t>
            </a:r>
            <a:r>
              <a:rPr sz="2400" b="0" i="0">
                <a:solidFill>
                  <a:srgbClr val="273239"/>
                </a:solidFill>
                <a:latin typeface="Times New Roman" panose="02020603050405020304" pitchFamily="18" charset="0"/>
                <a:ea typeface="katex_main"/>
                <a:cs typeface="Times New Roman" panose="02020603050405020304" pitchFamily="18" charset="0"/>
              </a:rPr>
              <a:t>(</a:t>
            </a:r>
            <a:r>
              <a:rPr sz="2400" b="0" i="1">
                <a:solidFill>
                  <a:srgbClr val="273239"/>
                </a:solidFill>
                <a:latin typeface="Times New Roman" panose="02020603050405020304" pitchFamily="18" charset="0"/>
                <a:ea typeface="KaTeX_Math"/>
                <a:cs typeface="Times New Roman" panose="02020603050405020304" pitchFamily="18" charset="0"/>
              </a:rPr>
              <a:t>n</a:t>
            </a:r>
            <a:r>
              <a:rPr sz="2400" b="0" i="0">
                <a:solidFill>
                  <a:srgbClr val="273239"/>
                </a:solidFill>
                <a:latin typeface="Times New Roman" panose="02020603050405020304" pitchFamily="18" charset="0"/>
                <a:ea typeface="katex_main"/>
                <a:cs typeface="Times New Roman" panose="02020603050405020304" pitchFamily="18" charset="0"/>
              </a:rPr>
              <a:t>)</a:t>
            </a:r>
          </a:p>
          <a:p>
            <a:pPr marL="0" indent="0" algn="just" fontAlgn="base">
              <a:spcBef>
                <a:spcPct val="0"/>
              </a:spcBef>
              <a:spcAft>
                <a:spcPct val="0"/>
              </a:spcAft>
            </a:pPr>
            <a:endParaRPr sz="2400" b="0" i="0">
              <a:solidFill>
                <a:srgbClr val="273239"/>
              </a:solidFill>
              <a:latin typeface="Times New Roman" panose="02020603050405020304" pitchFamily="18" charset="0"/>
              <a:ea typeface="Nunito"/>
              <a:cs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839470" y="405130"/>
            <a:ext cx="11229975" cy="6000750"/>
          </a:xfrm>
          <a:prstGeom prst="rect">
            <a:avLst/>
          </a:prstGeom>
          <a:noFill/>
        </p:spPr>
        <p:txBody>
          <a:bodyPr wrap="square" rtlCol="0" anchor="t">
            <a:spAutoFit/>
          </a:bodyPr>
          <a:lstStyle/>
          <a:p>
            <a:pPr marL="0" indent="0" algn="l" fontAlgn="base">
              <a:spcBef>
                <a:spcPct val="0"/>
              </a:spcBef>
              <a:spcAft>
                <a:spcPct val="0"/>
              </a:spcAft>
            </a:pPr>
            <a:r>
              <a:rPr sz="2400" b="1">
                <a:solidFill>
                  <a:srgbClr val="273239"/>
                </a:solidFill>
                <a:latin typeface="Times New Roman" panose="02020603050405020304" pitchFamily="18" charset="0"/>
                <a:ea typeface="Nunito"/>
                <a:cs typeface="Times New Roman" panose="02020603050405020304" pitchFamily="18" charset="0"/>
                <a:sym typeface="+mn-ea"/>
              </a:rPr>
              <a:t>Greedy Best-First Search</a:t>
            </a:r>
            <a:endParaRPr sz="2400" b="1" i="0">
              <a:solidFill>
                <a:srgbClr val="273239"/>
              </a:solidFill>
              <a:latin typeface="Times New Roman" panose="02020603050405020304" pitchFamily="18" charset="0"/>
              <a:ea typeface="Nunito"/>
              <a:cs typeface="Times New Roman" panose="02020603050405020304" pitchFamily="18" charset="0"/>
            </a:endParaRPr>
          </a:p>
          <a:p>
            <a:pPr marL="0" indent="0" algn="l" fontAlgn="base">
              <a:spcBef>
                <a:spcPct val="0"/>
              </a:spcBef>
              <a:spcAft>
                <a:spcPct val="0"/>
              </a:spcAft>
            </a:pPr>
            <a:r>
              <a:rPr sz="2400">
                <a:solidFill>
                  <a:srgbClr val="273239"/>
                </a:solidFill>
                <a:latin typeface="Times New Roman" panose="02020603050405020304" pitchFamily="18" charset="0"/>
                <a:ea typeface="Nunito"/>
                <a:cs typeface="Times New Roman" panose="02020603050405020304" pitchFamily="18" charset="0"/>
                <a:sym typeface="+mn-ea"/>
              </a:rPr>
              <a:t>The </a:t>
            </a:r>
            <a:r>
              <a:rPr sz="2400" u="sng">
                <a:solidFill>
                  <a:srgbClr val="273239"/>
                </a:solidFill>
                <a:latin typeface="Times New Roman" panose="02020603050405020304" pitchFamily="18" charset="0"/>
                <a:ea typeface="Nunito"/>
                <a:cs typeface="Times New Roman" panose="02020603050405020304" pitchFamily="18" charset="0"/>
                <a:sym typeface="+mn-ea"/>
                <a:hlinkClick r:id="rId2"/>
              </a:rPr>
              <a:t>Greedy Best-First Search</a:t>
            </a:r>
            <a:r>
              <a:rPr sz="2400">
                <a:solidFill>
                  <a:srgbClr val="273239"/>
                </a:solidFill>
                <a:latin typeface="Times New Roman" panose="02020603050405020304" pitchFamily="18" charset="0"/>
                <a:ea typeface="Nunito"/>
                <a:cs typeface="Times New Roman" panose="02020603050405020304" pitchFamily="18" charset="0"/>
                <a:sym typeface="+mn-ea"/>
              </a:rPr>
              <a:t> algorithm selects the path that appears to be the most promising based on the heuristic function alone. It prioritizes nodes with the lowest heuristic cost (h(n)), but it does not necessarily guarantee the shortest path to the goal.</a:t>
            </a:r>
            <a:endParaRPr sz="2400" b="0" i="0">
              <a:solidFill>
                <a:srgbClr val="273239"/>
              </a:solidFill>
              <a:latin typeface="Times New Roman" panose="02020603050405020304" pitchFamily="18" charset="0"/>
              <a:ea typeface="Nunito"/>
              <a:cs typeface="Times New Roman" panose="02020603050405020304" pitchFamily="18" charset="0"/>
            </a:endParaRPr>
          </a:p>
          <a:p>
            <a:pPr marL="0" indent="0" algn="l" fontAlgn="base">
              <a:spcBef>
                <a:spcPct val="0"/>
              </a:spcBef>
              <a:spcAft>
                <a:spcPct val="0"/>
              </a:spcAft>
            </a:pPr>
            <a:r>
              <a:rPr sz="2400" b="1">
                <a:solidFill>
                  <a:srgbClr val="273239"/>
                </a:solidFill>
                <a:latin typeface="Times New Roman" panose="02020603050405020304" pitchFamily="18" charset="0"/>
                <a:ea typeface="Nunito"/>
                <a:cs typeface="Times New Roman" panose="02020603050405020304" pitchFamily="18" charset="0"/>
                <a:sym typeface="+mn-ea"/>
              </a:rPr>
              <a:t>Hill-Climbing Algorithm</a:t>
            </a:r>
            <a:endParaRPr sz="2400" b="1" i="0">
              <a:solidFill>
                <a:srgbClr val="273239"/>
              </a:solidFill>
              <a:latin typeface="Times New Roman" panose="02020603050405020304" pitchFamily="18" charset="0"/>
              <a:ea typeface="Nunito"/>
              <a:cs typeface="Times New Roman" panose="02020603050405020304" pitchFamily="18" charset="0"/>
            </a:endParaRPr>
          </a:p>
          <a:p>
            <a:pPr marL="0" indent="0" algn="l" fontAlgn="base">
              <a:spcBef>
                <a:spcPct val="0"/>
              </a:spcBef>
              <a:spcAft>
                <a:spcPct val="0"/>
              </a:spcAft>
            </a:pPr>
            <a:r>
              <a:rPr sz="2400">
                <a:solidFill>
                  <a:srgbClr val="273239"/>
                </a:solidFill>
                <a:latin typeface="Times New Roman" panose="02020603050405020304" pitchFamily="18" charset="0"/>
                <a:ea typeface="Nunito"/>
                <a:cs typeface="Times New Roman" panose="02020603050405020304" pitchFamily="18" charset="0"/>
                <a:sym typeface="+mn-ea"/>
              </a:rPr>
              <a:t>The </a:t>
            </a:r>
            <a:r>
              <a:rPr sz="2400" u="sng">
                <a:solidFill>
                  <a:srgbClr val="273239"/>
                </a:solidFill>
                <a:latin typeface="Times New Roman" panose="02020603050405020304" pitchFamily="18" charset="0"/>
                <a:ea typeface="Nunito"/>
                <a:cs typeface="Times New Roman" panose="02020603050405020304" pitchFamily="18" charset="0"/>
                <a:sym typeface="+mn-ea"/>
                <a:hlinkClick r:id="rId3"/>
              </a:rPr>
              <a:t>Hill-Climbing algorithm</a:t>
            </a:r>
            <a:r>
              <a:rPr sz="2400">
                <a:solidFill>
                  <a:srgbClr val="273239"/>
                </a:solidFill>
                <a:latin typeface="Times New Roman" panose="02020603050405020304" pitchFamily="18" charset="0"/>
                <a:ea typeface="Nunito"/>
                <a:cs typeface="Times New Roman" panose="02020603050405020304" pitchFamily="18" charset="0"/>
                <a:sym typeface="+mn-ea"/>
              </a:rPr>
              <a:t> is a local search algorithm that continuously moves towards the neighbor with the lowest heuristic cost. It resembles climbing uphill towards the goal but can get stuck in local optima.</a:t>
            </a:r>
            <a:endParaRPr sz="2400" b="0" i="0">
              <a:solidFill>
                <a:srgbClr val="273239"/>
              </a:solidFill>
              <a:latin typeface="Times New Roman" panose="02020603050405020304" pitchFamily="18" charset="0"/>
              <a:ea typeface="Nunito"/>
              <a:cs typeface="Times New Roman" panose="02020603050405020304" pitchFamily="18" charset="0"/>
            </a:endParaRPr>
          </a:p>
          <a:p>
            <a:pPr marL="0" indent="0" algn="l" fontAlgn="base">
              <a:spcBef>
                <a:spcPct val="0"/>
              </a:spcBef>
              <a:spcAft>
                <a:spcPct val="0"/>
              </a:spcAft>
            </a:pPr>
            <a:r>
              <a:rPr sz="2400" b="1">
                <a:solidFill>
                  <a:srgbClr val="273239"/>
                </a:solidFill>
                <a:latin typeface="Times New Roman" panose="02020603050405020304" pitchFamily="18" charset="0"/>
                <a:ea typeface="Nunito"/>
                <a:cs typeface="Times New Roman" panose="02020603050405020304" pitchFamily="18" charset="0"/>
                <a:sym typeface="+mn-ea"/>
              </a:rPr>
              <a:t>Role of Heuristic Functions in AI</a:t>
            </a:r>
            <a:endParaRPr sz="2400" b="1" i="0">
              <a:solidFill>
                <a:srgbClr val="273239"/>
              </a:solidFill>
              <a:latin typeface="Times New Roman" panose="02020603050405020304" pitchFamily="18" charset="0"/>
              <a:ea typeface="Nunito"/>
              <a:cs typeface="Times New Roman" panose="02020603050405020304" pitchFamily="18" charset="0"/>
            </a:endParaRPr>
          </a:p>
          <a:p>
            <a:pPr marL="0" indent="0" algn="l" fontAlgn="base">
              <a:spcBef>
                <a:spcPct val="0"/>
              </a:spcBef>
              <a:spcAft>
                <a:spcPct val="0"/>
              </a:spcAft>
            </a:pPr>
            <a:r>
              <a:rPr sz="2400">
                <a:solidFill>
                  <a:srgbClr val="273239"/>
                </a:solidFill>
                <a:latin typeface="Times New Roman" panose="02020603050405020304" pitchFamily="18" charset="0"/>
                <a:ea typeface="Nunito"/>
                <a:cs typeface="Times New Roman" panose="02020603050405020304" pitchFamily="18" charset="0"/>
                <a:sym typeface="+mn-ea"/>
              </a:rPr>
              <a:t>Heuristic functions are essential in AI for several reasons:</a:t>
            </a:r>
            <a:endParaRPr sz="2400" b="0" i="0">
              <a:solidFill>
                <a:srgbClr val="273239"/>
              </a:solidFill>
              <a:latin typeface="Times New Roman" panose="02020603050405020304" pitchFamily="18" charset="0"/>
              <a:ea typeface="Nunito"/>
              <a:cs typeface="Times New Roman" panose="02020603050405020304" pitchFamily="18" charset="0"/>
            </a:endParaRPr>
          </a:p>
          <a:p>
            <a:pPr marL="0" indent="0" algn="l" fontAlgn="base">
              <a:spcBef>
                <a:spcPct val="0"/>
              </a:spcBef>
              <a:spcAft>
                <a:spcPct val="0"/>
              </a:spcAft>
              <a:buFont typeface="Arial" panose="020B0604020202020204"/>
              <a:buChar char="•"/>
            </a:pPr>
            <a:r>
              <a:rPr sz="2400">
                <a:solidFill>
                  <a:srgbClr val="273239"/>
                </a:solidFill>
                <a:latin typeface="Times New Roman" panose="02020603050405020304" pitchFamily="18" charset="0"/>
                <a:ea typeface="Nunito"/>
                <a:cs typeface="Times New Roman" panose="02020603050405020304" pitchFamily="18" charset="0"/>
                <a:sym typeface="+mn-ea"/>
              </a:rPr>
              <a:t> They reduce the search space, leading to faster solution times.</a:t>
            </a:r>
            <a:endParaRPr sz="2400" b="0" i="0">
              <a:solidFill>
                <a:srgbClr val="273239"/>
              </a:solidFill>
              <a:latin typeface="Times New Roman" panose="02020603050405020304" pitchFamily="18" charset="0"/>
              <a:ea typeface="Nunito"/>
              <a:cs typeface="Times New Roman" panose="02020603050405020304" pitchFamily="18" charset="0"/>
            </a:endParaRPr>
          </a:p>
          <a:p>
            <a:pPr marL="0" indent="0" algn="l" fontAlgn="base">
              <a:spcBef>
                <a:spcPct val="0"/>
              </a:spcBef>
              <a:spcAft>
                <a:spcPct val="0"/>
              </a:spcAft>
              <a:buFont typeface="Arial" panose="020B0604020202020204"/>
              <a:buChar char="•"/>
            </a:pPr>
            <a:r>
              <a:rPr sz="2400">
                <a:solidFill>
                  <a:srgbClr val="273239"/>
                </a:solidFill>
                <a:latin typeface="Times New Roman" panose="02020603050405020304" pitchFamily="18" charset="0"/>
                <a:ea typeface="Nunito"/>
                <a:cs typeface="Times New Roman" panose="02020603050405020304" pitchFamily="18" charset="0"/>
                <a:sym typeface="+mn-ea"/>
              </a:rPr>
              <a:t> They provide a sense of direction in large problem spaces, avoiding unnecessary exploration.</a:t>
            </a:r>
            <a:endParaRPr sz="2400" b="0" i="0">
              <a:solidFill>
                <a:srgbClr val="273239"/>
              </a:solidFill>
              <a:latin typeface="Times New Roman" panose="02020603050405020304" pitchFamily="18" charset="0"/>
              <a:ea typeface="Nunito"/>
              <a:cs typeface="Times New Roman" panose="02020603050405020304" pitchFamily="18" charset="0"/>
            </a:endParaRPr>
          </a:p>
          <a:p>
            <a:pPr marL="0" indent="0" algn="l" fontAlgn="base">
              <a:spcBef>
                <a:spcPct val="0"/>
              </a:spcBef>
              <a:spcAft>
                <a:spcPct val="0"/>
              </a:spcAft>
              <a:buFont typeface="Arial" panose="020B0604020202020204"/>
              <a:buChar char="•"/>
            </a:pPr>
            <a:r>
              <a:rPr sz="2400">
                <a:solidFill>
                  <a:srgbClr val="273239"/>
                </a:solidFill>
                <a:latin typeface="Times New Roman" panose="02020603050405020304" pitchFamily="18" charset="0"/>
                <a:ea typeface="Nunito"/>
                <a:cs typeface="Times New Roman" panose="02020603050405020304" pitchFamily="18" charset="0"/>
                <a:sym typeface="+mn-ea"/>
              </a:rPr>
              <a:t> They offer practical solutions in situations where exact methods are computationally prohibitive.</a:t>
            </a:r>
            <a:endParaRPr sz="2400" b="0" i="0">
              <a:solidFill>
                <a:srgbClr val="273239"/>
              </a:solidFill>
              <a:latin typeface="Times New Roman" panose="02020603050405020304" pitchFamily="18" charset="0"/>
              <a:ea typeface="Nunito"/>
              <a:cs typeface="Times New Roman" panose="02020603050405020304" pitchFamily="18" charset="0"/>
            </a:endParaRPr>
          </a:p>
          <a:p>
            <a:pPr marL="0" indent="0" algn="l" fontAlgn="base">
              <a:spcBef>
                <a:spcPct val="0"/>
              </a:spcBef>
              <a:spcAft>
                <a:spcPct val="0"/>
              </a:spcAft>
            </a:pPr>
            <a:endParaRPr lang="en-US" sz="2400">
              <a:solidFill>
                <a:srgbClr val="273239"/>
              </a:solidFill>
              <a:latin typeface="Times New Roman" panose="02020603050405020304" pitchFamily="18" charset="0"/>
              <a:ea typeface="Nunito"/>
              <a:cs typeface="Times New Roman" panose="02020603050405020304" pitchFamily="18" charset="0"/>
              <a:sym typeface="+mn-ea"/>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497205" y="967105"/>
            <a:ext cx="11177905" cy="4831080"/>
          </a:xfrm>
          <a:prstGeom prst="rect">
            <a:avLst/>
          </a:prstGeom>
          <a:noFill/>
        </p:spPr>
        <p:txBody>
          <a:bodyPr wrap="square" rtlCol="0" anchor="t">
            <a:spAutoFit/>
          </a:bodyPr>
          <a:lstStyle/>
          <a:p>
            <a:pPr marL="0" indent="0" algn="just" fontAlgn="base">
              <a:spcBef>
                <a:spcPct val="0"/>
              </a:spcBef>
              <a:spcAft>
                <a:spcPct val="0"/>
              </a:spcAft>
            </a:pPr>
            <a:r>
              <a:rPr sz="2800" b="1">
                <a:solidFill>
                  <a:srgbClr val="273239"/>
                </a:solidFill>
                <a:latin typeface="Times New Roman" panose="02020603050405020304" pitchFamily="18" charset="0"/>
                <a:ea typeface="Nunito"/>
                <a:cs typeface="Times New Roman" panose="02020603050405020304" pitchFamily="18" charset="0"/>
                <a:sym typeface="+mn-ea"/>
              </a:rPr>
              <a:t>Common Problem Types for Heuristic Functions</a:t>
            </a:r>
            <a:endParaRPr sz="2800" b="1" i="0">
              <a:solidFill>
                <a:srgbClr val="273239"/>
              </a:solidFill>
              <a:latin typeface="Times New Roman" panose="02020603050405020304" pitchFamily="18" charset="0"/>
              <a:ea typeface="Nunito"/>
              <a:cs typeface="Times New Roman" panose="02020603050405020304" pitchFamily="18" charset="0"/>
            </a:endParaRPr>
          </a:p>
          <a:p>
            <a:pPr marL="0" indent="0" algn="just" fontAlgn="base">
              <a:spcBef>
                <a:spcPct val="0"/>
              </a:spcBef>
              <a:spcAft>
                <a:spcPct val="0"/>
              </a:spcAft>
            </a:pPr>
            <a:r>
              <a:rPr sz="2800">
                <a:solidFill>
                  <a:srgbClr val="273239"/>
                </a:solidFill>
                <a:latin typeface="Times New Roman" panose="02020603050405020304" pitchFamily="18" charset="0"/>
                <a:ea typeface="Nunito"/>
                <a:cs typeface="Times New Roman" panose="02020603050405020304" pitchFamily="18" charset="0"/>
                <a:sym typeface="+mn-ea"/>
              </a:rPr>
              <a:t>Heuristic functions are particularly useful in various problem types, including:</a:t>
            </a:r>
            <a:endParaRPr sz="2800" b="0" i="0">
              <a:solidFill>
                <a:srgbClr val="273239"/>
              </a:solidFill>
              <a:latin typeface="Times New Roman" panose="02020603050405020304" pitchFamily="18" charset="0"/>
              <a:ea typeface="Nunito"/>
              <a:cs typeface="Times New Roman" panose="02020603050405020304" pitchFamily="18" charset="0"/>
            </a:endParaRPr>
          </a:p>
          <a:p>
            <a:pPr marL="0" indent="0" algn="just" fontAlgn="base">
              <a:spcBef>
                <a:spcPct val="0"/>
              </a:spcBef>
              <a:spcAft>
                <a:spcPct val="0"/>
              </a:spcAft>
              <a:buAutoNum type="arabicPeriod"/>
            </a:pPr>
            <a:r>
              <a:rPr sz="2800" b="1">
                <a:solidFill>
                  <a:srgbClr val="273239"/>
                </a:solidFill>
                <a:latin typeface="Times New Roman" panose="02020603050405020304" pitchFamily="18" charset="0"/>
                <a:ea typeface="Nunito"/>
                <a:cs typeface="Times New Roman" panose="02020603050405020304" pitchFamily="18" charset="0"/>
                <a:sym typeface="+mn-ea"/>
              </a:rPr>
              <a:t> </a:t>
            </a:r>
            <a:r>
              <a:rPr sz="2800">
                <a:solidFill>
                  <a:srgbClr val="273239"/>
                </a:solidFill>
                <a:latin typeface="Times New Roman" panose="02020603050405020304" pitchFamily="18" charset="0"/>
                <a:ea typeface="Nunito"/>
                <a:cs typeface="Times New Roman" panose="02020603050405020304" pitchFamily="18" charset="0"/>
                <a:sym typeface="+mn-ea"/>
              </a:rPr>
              <a:t>Pathfinding problems, such as navigating a maze or finding the shortest route on a map, benefit greatly from heuristic functions that estimate the distance to the goal.</a:t>
            </a:r>
            <a:endParaRPr sz="2800" b="0" i="0">
              <a:solidFill>
                <a:srgbClr val="273239"/>
              </a:solidFill>
              <a:latin typeface="Times New Roman" panose="02020603050405020304" pitchFamily="18" charset="0"/>
              <a:ea typeface="Nunito"/>
              <a:cs typeface="Times New Roman" panose="02020603050405020304" pitchFamily="18" charset="0"/>
            </a:endParaRPr>
          </a:p>
          <a:p>
            <a:pPr marL="0" indent="0" algn="just" fontAlgn="base">
              <a:spcBef>
                <a:spcPct val="0"/>
              </a:spcBef>
              <a:spcAft>
                <a:spcPct val="0"/>
              </a:spcAft>
              <a:buAutoNum type="arabicPeriod"/>
            </a:pPr>
            <a:r>
              <a:rPr sz="2800">
                <a:solidFill>
                  <a:srgbClr val="273239"/>
                </a:solidFill>
                <a:latin typeface="Times New Roman" panose="02020603050405020304" pitchFamily="18" charset="0"/>
                <a:ea typeface="Nunito"/>
                <a:cs typeface="Times New Roman" panose="02020603050405020304" pitchFamily="18" charset="0"/>
                <a:sym typeface="+mn-ea"/>
              </a:rPr>
              <a:t> In constraint satisfaction problems, such as scheduling and puzzle-solving, heuristics help in selecting the most promising variables and values to explore.</a:t>
            </a:r>
            <a:endParaRPr sz="2800" b="0" i="0">
              <a:solidFill>
                <a:srgbClr val="273239"/>
              </a:solidFill>
              <a:latin typeface="Times New Roman" panose="02020603050405020304" pitchFamily="18" charset="0"/>
              <a:ea typeface="Nunito"/>
              <a:cs typeface="Times New Roman" panose="02020603050405020304" pitchFamily="18" charset="0"/>
            </a:endParaRPr>
          </a:p>
          <a:p>
            <a:pPr marL="0" indent="0" algn="just" fontAlgn="base">
              <a:spcBef>
                <a:spcPct val="0"/>
              </a:spcBef>
              <a:spcAft>
                <a:spcPct val="0"/>
              </a:spcAft>
              <a:buAutoNum type="arabicPeriod"/>
            </a:pPr>
            <a:r>
              <a:rPr sz="2800" b="1">
                <a:solidFill>
                  <a:srgbClr val="273239"/>
                </a:solidFill>
                <a:latin typeface="Times New Roman" panose="02020603050405020304" pitchFamily="18" charset="0"/>
                <a:ea typeface="Nunito"/>
                <a:cs typeface="Times New Roman" panose="02020603050405020304" pitchFamily="18" charset="0"/>
                <a:sym typeface="+mn-ea"/>
              </a:rPr>
              <a:t> </a:t>
            </a:r>
            <a:r>
              <a:rPr sz="2800">
                <a:solidFill>
                  <a:srgbClr val="273239"/>
                </a:solidFill>
                <a:latin typeface="Times New Roman" panose="02020603050405020304" pitchFamily="18" charset="0"/>
                <a:ea typeface="Nunito"/>
                <a:cs typeface="Times New Roman" panose="02020603050405020304" pitchFamily="18" charset="0"/>
                <a:sym typeface="+mn-ea"/>
              </a:rPr>
              <a:t>Optimization problems, like the traveling salesman problem, use heuristics to find near-optimal solutions within a reasonable time frame.</a:t>
            </a:r>
            <a:endParaRPr lang="en-US" sz="2800">
              <a:solidFill>
                <a:srgbClr val="273239"/>
              </a:solidFill>
              <a:latin typeface="Times New Roman" panose="02020603050405020304" pitchFamily="18" charset="0"/>
              <a:ea typeface="Nunito"/>
              <a:cs typeface="Times New Roman" panose="02020603050405020304" pitchFamily="18" charset="0"/>
              <a:sym typeface="+mn-e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55370" y="2204403"/>
            <a:ext cx="9144000" cy="1655762"/>
          </a:xfrm>
        </p:spPr>
        <p:txBody>
          <a:bodyPr/>
          <a:lstStyle/>
          <a:p>
            <a:r>
              <a:rPr lang="en-US" sz="4000">
                <a:solidFill>
                  <a:srgbClr val="FF0000"/>
                </a:solidFill>
              </a:rPr>
              <a:t>Local search Algorithms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5280" y="405130"/>
            <a:ext cx="11593195" cy="6223635"/>
          </a:xfrm>
          <a:prstGeom prst="rect">
            <a:avLst/>
          </a:prstGeom>
          <a:noFill/>
        </p:spPr>
        <p:txBody>
          <a:bodyPr wrap="square" rtlCol="0">
            <a:noAutofit/>
          </a:bodyPr>
          <a:lstStyle/>
          <a:p>
            <a:pPr algn="ctr">
              <a:lnSpc>
                <a:spcPct val="150000"/>
              </a:lnSpc>
            </a:pPr>
            <a:r>
              <a:rPr lang="en-US" sz="2800" b="1" u="sng" dirty="0">
                <a:solidFill>
                  <a:srgbClr val="FF0000"/>
                </a:solidFill>
                <a:latin typeface="Times New Roman" panose="02020603050405020304" pitchFamily="18" charset="0"/>
                <a:cs typeface="Times New Roman" panose="02020603050405020304" pitchFamily="18" charset="0"/>
              </a:rPr>
              <a:t>Hill Climbing Algorithm in Artificial Intelligence</a:t>
            </a:r>
          </a:p>
          <a:p>
            <a:pPr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Hill climbing algorithm is a local search algorithm “</a:t>
            </a:r>
            <a:r>
              <a:rPr lang="en-US" sz="2400" b="1" dirty="0">
                <a:latin typeface="Times New Roman" panose="02020603050405020304" pitchFamily="18" charset="0"/>
                <a:cs typeface="Times New Roman" panose="02020603050405020304" pitchFamily="18" charset="0"/>
              </a:rPr>
              <a:t>which continuously moves in the direction of increasing elevation/value to find the peak of the mountain or best solution to the problem.”</a:t>
            </a:r>
          </a:p>
          <a:p>
            <a:pPr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It </a:t>
            </a:r>
            <a:r>
              <a:rPr lang="en-US" sz="2400" b="1" dirty="0">
                <a:latin typeface="Times New Roman" panose="02020603050405020304" pitchFamily="18" charset="0"/>
                <a:cs typeface="Times New Roman" panose="02020603050405020304" pitchFamily="18" charset="0"/>
              </a:rPr>
              <a:t>terminates when it reaches a peak value where no neighbor has a higher value.</a:t>
            </a:r>
          </a:p>
          <a:p>
            <a:pPr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Hill climbing algorithm is a technique which is used for </a:t>
            </a:r>
            <a:r>
              <a:rPr lang="en-US" sz="2400" b="1" dirty="0">
                <a:latin typeface="Times New Roman" panose="02020603050405020304" pitchFamily="18" charset="0"/>
                <a:cs typeface="Times New Roman" panose="02020603050405020304" pitchFamily="18" charset="0"/>
              </a:rPr>
              <a:t>optimizing the mathematical problems</a:t>
            </a:r>
            <a:r>
              <a:rPr lang="en-US" sz="2400" dirty="0">
                <a:latin typeface="Times New Roman" panose="02020603050405020304" pitchFamily="18" charset="0"/>
                <a:cs typeface="Times New Roman" panose="02020603050405020304" pitchFamily="18" charset="0"/>
              </a:rPr>
              <a:t>. One of the widely discussed examples of Hill climbing algorithm is “</a:t>
            </a:r>
            <a:r>
              <a:rPr lang="en-US" sz="2400" b="1" dirty="0">
                <a:latin typeface="Times New Roman" panose="02020603050405020304" pitchFamily="18" charset="0"/>
                <a:cs typeface="Times New Roman" panose="02020603050405020304" pitchFamily="18" charset="0"/>
              </a:rPr>
              <a:t>Traveling-salesman Problem in which we need to minimize the distance traveled by the salesman”</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3605" y="837099"/>
            <a:ext cx="11593288" cy="5262245"/>
          </a:xfrm>
          <a:prstGeom prst="rect">
            <a:avLst/>
          </a:prstGeom>
          <a:noFill/>
        </p:spPr>
        <p:txBody>
          <a:bodyPr wrap="square" rtlCol="0">
            <a:spAutoFit/>
          </a:bodyPr>
          <a:lstStyle/>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It is also called greedy local search as it only looks to its good immediate neighbor state and not beyond that.</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A node of hill climbing algorithm has two components which are</a:t>
            </a:r>
            <a:r>
              <a:rPr lang="en-US" sz="2800" b="1" dirty="0">
                <a:highlight>
                  <a:srgbClr val="FFFF00"/>
                </a:highlight>
                <a:latin typeface="Times New Roman" panose="02020603050405020304" pitchFamily="18" charset="0"/>
                <a:cs typeface="Times New Roman" panose="02020603050405020304" pitchFamily="18" charset="0"/>
              </a:rPr>
              <a:t> state and value.</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Hill Climbing is mostly used </a:t>
            </a:r>
            <a:r>
              <a:rPr lang="en-US" sz="2800" b="1" dirty="0">
                <a:latin typeface="Times New Roman" panose="02020603050405020304" pitchFamily="18" charset="0"/>
                <a:cs typeface="Times New Roman" panose="02020603050405020304" pitchFamily="18" charset="0"/>
              </a:rPr>
              <a:t>when a good heuristic is available.</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In this algorithm, we don't need to maintain and handle the “</a:t>
            </a:r>
            <a:r>
              <a:rPr lang="en-US" sz="2800" i="1" u="sng" dirty="0">
                <a:latin typeface="Times New Roman" panose="02020603050405020304" pitchFamily="18" charset="0"/>
                <a:cs typeface="Times New Roman" panose="02020603050405020304" pitchFamily="18" charset="0"/>
              </a:rPr>
              <a:t>search tree or graph as it only keeps a single current state”</a:t>
            </a:r>
          </a:p>
          <a:p>
            <a:pPr indent="0" algn="just">
              <a:lnSpc>
                <a:spcPct val="150000"/>
              </a:lnSpc>
              <a:buFont typeface="Arial" panose="020B0604020202020204" pitchFamily="34" charset="0"/>
              <a:buNone/>
            </a:pPr>
            <a:endParaRPr lang="en-US" sz="2800" i="1" u="sng"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5360" y="404664"/>
            <a:ext cx="11593288" cy="5815965"/>
          </a:xfrm>
          <a:prstGeom prst="rect">
            <a:avLst/>
          </a:prstGeom>
          <a:noFill/>
        </p:spPr>
        <p:txBody>
          <a:bodyPr wrap="square" rtlCol="0">
            <a:spAutoFit/>
          </a:bodyPr>
          <a:lstStyle/>
          <a:p>
            <a:pPr indent="0" algn="ctr">
              <a:lnSpc>
                <a:spcPct val="150000"/>
              </a:lnSpc>
              <a:buFont typeface="Arial" panose="020B0604020202020204" pitchFamily="34" charset="0"/>
              <a:buNone/>
            </a:pPr>
            <a:r>
              <a:rPr lang="en-US" sz="3200" b="1" dirty="0">
                <a:solidFill>
                  <a:srgbClr val="FF0000"/>
                </a:solidFill>
                <a:latin typeface="Times New Roman" panose="02020603050405020304" pitchFamily="18" charset="0"/>
                <a:cs typeface="Times New Roman" panose="02020603050405020304" pitchFamily="18" charset="0"/>
              </a:rPr>
              <a:t>Features of Hill Climbing:</a:t>
            </a:r>
          </a:p>
          <a:p>
            <a:pPr indent="0" algn="just">
              <a:lnSpc>
                <a:spcPct val="150000"/>
              </a:lnSpc>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Following are some main features of Hill Climbing Algorithm:</a:t>
            </a:r>
          </a:p>
          <a:p>
            <a:pPr marL="342900"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Generate and Test variant:</a:t>
            </a:r>
            <a:r>
              <a:rPr lang="en-US" sz="2400" dirty="0">
                <a:latin typeface="Times New Roman" panose="02020603050405020304" pitchFamily="18" charset="0"/>
                <a:cs typeface="Times New Roman" panose="02020603050405020304" pitchFamily="18" charset="0"/>
              </a:rPr>
              <a:t> Hill Climbing is the variant of Generate and Test method. The Generate and Test method produce feedback which helps to decide which direction to move in the search space.</a:t>
            </a:r>
          </a:p>
          <a:p>
            <a:pPr marL="342900"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Greedy approach: </a:t>
            </a:r>
            <a:r>
              <a:rPr lang="en-US" sz="2400" dirty="0">
                <a:latin typeface="Times New Roman" panose="02020603050405020304" pitchFamily="18" charset="0"/>
                <a:cs typeface="Times New Roman" panose="02020603050405020304" pitchFamily="18" charset="0"/>
              </a:rPr>
              <a:t>Hill-climbing algorithm search moves in the direction which optimizes the cost.</a:t>
            </a:r>
          </a:p>
          <a:p>
            <a:pPr marL="342900"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No backtracking:</a:t>
            </a:r>
            <a:r>
              <a:rPr lang="en-US" sz="2400" dirty="0">
                <a:latin typeface="Times New Roman" panose="02020603050405020304" pitchFamily="18" charset="0"/>
                <a:cs typeface="Times New Roman" panose="02020603050405020304" pitchFamily="18" charset="0"/>
              </a:rPr>
              <a:t> It does not backtrack the search space, as it does not remember the previous states.</a:t>
            </a:r>
          </a:p>
          <a:p>
            <a:pPr indent="0" algn="just">
              <a:lnSpc>
                <a:spcPct val="150000"/>
              </a:lnSpc>
              <a:buFont typeface="Arial" panose="020B0604020202020204" pitchFamily="34" charset="0"/>
              <a:buNone/>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623570" y="836930"/>
            <a:ext cx="10932160" cy="5077460"/>
          </a:xfrm>
          <a:prstGeom prst="rect">
            <a:avLst/>
          </a:prstGeom>
          <a:noFill/>
        </p:spPr>
        <p:txBody>
          <a:bodyPr wrap="square" rtlCol="0" anchor="t">
            <a:spAutoFit/>
          </a:bodyPr>
          <a:lstStyle/>
          <a:p>
            <a:pPr marL="342900"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sym typeface="+mn-ea"/>
              </a:rPr>
              <a:t>Deterministic Nature:</a:t>
            </a:r>
            <a:endParaRPr lang="en-US" sz="2400" b="1" dirty="0">
              <a:latin typeface="Times New Roman" panose="02020603050405020304" pitchFamily="18" charset="0"/>
              <a:cs typeface="Times New Roman" panose="02020603050405020304" pitchFamily="18" charset="0"/>
            </a:endParaRPr>
          </a:p>
          <a:p>
            <a:pPr indent="0" algn="just">
              <a:lnSpc>
                <a:spcPct val="150000"/>
              </a:lnSpc>
              <a:buFont typeface="Arial" panose="020B0604020202020204" pitchFamily="34" charset="0"/>
              <a:buNone/>
            </a:pPr>
            <a:r>
              <a:rPr lang="en-US" sz="2400" dirty="0">
                <a:latin typeface="Times New Roman" panose="02020603050405020304" pitchFamily="18" charset="0"/>
                <a:cs typeface="Times New Roman" panose="02020603050405020304" pitchFamily="18" charset="0"/>
                <a:sym typeface="+mn-ea"/>
              </a:rPr>
              <a:t>Hill Climbing is a deterministic optimization algorithm, which means that given the same initial conditions and the same problem, it will always produce the same result. There is no randomness or uncertainty in its operation.</a:t>
            </a:r>
            <a:endParaRPr lang="en-US"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sym typeface="+mn-ea"/>
              </a:rPr>
              <a:t>Local Neighborhood:</a:t>
            </a:r>
            <a:endParaRPr lang="en-US" sz="2400" b="1" dirty="0">
              <a:latin typeface="Times New Roman" panose="02020603050405020304" pitchFamily="18" charset="0"/>
              <a:cs typeface="Times New Roman" panose="02020603050405020304" pitchFamily="18" charset="0"/>
            </a:endParaRPr>
          </a:p>
          <a:p>
            <a:pPr indent="0" algn="just">
              <a:lnSpc>
                <a:spcPct val="150000"/>
              </a:lnSpc>
              <a:buFont typeface="Arial" panose="020B0604020202020204" pitchFamily="34" charset="0"/>
              <a:buNone/>
            </a:pPr>
            <a:r>
              <a:rPr lang="en-US" sz="2400" dirty="0">
                <a:latin typeface="Times New Roman" panose="02020603050405020304" pitchFamily="18" charset="0"/>
                <a:cs typeface="Times New Roman" panose="02020603050405020304" pitchFamily="18" charset="0"/>
                <a:sym typeface="+mn-ea"/>
              </a:rPr>
              <a:t>Hill Climbing is a technique that operates within a small area around the current solution. It explores solutions that are closely related to the current state by making small, gradual changes. This approach allows it to find a solution that is better than the current one although it may not be the global optimum.</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0962" y="117138"/>
            <a:ext cx="11928648" cy="6369685"/>
          </a:xfrm>
          <a:prstGeom prst="rect">
            <a:avLst/>
          </a:prstGeom>
          <a:noFill/>
        </p:spPr>
        <p:txBody>
          <a:bodyPr wrap="square" rtlCol="0">
            <a:spAutoFit/>
          </a:bodyPr>
          <a:lstStyle/>
          <a:p>
            <a:pPr algn="ctr">
              <a:lnSpc>
                <a:spcPct val="150000"/>
              </a:lnSpc>
            </a:pPr>
            <a:r>
              <a:rPr lang="en-US" sz="3200" b="1" dirty="0">
                <a:solidFill>
                  <a:srgbClr val="FF0000"/>
                </a:solidFill>
                <a:latin typeface="Times New Roman" panose="02020603050405020304" pitchFamily="18" charset="0"/>
                <a:cs typeface="Times New Roman" panose="02020603050405020304" pitchFamily="18" charset="0"/>
              </a:rPr>
              <a:t>State-space Diagram for Hill Climbing:</a:t>
            </a:r>
            <a:endParaRPr lang="en-US" sz="2800" b="1" dirty="0">
              <a:solidFill>
                <a:srgbClr val="FF0000"/>
              </a:solidFill>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The s</a:t>
            </a:r>
            <a:r>
              <a:rPr lang="en-US" sz="2400" b="1" dirty="0">
                <a:latin typeface="Times New Roman" panose="02020603050405020304" pitchFamily="18" charset="0"/>
                <a:cs typeface="Times New Roman" panose="02020603050405020304" pitchFamily="18" charset="0"/>
              </a:rPr>
              <a:t>tate-space landscape is a graphical representation of the hill-climbing algorithm</a:t>
            </a:r>
            <a:r>
              <a:rPr lang="en-US" sz="2400" dirty="0">
                <a:latin typeface="Times New Roman" panose="02020603050405020304" pitchFamily="18" charset="0"/>
                <a:cs typeface="Times New Roman" panose="02020603050405020304" pitchFamily="18" charset="0"/>
              </a:rPr>
              <a:t> which is showing a graph between various states of algorithm and Objective function/Cost.</a:t>
            </a:r>
          </a:p>
          <a:p>
            <a:pPr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On</a:t>
            </a:r>
            <a:r>
              <a:rPr lang="en-US" sz="2400" b="1" dirty="0">
                <a:highlight>
                  <a:srgbClr val="FFFF00"/>
                </a:highlight>
                <a:latin typeface="Times New Roman" panose="02020603050405020304" pitchFamily="18" charset="0"/>
                <a:cs typeface="Times New Roman" panose="02020603050405020304" pitchFamily="18" charset="0"/>
              </a:rPr>
              <a:t> Y-axis </a:t>
            </a:r>
            <a:r>
              <a:rPr lang="en-US" sz="2400" dirty="0">
                <a:latin typeface="Times New Roman" panose="02020603050405020304" pitchFamily="18" charset="0"/>
                <a:cs typeface="Times New Roman" panose="02020603050405020304" pitchFamily="18" charset="0"/>
              </a:rPr>
              <a:t>we have taken the</a:t>
            </a:r>
            <a:r>
              <a:rPr lang="en-US" sz="2400" b="1" dirty="0">
                <a:latin typeface="Times New Roman" panose="02020603050405020304" pitchFamily="18" charset="0"/>
                <a:cs typeface="Times New Roman" panose="02020603050405020304" pitchFamily="18" charset="0"/>
              </a:rPr>
              <a:t> function which can be an objective function or cost function,</a:t>
            </a:r>
            <a:r>
              <a:rPr lang="en-US" sz="2400" dirty="0">
                <a:latin typeface="Times New Roman" panose="02020603050405020304" pitchFamily="18" charset="0"/>
                <a:cs typeface="Times New Roman" panose="02020603050405020304" pitchFamily="18" charset="0"/>
              </a:rPr>
              <a:t> and s</a:t>
            </a:r>
            <a:r>
              <a:rPr lang="en-US" sz="2400" b="1" dirty="0">
                <a:latin typeface="Times New Roman" panose="02020603050405020304" pitchFamily="18" charset="0"/>
                <a:cs typeface="Times New Roman" panose="02020603050405020304" pitchFamily="18" charset="0"/>
              </a:rPr>
              <a:t>tate-space on the </a:t>
            </a:r>
            <a:r>
              <a:rPr lang="en-US" sz="2400" b="1" dirty="0">
                <a:highlight>
                  <a:srgbClr val="FFFF00"/>
                </a:highlight>
                <a:latin typeface="Times New Roman" panose="02020603050405020304" pitchFamily="18" charset="0"/>
                <a:cs typeface="Times New Roman" panose="02020603050405020304" pitchFamily="18" charset="0"/>
              </a:rPr>
              <a:t>x-axis. </a:t>
            </a:r>
          </a:p>
          <a:p>
            <a:pPr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If the function on Y-axis is cost then, the goal of search is to find the global minimum and local minimum. </a:t>
            </a:r>
          </a:p>
          <a:p>
            <a:pPr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If the function of Y-axis is Objective function, then the goal of the search is to find the global maximum and local maximum.</a:t>
            </a:r>
          </a:p>
          <a:p>
            <a:pPr algn="just">
              <a:lnSpc>
                <a:spcPct val="150000"/>
              </a:lnSpc>
            </a:pP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Smile\Desktop\hill-climbing-algorithm-in-ai.png"/>
          <p:cNvPicPr>
            <a:picLocks noChangeAspect="1" noChangeArrowheads="1"/>
          </p:cNvPicPr>
          <p:nvPr/>
        </p:nvPicPr>
        <p:blipFill>
          <a:blip r:embed="rId2" cstate="print"/>
          <a:srcRect/>
          <a:stretch>
            <a:fillRect/>
          </a:stretch>
        </p:blipFill>
        <p:spPr bwMode="auto">
          <a:xfrm>
            <a:off x="1927860" y="541655"/>
            <a:ext cx="9100820" cy="5291455"/>
          </a:xfrm>
          <a:prstGeom prst="rect">
            <a:avLst/>
          </a:prstGeom>
          <a:noFill/>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3352" y="260648"/>
            <a:ext cx="11737304" cy="5754370"/>
          </a:xfrm>
          <a:prstGeom prst="rect">
            <a:avLst/>
          </a:prstGeom>
        </p:spPr>
        <p:txBody>
          <a:bodyPr wrap="square">
            <a:spAutoFit/>
          </a:bodyPr>
          <a:lstStyle/>
          <a:p>
            <a:pPr algn="l"/>
            <a:r>
              <a:rPr lang="en-US" sz="2800" b="1" dirty="0">
                <a:latin typeface="Times New Roman" panose="02020603050405020304" pitchFamily="18" charset="0"/>
                <a:cs typeface="Times New Roman" panose="02020603050405020304" pitchFamily="18" charset="0"/>
              </a:rPr>
              <a:t>Different regions in the state space landscape:</a:t>
            </a:r>
          </a:p>
          <a:p>
            <a:pPr algn="just"/>
            <a:endParaRPr lang="en-US" sz="28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Local Maximum:</a:t>
            </a:r>
            <a:r>
              <a:rPr lang="en-US" sz="2400" dirty="0">
                <a:latin typeface="Times New Roman" panose="02020603050405020304" pitchFamily="18" charset="0"/>
                <a:cs typeface="Times New Roman" panose="02020603050405020304" pitchFamily="18" charset="0"/>
              </a:rPr>
              <a:t> Local maximum is a state which is better than its neighbor states, but there is also another state which is higher than it.</a:t>
            </a: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Global Maximum:</a:t>
            </a:r>
            <a:r>
              <a:rPr lang="en-US" sz="2400" dirty="0">
                <a:latin typeface="Times New Roman" panose="02020603050405020304" pitchFamily="18" charset="0"/>
                <a:cs typeface="Times New Roman" panose="02020603050405020304" pitchFamily="18" charset="0"/>
              </a:rPr>
              <a:t> Global maximum is the best possible state of state space landscape. It has the highest value of objective function</a:t>
            </a:r>
          </a:p>
          <a:p>
            <a:pPr algn="just"/>
            <a:r>
              <a:rPr lang="en-US" sz="2400" dirty="0">
                <a:latin typeface="Times New Roman" panose="02020603050405020304" pitchFamily="18" charset="0"/>
                <a:cs typeface="Times New Roman" panose="02020603050405020304" pitchFamily="18" charset="0"/>
              </a:rPr>
              <a:t>.</a:t>
            </a:r>
          </a:p>
          <a:p>
            <a:pPr algn="just"/>
            <a:r>
              <a:rPr lang="en-US" sz="2400" b="1" dirty="0">
                <a:latin typeface="Times New Roman" panose="02020603050405020304" pitchFamily="18" charset="0"/>
                <a:cs typeface="Times New Roman" panose="02020603050405020304" pitchFamily="18" charset="0"/>
              </a:rPr>
              <a:t>Current state:</a:t>
            </a:r>
            <a:r>
              <a:rPr lang="en-US" sz="2400" dirty="0">
                <a:latin typeface="Times New Roman" panose="02020603050405020304" pitchFamily="18" charset="0"/>
                <a:cs typeface="Times New Roman" panose="02020603050405020304" pitchFamily="18" charset="0"/>
              </a:rPr>
              <a:t> It is a state in a landscape diagram where an agent is currently present.</a:t>
            </a: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Flat local maximum:</a:t>
            </a:r>
            <a:r>
              <a:rPr lang="en-US" sz="2400" dirty="0">
                <a:latin typeface="Times New Roman" panose="02020603050405020304" pitchFamily="18" charset="0"/>
                <a:cs typeface="Times New Roman" panose="02020603050405020304" pitchFamily="18" charset="0"/>
              </a:rPr>
              <a:t> It is a flat space in the landscape where all the neighbor states of current states have the same value.</a:t>
            </a: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Shoulder:</a:t>
            </a:r>
            <a:r>
              <a:rPr lang="en-US" sz="2400" dirty="0">
                <a:latin typeface="Times New Roman" panose="02020603050405020304" pitchFamily="18" charset="0"/>
                <a:cs typeface="Times New Roman" panose="02020603050405020304" pitchFamily="18" charset="0"/>
              </a:rPr>
              <a:t> It is a plateau region which has an uphill edge.</a:t>
            </a:r>
          </a:p>
          <a:p>
            <a:pPr algn="just"/>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5400" y="836712"/>
            <a:ext cx="11737304" cy="3322955"/>
          </a:xfrm>
          <a:prstGeom prst="rect">
            <a:avLst/>
          </a:prstGeom>
        </p:spPr>
        <p:txBody>
          <a:bodyPr wrap="square">
            <a:spAutoFit/>
          </a:bodyPr>
          <a:lstStyle/>
          <a:p>
            <a:pPr algn="just">
              <a:lnSpc>
                <a:spcPct val="150000"/>
              </a:lnSpc>
            </a:pPr>
            <a:r>
              <a:rPr lang="en-US" sz="2800" b="1" dirty="0">
                <a:latin typeface="Times New Roman" panose="02020603050405020304" pitchFamily="18" charset="0"/>
                <a:cs typeface="Times New Roman" panose="02020603050405020304" pitchFamily="18" charset="0"/>
              </a:rPr>
              <a:t>Types of Hill Climbing Algorithm:</a:t>
            </a:r>
          </a:p>
          <a:p>
            <a:pPr marL="514350" indent="-514350" algn="just">
              <a:lnSpc>
                <a:spcPct val="150000"/>
              </a:lnSpc>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Simple hill Climbing:</a:t>
            </a:r>
          </a:p>
          <a:p>
            <a:pPr marL="514350" indent="-514350" algn="just">
              <a:lnSpc>
                <a:spcPct val="150000"/>
              </a:lnSpc>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Steepest-Ascent hill-climbing:</a:t>
            </a:r>
          </a:p>
          <a:p>
            <a:pPr marL="514350" indent="-514350" algn="just">
              <a:lnSpc>
                <a:spcPct val="150000"/>
              </a:lnSpc>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Stochastic hill Climbing:</a:t>
            </a:r>
          </a:p>
          <a:p>
            <a:pPr algn="just">
              <a:lnSpc>
                <a:spcPct val="150000"/>
              </a:lnSpc>
            </a:pP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1344" y="476672"/>
            <a:ext cx="11737304" cy="5477510"/>
          </a:xfrm>
          <a:prstGeom prst="rect">
            <a:avLst/>
          </a:prstGeom>
        </p:spPr>
        <p:txBody>
          <a:bodyPr wrap="square">
            <a:spAutoFit/>
          </a:bodyPr>
          <a:lstStyle/>
          <a:p>
            <a:pPr algn="just">
              <a:lnSpc>
                <a:spcPct val="150000"/>
              </a:lnSpc>
            </a:pPr>
            <a:r>
              <a:rPr lang="en-US" sz="2800" b="1" u="sng" dirty="0">
                <a:latin typeface="Times New Roman" panose="02020603050405020304" pitchFamily="18" charset="0"/>
                <a:cs typeface="Times New Roman" panose="02020603050405020304" pitchFamily="18" charset="0"/>
              </a:rPr>
              <a:t>1. Simple Hill Climbing:</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Simple hill climbing is the “simplest way to implement a hill climbing algorithm.” </a:t>
            </a:r>
          </a:p>
          <a:p>
            <a:pPr algn="just">
              <a:lnSpc>
                <a:spcPct val="150000"/>
              </a:lnSpc>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It only evaluates the neighbor node state at a time and selects the first one which optimizes current cost and set it as a current state</a:t>
            </a:r>
            <a:r>
              <a:rPr lang="en-US" sz="2800" dirty="0">
                <a:latin typeface="Times New Roman" panose="02020603050405020304" pitchFamily="18" charset="0"/>
                <a:cs typeface="Times New Roman" panose="02020603050405020304" pitchFamily="18" charset="0"/>
              </a:rPr>
              <a:t>.</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only checks it's one successor state, and if it finds better than the current state, then move else be in the same state. This algorithm has the following features:</a:t>
            </a:r>
          </a:p>
          <a:p>
            <a:pPr marL="152908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Less time consuming</a:t>
            </a:r>
          </a:p>
          <a:p>
            <a:pPr marL="152908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Less optimal solution and the solution is not guaranteed</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1344" y="476672"/>
            <a:ext cx="11737304" cy="5015865"/>
          </a:xfrm>
          <a:prstGeom prst="rect">
            <a:avLst/>
          </a:prstGeom>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Algorithm for Simple Hill Climbing:</a:t>
            </a:r>
          </a:p>
          <a:p>
            <a:pPr algn="just"/>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Step 1:</a:t>
            </a:r>
            <a:r>
              <a:rPr lang="en-US" sz="2800" dirty="0">
                <a:latin typeface="Times New Roman" panose="02020603050405020304" pitchFamily="18" charset="0"/>
                <a:cs typeface="Times New Roman" panose="02020603050405020304" pitchFamily="18" charset="0"/>
              </a:rPr>
              <a:t> Evaluate the initial state, if it is goal state then return success and Stop.</a:t>
            </a:r>
          </a:p>
          <a:p>
            <a:pPr algn="just"/>
            <a:r>
              <a:rPr lang="en-US" sz="2800" b="1" dirty="0">
                <a:latin typeface="Times New Roman" panose="02020603050405020304" pitchFamily="18" charset="0"/>
                <a:cs typeface="Times New Roman" panose="02020603050405020304" pitchFamily="18" charset="0"/>
              </a:rPr>
              <a:t>Step 2:</a:t>
            </a:r>
            <a:r>
              <a:rPr lang="en-US" sz="2800" dirty="0">
                <a:latin typeface="Times New Roman" panose="02020603050405020304" pitchFamily="18" charset="0"/>
                <a:cs typeface="Times New Roman" panose="02020603050405020304" pitchFamily="18" charset="0"/>
              </a:rPr>
              <a:t> Loop Until a solution is found or there is no new operator left to apply.</a:t>
            </a:r>
          </a:p>
          <a:p>
            <a:pPr algn="just"/>
            <a:r>
              <a:rPr lang="en-US" sz="2800" b="1" dirty="0">
                <a:latin typeface="Times New Roman" panose="02020603050405020304" pitchFamily="18" charset="0"/>
                <a:cs typeface="Times New Roman" panose="02020603050405020304" pitchFamily="18" charset="0"/>
              </a:rPr>
              <a:t>Step 3:</a:t>
            </a:r>
            <a:r>
              <a:rPr lang="en-US" sz="2800" dirty="0">
                <a:latin typeface="Times New Roman" panose="02020603050405020304" pitchFamily="18" charset="0"/>
                <a:cs typeface="Times New Roman" panose="02020603050405020304" pitchFamily="18" charset="0"/>
              </a:rPr>
              <a:t> Select and apply an operator to the current state.</a:t>
            </a:r>
          </a:p>
          <a:p>
            <a:pPr algn="just"/>
            <a:r>
              <a:rPr lang="en-US" sz="2800" b="1" dirty="0">
                <a:latin typeface="Times New Roman" panose="02020603050405020304" pitchFamily="18" charset="0"/>
                <a:cs typeface="Times New Roman" panose="02020603050405020304" pitchFamily="18" charset="0"/>
              </a:rPr>
              <a:t>Step 4:</a:t>
            </a:r>
            <a:r>
              <a:rPr lang="en-US" sz="2800" dirty="0">
                <a:latin typeface="Times New Roman" panose="02020603050405020304" pitchFamily="18" charset="0"/>
                <a:cs typeface="Times New Roman" panose="02020603050405020304" pitchFamily="18" charset="0"/>
              </a:rPr>
              <a:t> Check new state:</a:t>
            </a:r>
          </a:p>
          <a:p>
            <a:pPr lvl="1" algn="just"/>
            <a:r>
              <a:rPr lang="en-US" sz="2800" dirty="0">
                <a:latin typeface="Times New Roman" panose="02020603050405020304" pitchFamily="18" charset="0"/>
                <a:cs typeface="Times New Roman" panose="02020603050405020304" pitchFamily="18" charset="0"/>
              </a:rPr>
              <a:t>If it is goal state, then return success and quit.</a:t>
            </a:r>
          </a:p>
          <a:p>
            <a:pPr lvl="1" algn="just"/>
            <a:r>
              <a:rPr lang="en-US" sz="2800" dirty="0">
                <a:latin typeface="Times New Roman" panose="02020603050405020304" pitchFamily="18" charset="0"/>
                <a:cs typeface="Times New Roman" panose="02020603050405020304" pitchFamily="18" charset="0"/>
              </a:rPr>
              <a:t>Else if it is better than the current state then assign new state as a current state.</a:t>
            </a:r>
          </a:p>
          <a:p>
            <a:pPr lvl="1" algn="just"/>
            <a:r>
              <a:rPr lang="en-US" sz="2800" dirty="0">
                <a:latin typeface="Times New Roman" panose="02020603050405020304" pitchFamily="18" charset="0"/>
                <a:cs typeface="Times New Roman" panose="02020603050405020304" pitchFamily="18" charset="0"/>
              </a:rPr>
              <a:t>Else if not better than the current state, then return to step2.</a:t>
            </a:r>
          </a:p>
          <a:p>
            <a:pPr algn="just"/>
            <a:r>
              <a:rPr lang="en-US" sz="2800" b="1" dirty="0">
                <a:latin typeface="Times New Roman" panose="02020603050405020304" pitchFamily="18" charset="0"/>
                <a:cs typeface="Times New Roman" panose="02020603050405020304" pitchFamily="18" charset="0"/>
              </a:rPr>
              <a:t>Step 5:</a:t>
            </a:r>
            <a:r>
              <a:rPr lang="en-US" sz="2800" dirty="0">
                <a:latin typeface="Times New Roman" panose="02020603050405020304" pitchFamily="18" charset="0"/>
                <a:cs typeface="Times New Roman" panose="02020603050405020304" pitchFamily="18" charset="0"/>
              </a:rPr>
              <a:t> Exit.</a:t>
            </a:r>
          </a:p>
          <a:p>
            <a:pPr algn="just"/>
            <a:endParaRPr lang="en-US" sz="4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5489" y="692572"/>
            <a:ext cx="11737304" cy="3969385"/>
          </a:xfrm>
          <a:prstGeom prst="rect">
            <a:avLst/>
          </a:prstGeom>
        </p:spPr>
        <p:txBody>
          <a:bodyPr wrap="square">
            <a:spAutoFit/>
          </a:bodyPr>
          <a:lstStyle/>
          <a:p>
            <a:pPr algn="just">
              <a:lnSpc>
                <a:spcPct val="150000"/>
              </a:lnSpc>
            </a:pPr>
            <a:r>
              <a:rPr lang="en-US" sz="2800" b="1" u="sng" dirty="0">
                <a:latin typeface="Times New Roman" panose="02020603050405020304" pitchFamily="18" charset="0"/>
                <a:cs typeface="Times New Roman" panose="02020603050405020304" pitchFamily="18" charset="0"/>
              </a:rPr>
              <a:t>2. Steepest-Ascent hill climbing:</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steepest-Ascent algorithm is a variation of simple hill climbing algorithm. </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This algorithm examines all the neighboring nodes of the current state and selects one neighbor node which is closest to the goal state.</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This algorithm consumes more time as it searches for multiple neighbors</a:t>
            </a:r>
          </a:p>
          <a:p>
            <a:pPr algn="just">
              <a:lnSpc>
                <a:spcPct val="150000"/>
              </a:lnSpc>
            </a:pP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1344" y="476672"/>
            <a:ext cx="11737304" cy="5892800"/>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Algorithm for Steepest-Ascent hill climbing:</a:t>
            </a:r>
          </a:p>
          <a:p>
            <a:r>
              <a:rPr lang="en-US" sz="2600" b="1" dirty="0">
                <a:latin typeface="Times New Roman" panose="02020603050405020304" pitchFamily="18" charset="0"/>
                <a:cs typeface="Times New Roman" panose="02020603050405020304" pitchFamily="18" charset="0"/>
              </a:rPr>
              <a:t>Step 1:</a:t>
            </a:r>
            <a:r>
              <a:rPr lang="en-US" sz="2600" dirty="0">
                <a:latin typeface="Times New Roman" panose="02020603050405020304" pitchFamily="18" charset="0"/>
                <a:cs typeface="Times New Roman" panose="02020603050405020304" pitchFamily="18" charset="0"/>
              </a:rPr>
              <a:t> Evaluate the initial state, if it is goal state then return success and stop, else make current state as initial state.</a:t>
            </a:r>
          </a:p>
          <a:p>
            <a:r>
              <a:rPr lang="en-US" sz="2600" b="1" dirty="0">
                <a:latin typeface="Times New Roman" panose="02020603050405020304" pitchFamily="18" charset="0"/>
                <a:cs typeface="Times New Roman" panose="02020603050405020304" pitchFamily="18" charset="0"/>
              </a:rPr>
              <a:t>Step 2:</a:t>
            </a:r>
            <a:r>
              <a:rPr lang="en-US" sz="2600" dirty="0">
                <a:latin typeface="Times New Roman" panose="02020603050405020304" pitchFamily="18" charset="0"/>
                <a:cs typeface="Times New Roman" panose="02020603050405020304" pitchFamily="18" charset="0"/>
              </a:rPr>
              <a:t> Loop until a solution is found or the current state does not change.</a:t>
            </a:r>
          </a:p>
          <a:p>
            <a:pPr lvl="1"/>
            <a:r>
              <a:rPr lang="en-US" sz="2600" dirty="0">
                <a:latin typeface="Times New Roman" panose="02020603050405020304" pitchFamily="18" charset="0"/>
                <a:cs typeface="Times New Roman" panose="02020603050405020304" pitchFamily="18" charset="0"/>
              </a:rPr>
              <a:t>Let SUCC be a state such that any successor of the current state will be better than it.</a:t>
            </a:r>
          </a:p>
          <a:p>
            <a:pPr lvl="1"/>
            <a:r>
              <a:rPr lang="en-US" sz="2600" dirty="0">
                <a:latin typeface="Times New Roman" panose="02020603050405020304" pitchFamily="18" charset="0"/>
                <a:cs typeface="Times New Roman" panose="02020603050405020304" pitchFamily="18" charset="0"/>
              </a:rPr>
              <a:t>For each operator that applies to the current state:</a:t>
            </a:r>
          </a:p>
          <a:p>
            <a:pPr lvl="2"/>
            <a:r>
              <a:rPr lang="en-US" sz="2600" dirty="0">
                <a:latin typeface="Times New Roman" panose="02020603050405020304" pitchFamily="18" charset="0"/>
                <a:cs typeface="Times New Roman" panose="02020603050405020304" pitchFamily="18" charset="0"/>
              </a:rPr>
              <a:t>Apply the new operator and generate a new state.</a:t>
            </a:r>
          </a:p>
          <a:p>
            <a:pPr lvl="2"/>
            <a:r>
              <a:rPr lang="en-US" sz="2600" dirty="0">
                <a:latin typeface="Times New Roman" panose="02020603050405020304" pitchFamily="18" charset="0"/>
                <a:cs typeface="Times New Roman" panose="02020603050405020304" pitchFamily="18" charset="0"/>
              </a:rPr>
              <a:t>Evaluate the new state.</a:t>
            </a:r>
          </a:p>
          <a:p>
            <a:pPr lvl="2"/>
            <a:r>
              <a:rPr lang="en-US" sz="2600" dirty="0">
                <a:latin typeface="Times New Roman" panose="02020603050405020304" pitchFamily="18" charset="0"/>
                <a:cs typeface="Times New Roman" panose="02020603050405020304" pitchFamily="18" charset="0"/>
              </a:rPr>
              <a:t>If it is goal state, then return it and quit, else compare it to the SUCC.</a:t>
            </a:r>
          </a:p>
          <a:p>
            <a:pPr lvl="2"/>
            <a:r>
              <a:rPr lang="en-US" sz="2600" dirty="0">
                <a:latin typeface="Times New Roman" panose="02020603050405020304" pitchFamily="18" charset="0"/>
                <a:cs typeface="Times New Roman" panose="02020603050405020304" pitchFamily="18" charset="0"/>
              </a:rPr>
              <a:t>If it is better than SUCC, then set new state as SUCC.</a:t>
            </a:r>
          </a:p>
          <a:p>
            <a:pPr lvl="2"/>
            <a:r>
              <a:rPr lang="en-US" sz="2600" dirty="0">
                <a:latin typeface="Times New Roman" panose="02020603050405020304" pitchFamily="18" charset="0"/>
                <a:cs typeface="Times New Roman" panose="02020603050405020304" pitchFamily="18" charset="0"/>
              </a:rPr>
              <a:t>If the SUCC is better than the current state, then set current state to SUCC.</a:t>
            </a:r>
          </a:p>
          <a:p>
            <a:r>
              <a:rPr lang="en-US" sz="2600" b="1" dirty="0">
                <a:latin typeface="Times New Roman" panose="02020603050405020304" pitchFamily="18" charset="0"/>
                <a:cs typeface="Times New Roman" panose="02020603050405020304" pitchFamily="18" charset="0"/>
              </a:rPr>
              <a:t>Step 5:</a:t>
            </a:r>
            <a:r>
              <a:rPr lang="en-US" sz="2600" dirty="0">
                <a:latin typeface="Times New Roman" panose="02020603050405020304" pitchFamily="18" charset="0"/>
                <a:cs typeface="Times New Roman" panose="02020603050405020304" pitchFamily="18" charset="0"/>
              </a:rPr>
              <a:t> Exit.</a:t>
            </a:r>
          </a:p>
          <a:p>
            <a:pPr algn="just">
              <a:lnSpc>
                <a:spcPct val="150000"/>
              </a:lnSpc>
            </a:pPr>
            <a:endParaRPr lang="en-US" sz="2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9425" y="1125220"/>
            <a:ext cx="10729595" cy="3923030"/>
          </a:xfrm>
          <a:prstGeom prst="rect">
            <a:avLst/>
          </a:prstGeom>
        </p:spPr>
        <p:txBody>
          <a:bodyPr wrap="square">
            <a:spAutoFit/>
          </a:bodyPr>
          <a:lstStyle/>
          <a:p>
            <a:pPr algn="just">
              <a:lnSpc>
                <a:spcPct val="150000"/>
              </a:lnSpc>
            </a:pPr>
            <a:r>
              <a:rPr lang="en-US" sz="2800" b="1" u="sng" dirty="0">
                <a:latin typeface="Times New Roman" panose="02020603050405020304" pitchFamily="18" charset="0"/>
                <a:cs typeface="Times New Roman" panose="02020603050405020304" pitchFamily="18" charset="0"/>
              </a:rPr>
              <a:t>3. Stochastic hill climbing:</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Stochastic hill climbing does not examine for all its neighbor before moving. </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Rather, this search algorithm selects one neighbor node at random and decides whether to choose it as a current state or examine another state.</a:t>
            </a:r>
          </a:p>
          <a:p>
            <a:pPr algn="just">
              <a:lnSpc>
                <a:spcPct val="150000"/>
              </a:lnSpc>
            </a:pPr>
            <a:endParaRPr lang="en-US" sz="2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1344" y="476672"/>
            <a:ext cx="11737304" cy="5862320"/>
          </a:xfrm>
          <a:prstGeom prst="rect">
            <a:avLst/>
          </a:prstGeom>
        </p:spPr>
        <p:txBody>
          <a:bodyPr wrap="square">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Problems in Hill Climbing Algorithm:</a:t>
            </a:r>
          </a:p>
          <a:p>
            <a:pPr marL="514350" indent="-514350" algn="just">
              <a:lnSpc>
                <a:spcPct val="150000"/>
              </a:lnSpc>
              <a:buAutoNum type="arabicPeriod"/>
            </a:pPr>
            <a:r>
              <a:rPr lang="en-US" sz="2800" b="1" dirty="0">
                <a:latin typeface="Times New Roman" panose="02020603050405020304" pitchFamily="18" charset="0"/>
                <a:cs typeface="Times New Roman" panose="02020603050405020304" pitchFamily="18" charset="0"/>
              </a:rPr>
              <a:t>Local Maximum:</a:t>
            </a:r>
            <a:r>
              <a:rPr lang="en-US" sz="2800" dirty="0">
                <a:latin typeface="Times New Roman" panose="02020603050405020304" pitchFamily="18" charset="0"/>
                <a:cs typeface="Times New Roman" panose="02020603050405020304" pitchFamily="18" charset="0"/>
              </a:rPr>
              <a:t> A local maximum is a peak state in the landscape which is better than each of its neighboring states, but there is another state also present which is higher than the local maximum.</a:t>
            </a:r>
          </a:p>
          <a:p>
            <a:pPr indent="0" algn="just">
              <a:lnSpc>
                <a:spcPct val="150000"/>
              </a:lnSpc>
              <a:buNone/>
            </a:pPr>
            <a:endParaRPr lang="en-US" sz="2800" b="1" dirty="0">
              <a:latin typeface="Times New Roman" panose="02020603050405020304" pitchFamily="18" charset="0"/>
              <a:cs typeface="Times New Roman" panose="02020603050405020304" pitchFamily="18" charset="0"/>
            </a:endParaRPr>
          </a:p>
          <a:p>
            <a:pPr indent="0" algn="just">
              <a:lnSpc>
                <a:spcPct val="150000"/>
              </a:lnSpc>
              <a:buNone/>
            </a:pPr>
            <a:r>
              <a:rPr lang="en-US" sz="2800" b="1" dirty="0">
                <a:latin typeface="Times New Roman" panose="02020603050405020304" pitchFamily="18" charset="0"/>
                <a:cs typeface="Times New Roman" panose="02020603050405020304" pitchFamily="18" charset="0"/>
              </a:rPr>
              <a:t>Solution:</a:t>
            </a:r>
            <a:r>
              <a:rPr lang="en-US" sz="2800" dirty="0">
                <a:latin typeface="Times New Roman" panose="02020603050405020304" pitchFamily="18" charset="0"/>
                <a:cs typeface="Times New Roman" panose="02020603050405020304" pitchFamily="18" charset="0"/>
              </a:rPr>
              <a:t> Backtracking technique can be a solution of the local maximum in state space landscape.</a:t>
            </a:r>
            <a:r>
              <a:rPr lang="en-US" sz="2800" b="1" dirty="0">
                <a:latin typeface="Times New Roman" panose="02020603050405020304" pitchFamily="18" charset="0"/>
                <a:cs typeface="Times New Roman" panose="02020603050405020304" pitchFamily="18" charset="0"/>
              </a:rPr>
              <a:t> Create a list of the promising path so that the algorithm can backtrack the search space and explore other paths as well.</a:t>
            </a:r>
          </a:p>
          <a:p>
            <a:pPr algn="just">
              <a:lnSpc>
                <a:spcPct val="150000"/>
              </a:lnSpc>
            </a:pPr>
            <a:endParaRPr lang="en-US" sz="26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Smile\Desktop\hill-climbing-algorithm-in-ai2.png"/>
          <p:cNvPicPr>
            <a:picLocks noChangeAspect="1" noChangeArrowheads="1"/>
          </p:cNvPicPr>
          <p:nvPr/>
        </p:nvPicPr>
        <p:blipFill>
          <a:blip r:embed="rId2" cstate="print"/>
          <a:srcRect/>
          <a:stretch>
            <a:fillRect/>
          </a:stretch>
        </p:blipFill>
        <p:spPr bwMode="auto">
          <a:xfrm>
            <a:off x="2063552" y="1700808"/>
            <a:ext cx="8878220" cy="3534693"/>
          </a:xfrm>
          <a:prstGeom prst="rect">
            <a:avLst/>
          </a:prstGeom>
          <a:noFill/>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7408" y="548680"/>
            <a:ext cx="11089232" cy="5908040"/>
          </a:xfrm>
          <a:prstGeom prst="rect">
            <a:avLst/>
          </a:prstGeom>
        </p:spPr>
        <p:txBody>
          <a:bodyPr wrap="square">
            <a:spAutoFit/>
          </a:bodyPr>
          <a:lstStyle/>
          <a:p>
            <a:pPr algn="just">
              <a:lnSpc>
                <a:spcPct val="150000"/>
              </a:lnSpc>
            </a:pPr>
            <a:r>
              <a:rPr lang="en-US" sz="2800" b="1" dirty="0">
                <a:latin typeface="Times New Roman" panose="02020603050405020304" pitchFamily="18" charset="0"/>
                <a:cs typeface="Times New Roman" panose="02020603050405020304" pitchFamily="18" charset="0"/>
              </a:rPr>
              <a:t>2. Plateau:</a:t>
            </a:r>
            <a:r>
              <a:rPr lang="en-US" sz="2800" dirty="0">
                <a:latin typeface="Times New Roman" panose="02020603050405020304" pitchFamily="18" charset="0"/>
                <a:cs typeface="Times New Roman" panose="02020603050405020304" pitchFamily="18" charset="0"/>
              </a:rPr>
              <a:t> A plateau is the flat area of the search space in which all the neighbor states of the current state contains the same value, because of this algorithm does not find any best direction to move. A hill-climbing search might be lost in the plateau area.</a:t>
            </a:r>
          </a:p>
          <a:p>
            <a:pPr algn="just">
              <a:lnSpc>
                <a:spcPct val="150000"/>
              </a:lnSpc>
            </a:pPr>
            <a:endParaRPr lang="en-US" sz="2800" dirty="0">
              <a:latin typeface="Times New Roman" panose="02020603050405020304" pitchFamily="18" charset="0"/>
              <a:cs typeface="Times New Roman" panose="02020603050405020304" pitchFamily="18" charset="0"/>
            </a:endParaRPr>
          </a:p>
          <a:p>
            <a:pPr algn="just">
              <a:lnSpc>
                <a:spcPct val="150000"/>
              </a:lnSpc>
            </a:pPr>
            <a:r>
              <a:rPr lang="en-US" sz="2800" b="1" dirty="0">
                <a:latin typeface="Times New Roman" panose="02020603050405020304" pitchFamily="18" charset="0"/>
                <a:cs typeface="Times New Roman" panose="02020603050405020304" pitchFamily="18" charset="0"/>
              </a:rPr>
              <a:t>Solution:</a:t>
            </a:r>
            <a:r>
              <a:rPr lang="en-US" sz="2800" dirty="0">
                <a:latin typeface="Times New Roman" panose="02020603050405020304" pitchFamily="18" charset="0"/>
                <a:cs typeface="Times New Roman" panose="02020603050405020304" pitchFamily="18" charset="0"/>
              </a:rPr>
              <a:t> The solution for the plateau is to take big steps or very little steps while searching, to solve the problem. Randomly select a state which is far away from the current state so it is possible that the algorithm could find non-plateau region.</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Smile\Desktop\hill-climbing-algorithm-in-ai3.png"/>
          <p:cNvPicPr>
            <a:picLocks noChangeAspect="1" noChangeArrowheads="1"/>
          </p:cNvPicPr>
          <p:nvPr/>
        </p:nvPicPr>
        <p:blipFill>
          <a:blip r:embed="rId2" cstate="print"/>
          <a:srcRect/>
          <a:stretch>
            <a:fillRect/>
          </a:stretch>
        </p:blipFill>
        <p:spPr bwMode="auto">
          <a:xfrm>
            <a:off x="2711624" y="1628800"/>
            <a:ext cx="7225060" cy="3212753"/>
          </a:xfrm>
          <a:prstGeom prst="rect">
            <a:avLst/>
          </a:prstGeom>
          <a:noFill/>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9376" y="692696"/>
            <a:ext cx="10657184" cy="3969385"/>
          </a:xfrm>
          <a:prstGeom prst="rect">
            <a:avLst/>
          </a:prstGeom>
        </p:spPr>
        <p:txBody>
          <a:bodyPr wrap="square">
            <a:spAutoFit/>
          </a:bodyPr>
          <a:lstStyle/>
          <a:p>
            <a:pPr algn="just">
              <a:lnSpc>
                <a:spcPct val="150000"/>
              </a:lnSpc>
            </a:pPr>
            <a:r>
              <a:rPr lang="en-US" sz="2800" b="1" dirty="0">
                <a:latin typeface="Times New Roman" panose="02020603050405020304" pitchFamily="18" charset="0"/>
                <a:cs typeface="Times New Roman" panose="02020603050405020304" pitchFamily="18" charset="0"/>
              </a:rPr>
              <a:t>3. Ridges:</a:t>
            </a:r>
            <a:r>
              <a:rPr lang="en-US" sz="2800" dirty="0">
                <a:latin typeface="Times New Roman" panose="02020603050405020304" pitchFamily="18" charset="0"/>
                <a:cs typeface="Times New Roman" panose="02020603050405020304" pitchFamily="18" charset="0"/>
              </a:rPr>
              <a:t> A ridge is a special form of the local maximum. It has an area which is higher than its surrounding areas, but itself has a slope, and cannot be reached in a single move.</a:t>
            </a:r>
          </a:p>
          <a:p>
            <a:pPr algn="just">
              <a:lnSpc>
                <a:spcPct val="150000"/>
              </a:lnSpc>
            </a:pPr>
            <a:endParaRPr lang="en-US" sz="2800" dirty="0">
              <a:latin typeface="Times New Roman" panose="02020603050405020304" pitchFamily="18" charset="0"/>
              <a:cs typeface="Times New Roman" panose="02020603050405020304" pitchFamily="18" charset="0"/>
            </a:endParaRPr>
          </a:p>
          <a:p>
            <a:pPr algn="just">
              <a:lnSpc>
                <a:spcPct val="150000"/>
              </a:lnSpc>
            </a:pPr>
            <a:r>
              <a:rPr lang="en-US" sz="2800" b="1" dirty="0">
                <a:latin typeface="Times New Roman" panose="02020603050405020304" pitchFamily="18" charset="0"/>
                <a:cs typeface="Times New Roman" panose="02020603050405020304" pitchFamily="18" charset="0"/>
              </a:rPr>
              <a:t>Solution:</a:t>
            </a:r>
            <a:r>
              <a:rPr lang="en-US" sz="2800" dirty="0">
                <a:latin typeface="Times New Roman" panose="02020603050405020304" pitchFamily="18" charset="0"/>
                <a:cs typeface="Times New Roman" panose="02020603050405020304" pitchFamily="18" charset="0"/>
              </a:rPr>
              <a:t> With the use of bidirectional search, or by moving in different directions, we can improve this problem.</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Smile\Desktop\hill-climbing-algorithm-in-ai4.png"/>
          <p:cNvPicPr>
            <a:picLocks noChangeAspect="1" noChangeArrowheads="1"/>
          </p:cNvPicPr>
          <p:nvPr/>
        </p:nvPicPr>
        <p:blipFill>
          <a:blip r:embed="rId2" cstate="print"/>
          <a:srcRect/>
          <a:stretch>
            <a:fillRect/>
          </a:stretch>
        </p:blipFill>
        <p:spPr bwMode="auto">
          <a:xfrm>
            <a:off x="2207568" y="1226785"/>
            <a:ext cx="5898207" cy="3340454"/>
          </a:xfrm>
          <a:prstGeom prst="rect">
            <a:avLst/>
          </a:prstGeom>
          <a:noFill/>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55440" y="836712"/>
            <a:ext cx="10801200" cy="4615815"/>
          </a:xfrm>
          <a:prstGeom prst="rect">
            <a:avLst/>
          </a:prstGeom>
        </p:spPr>
        <p:txBody>
          <a:bodyPr wrap="square">
            <a:spAutoFit/>
          </a:bodyPr>
          <a:lstStyle/>
          <a:p>
            <a:pPr algn="just">
              <a:lnSpc>
                <a:spcPct val="150000"/>
              </a:lnSpc>
            </a:pPr>
            <a:r>
              <a:rPr lang="en-US" sz="2800" b="1" u="sng" dirty="0">
                <a:solidFill>
                  <a:srgbClr val="FF0000"/>
                </a:solidFill>
                <a:latin typeface="Times New Roman" panose="02020603050405020304" pitchFamily="18" charset="0"/>
                <a:cs typeface="Times New Roman" panose="02020603050405020304" pitchFamily="18" charset="0"/>
              </a:rPr>
              <a:t>Simulated Annealing:</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 hill-climbing algorithm which never makes a move towards a lower value guaranteed to be incomplete because it can get stuck on a local maximum. </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And if algorithm applies a random walk, by moving a successor, then it may complete but not efficient. </a:t>
            </a:r>
            <a:r>
              <a:rPr lang="en-US" sz="2800" b="1" dirty="0">
                <a:solidFill>
                  <a:srgbClr val="FF0000"/>
                </a:solidFill>
                <a:latin typeface="Times New Roman" panose="02020603050405020304" pitchFamily="18" charset="0"/>
                <a:cs typeface="Times New Roman" panose="02020603050405020304" pitchFamily="18" charset="0"/>
              </a:rPr>
              <a:t>Simulated Annealing</a:t>
            </a:r>
            <a:r>
              <a:rPr lang="en-US" sz="2800" dirty="0">
                <a:latin typeface="Times New Roman" panose="02020603050405020304" pitchFamily="18" charset="0"/>
                <a:cs typeface="Times New Roman" panose="02020603050405020304" pitchFamily="18" charset="0"/>
              </a:rPr>
              <a:t> is an algorithm which yields both efficiency and completeness.</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7408" y="548680"/>
            <a:ext cx="11233248" cy="5262245"/>
          </a:xfrm>
          <a:prstGeom prst="rect">
            <a:avLst/>
          </a:prstGeom>
        </p:spPr>
        <p:txBody>
          <a:bodyPr wrap="square">
            <a:spAutoFit/>
          </a:bodyPr>
          <a:lstStyle/>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 mechanical term </a:t>
            </a:r>
            <a:r>
              <a:rPr lang="en-US" sz="2800" b="1" dirty="0">
                <a:latin typeface="Times New Roman" panose="02020603050405020304" pitchFamily="18" charset="0"/>
                <a:cs typeface="Times New Roman" panose="02020603050405020304" pitchFamily="18" charset="0"/>
              </a:rPr>
              <a:t>Annealing</a:t>
            </a:r>
            <a:r>
              <a:rPr lang="en-US" sz="2800" dirty="0">
                <a:latin typeface="Times New Roman" panose="02020603050405020304" pitchFamily="18" charset="0"/>
                <a:cs typeface="Times New Roman" panose="02020603050405020304" pitchFamily="18" charset="0"/>
              </a:rPr>
              <a:t> is a process of hardening a metal or glass to a high temperature then cooling gradually, so this allows the metal to reach a low-energy crystalline state. </a:t>
            </a:r>
          </a:p>
          <a:p>
            <a:pPr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same process is used in simulated annealing </a:t>
            </a:r>
            <a:r>
              <a:rPr lang="en-US" sz="2800" b="1" dirty="0">
                <a:latin typeface="Times New Roman" panose="02020603050405020304" pitchFamily="18" charset="0"/>
                <a:cs typeface="Times New Roman" panose="02020603050405020304" pitchFamily="18" charset="0"/>
              </a:rPr>
              <a:t>in which the algorithm picks a random move, instead of picking the best move.</a:t>
            </a:r>
            <a:r>
              <a:rPr lang="en-US" sz="2800" dirty="0">
                <a:latin typeface="Times New Roman" panose="02020603050405020304" pitchFamily="18" charset="0"/>
                <a:cs typeface="Times New Roman" panose="02020603050405020304" pitchFamily="18" charset="0"/>
              </a:rPr>
              <a:t> If the random move improves the state, then it follows the same path.</a:t>
            </a:r>
            <a:endParaRPr lang="en-US" sz="280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Otherwise</a:t>
            </a:r>
            <a:r>
              <a:rPr lang="en-US" sz="2800" dirty="0">
                <a:latin typeface="Times New Roman" panose="02020603050405020304" pitchFamily="18" charset="0"/>
                <a:cs typeface="Times New Roman" panose="02020603050405020304" pitchFamily="18" charset="0"/>
              </a:rPr>
              <a:t>, the algorithm follows the path which has a probability of less than 1 or it moves downhill and chooses another path.</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27025" y="2668905"/>
            <a:ext cx="4064000" cy="368300"/>
          </a:xfrm>
          <a:prstGeom prst="rect">
            <a:avLst/>
          </a:prstGeom>
          <a:noFill/>
        </p:spPr>
        <p:txBody>
          <a:bodyPr wrap="square" rtlCol="0">
            <a:spAutoFit/>
          </a:bodyPr>
          <a:lstStyle/>
          <a:p>
            <a:endParaRPr lang="en-US"/>
          </a:p>
        </p:txBody>
      </p:sp>
      <p:sp>
        <p:nvSpPr>
          <p:cNvPr id="2" name="Text Box 1"/>
          <p:cNvSpPr txBox="1"/>
          <p:nvPr/>
        </p:nvSpPr>
        <p:spPr>
          <a:xfrm>
            <a:off x="623570" y="260985"/>
            <a:ext cx="11099165" cy="5876925"/>
          </a:xfrm>
          <a:prstGeom prst="rect">
            <a:avLst/>
          </a:prstGeom>
        </p:spPr>
        <p:txBody>
          <a:bodyPr wrap="square">
            <a:spAutoFit/>
          </a:bodyPr>
          <a:lstStyle/>
          <a:p>
            <a:pPr marL="0" indent="0" algn="just">
              <a:spcAft>
                <a:spcPct val="60000"/>
              </a:spcAft>
            </a:pPr>
            <a:r>
              <a:rPr lang="en-US" sz="2400" b="1" i="0">
                <a:solidFill>
                  <a:srgbClr val="FF0000"/>
                </a:solidFill>
                <a:latin typeface="Times New Roman" panose="02020603050405020304" pitchFamily="18" charset="0"/>
                <a:ea typeface="Montserrat"/>
                <a:cs typeface="Times New Roman" panose="02020603050405020304" pitchFamily="18" charset="0"/>
              </a:rPr>
              <a:t>            </a:t>
            </a:r>
            <a:r>
              <a:rPr sz="2400" b="1" i="0">
                <a:solidFill>
                  <a:srgbClr val="FF0000"/>
                </a:solidFill>
                <a:latin typeface="Times New Roman" panose="02020603050405020304" pitchFamily="18" charset="0"/>
                <a:ea typeface="Montserrat"/>
                <a:cs typeface="Times New Roman" panose="02020603050405020304" pitchFamily="18" charset="0"/>
              </a:rPr>
              <a:t>Applications of Hill Climbing Algorithm</a:t>
            </a:r>
          </a:p>
          <a:p>
            <a:pPr marL="0" indent="0" algn="just">
              <a:spcBef>
                <a:spcPct val="0"/>
              </a:spcBef>
            </a:pPr>
            <a:r>
              <a:rPr sz="2400" b="0" i="0">
                <a:solidFill>
                  <a:srgbClr val="2B2A29"/>
                </a:solidFill>
                <a:latin typeface="Times New Roman" panose="02020603050405020304" pitchFamily="18" charset="0"/>
                <a:ea typeface="Montserrat"/>
                <a:cs typeface="Times New Roman" panose="02020603050405020304" pitchFamily="18" charset="0"/>
              </a:rPr>
              <a:t>The hill climbing technique has seen wide-spread usage in artificial intelligence and optimization respectively. It methodically solves those problems via coupled research activities by systematically testing options and picking out the most appropriate one. Some of the application are as follows:</a:t>
            </a:r>
          </a:p>
          <a:p>
            <a:pPr marL="0" indent="0" algn="just">
              <a:spcBef>
                <a:spcPct val="0"/>
              </a:spcBef>
            </a:pPr>
            <a:r>
              <a:rPr sz="2400" b="0" i="0">
                <a:solidFill>
                  <a:srgbClr val="2B2A29"/>
                </a:solidFill>
                <a:latin typeface="Times New Roman" panose="02020603050405020304" pitchFamily="18" charset="0"/>
                <a:ea typeface="Montserrat"/>
                <a:cs typeface="Times New Roman" panose="02020603050405020304" pitchFamily="18" charset="0"/>
              </a:rPr>
              <a:t>Some of the application are as follows:</a:t>
            </a:r>
          </a:p>
          <a:p>
            <a:pPr marL="0" indent="0" algn="just">
              <a:spcBef>
                <a:spcPct val="0"/>
              </a:spcBef>
            </a:pPr>
            <a:r>
              <a:rPr sz="2400" b="1" i="0">
                <a:solidFill>
                  <a:srgbClr val="2B2A29"/>
                </a:solidFill>
                <a:latin typeface="Times New Roman" panose="02020603050405020304" pitchFamily="18" charset="0"/>
                <a:ea typeface="Montserrat"/>
                <a:cs typeface="Times New Roman" panose="02020603050405020304" pitchFamily="18" charset="0"/>
              </a:rPr>
              <a:t>1. Machine Learning:</a:t>
            </a:r>
          </a:p>
          <a:p>
            <a:pPr marL="0" indent="0" algn="just">
              <a:spcBef>
                <a:spcPct val="0"/>
              </a:spcBef>
            </a:pPr>
            <a:endParaRPr sz="2400" b="0" i="0">
              <a:solidFill>
                <a:srgbClr val="2B2A29"/>
              </a:solidFill>
              <a:latin typeface="Times New Roman" panose="02020603050405020304" pitchFamily="18" charset="0"/>
              <a:ea typeface="Montserrat"/>
              <a:cs typeface="Times New Roman" panose="02020603050405020304" pitchFamily="18" charset="0"/>
            </a:endParaRPr>
          </a:p>
          <a:p>
            <a:pPr marL="0" indent="0" algn="just">
              <a:spcBef>
                <a:spcPct val="0"/>
              </a:spcBef>
            </a:pPr>
            <a:r>
              <a:rPr sz="2400" b="0" i="0">
                <a:solidFill>
                  <a:srgbClr val="2B2A29"/>
                </a:solidFill>
                <a:latin typeface="Times New Roman" panose="02020603050405020304" pitchFamily="18" charset="0"/>
                <a:ea typeface="Montserrat"/>
                <a:cs typeface="Times New Roman" panose="02020603050405020304" pitchFamily="18" charset="0"/>
              </a:rPr>
              <a:t>Fine tuning of machine learning models frequently is doing the hyper parameter optimization that provides the model with guidance on how it learns and behaves. Another exercise which serves the same purpose is hill training. Gradual adjustment of hyperparameters and their evaluation according to the respectively reached the essence of the hill climbing method.</a:t>
            </a:r>
          </a:p>
          <a:p>
            <a:pPr marL="0" indent="0" algn="just">
              <a:spcBef>
                <a:spcPct val="0"/>
              </a:spcBef>
            </a:pPr>
            <a:endParaRPr sz="2400" b="0" i="0">
              <a:solidFill>
                <a:srgbClr val="2B2A29"/>
              </a:solidFill>
              <a:latin typeface="Times New Roman" panose="02020603050405020304" pitchFamily="18" charset="0"/>
              <a:ea typeface="Montserrat"/>
              <a:cs typeface="Times New Roman" panose="02020603050405020304" pitchFamily="18" charset="0"/>
            </a:endParaRPr>
          </a:p>
          <a:p>
            <a:pPr marL="0" indent="0" algn="just">
              <a:spcBef>
                <a:spcPct val="0"/>
              </a:spcBef>
            </a:pPr>
            <a:endParaRPr sz="2400" b="0" i="0">
              <a:solidFill>
                <a:srgbClr val="2B2A29"/>
              </a:solidFill>
              <a:latin typeface="Times New Roman" panose="02020603050405020304" pitchFamily="18" charset="0"/>
              <a:ea typeface="Montserrat"/>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127125" y="692785"/>
            <a:ext cx="9747885" cy="4523105"/>
          </a:xfrm>
          <a:prstGeom prst="rect">
            <a:avLst/>
          </a:prstGeom>
          <a:noFill/>
        </p:spPr>
        <p:txBody>
          <a:bodyPr wrap="square" rtlCol="0" anchor="t">
            <a:spAutoFit/>
          </a:bodyPr>
          <a:lstStyle/>
          <a:p>
            <a:pPr marL="0" indent="0" algn="just">
              <a:spcBef>
                <a:spcPct val="0"/>
              </a:spcBef>
            </a:pPr>
            <a:r>
              <a:rPr sz="2400" b="1">
                <a:solidFill>
                  <a:srgbClr val="2B2A29"/>
                </a:solidFill>
                <a:latin typeface="Times New Roman" panose="02020603050405020304" pitchFamily="18" charset="0"/>
                <a:ea typeface="Montserrat"/>
                <a:cs typeface="Times New Roman" panose="02020603050405020304" pitchFamily="18" charset="0"/>
                <a:sym typeface="+mn-ea"/>
              </a:rPr>
              <a:t>2. Robotics:</a:t>
            </a:r>
            <a:endParaRPr sz="2400" b="1" i="0">
              <a:solidFill>
                <a:srgbClr val="2B2A29"/>
              </a:solidFill>
              <a:latin typeface="Times New Roman" panose="02020603050405020304" pitchFamily="18" charset="0"/>
              <a:ea typeface="Montserrat"/>
              <a:cs typeface="Times New Roman" panose="02020603050405020304" pitchFamily="18" charset="0"/>
            </a:endParaRPr>
          </a:p>
          <a:p>
            <a:pPr marL="0" indent="0" algn="just">
              <a:spcBef>
                <a:spcPct val="0"/>
              </a:spcBef>
            </a:pPr>
            <a:endParaRPr sz="2400" b="0" i="0">
              <a:solidFill>
                <a:srgbClr val="2B2A29"/>
              </a:solidFill>
              <a:latin typeface="Times New Roman" panose="02020603050405020304" pitchFamily="18" charset="0"/>
              <a:ea typeface="Montserrat"/>
              <a:cs typeface="Times New Roman" panose="02020603050405020304" pitchFamily="18" charset="0"/>
            </a:endParaRPr>
          </a:p>
          <a:p>
            <a:pPr marL="0" indent="0" algn="just">
              <a:spcBef>
                <a:spcPct val="0"/>
              </a:spcBef>
            </a:pPr>
            <a:r>
              <a:rPr sz="2400">
                <a:solidFill>
                  <a:srgbClr val="2B2A29"/>
                </a:solidFill>
                <a:latin typeface="Times New Roman" panose="02020603050405020304" pitchFamily="18" charset="0"/>
                <a:ea typeface="Montserrat"/>
                <a:cs typeface="Times New Roman" panose="02020603050405020304" pitchFamily="18" charset="0"/>
                <a:sym typeface="+mn-ea"/>
              </a:rPr>
              <a:t>In robotics, hill climbing technique turns out to be useful for an artificial agent roaming through a physical environment where its path is adjusted before arriving at the destination.</a:t>
            </a:r>
            <a:endParaRPr sz="2400" b="0" i="0">
              <a:solidFill>
                <a:srgbClr val="2B2A29"/>
              </a:solidFill>
              <a:latin typeface="Times New Roman" panose="02020603050405020304" pitchFamily="18" charset="0"/>
              <a:ea typeface="Montserrat"/>
              <a:cs typeface="Times New Roman" panose="02020603050405020304" pitchFamily="18" charset="0"/>
            </a:endParaRPr>
          </a:p>
          <a:p>
            <a:pPr marL="0" indent="0" algn="just">
              <a:spcBef>
                <a:spcPct val="0"/>
              </a:spcBef>
            </a:pPr>
            <a:endParaRPr sz="2400" b="1" i="0">
              <a:solidFill>
                <a:srgbClr val="2B2A29"/>
              </a:solidFill>
              <a:latin typeface="Times New Roman" panose="02020603050405020304" pitchFamily="18" charset="0"/>
              <a:ea typeface="Montserrat"/>
              <a:cs typeface="Times New Roman" panose="02020603050405020304" pitchFamily="18" charset="0"/>
            </a:endParaRPr>
          </a:p>
          <a:p>
            <a:pPr marL="0" indent="0" algn="just">
              <a:spcBef>
                <a:spcPct val="0"/>
              </a:spcBef>
            </a:pPr>
            <a:r>
              <a:rPr sz="2400" b="1">
                <a:solidFill>
                  <a:srgbClr val="2B2A29"/>
                </a:solidFill>
                <a:latin typeface="Times New Roman" panose="02020603050405020304" pitchFamily="18" charset="0"/>
                <a:ea typeface="Montserrat"/>
                <a:cs typeface="Times New Roman" panose="02020603050405020304" pitchFamily="18" charset="0"/>
                <a:sym typeface="+mn-ea"/>
              </a:rPr>
              <a:t>3. Network Design:</a:t>
            </a:r>
            <a:endParaRPr sz="2400" b="1" i="0">
              <a:solidFill>
                <a:srgbClr val="2B2A29"/>
              </a:solidFill>
              <a:latin typeface="Times New Roman" panose="02020603050405020304" pitchFamily="18" charset="0"/>
              <a:ea typeface="Montserrat"/>
              <a:cs typeface="Times New Roman" panose="02020603050405020304" pitchFamily="18" charset="0"/>
            </a:endParaRPr>
          </a:p>
          <a:p>
            <a:pPr marL="0" indent="0" algn="just">
              <a:spcBef>
                <a:spcPct val="0"/>
              </a:spcBef>
            </a:pPr>
            <a:endParaRPr sz="2400" b="0" i="0">
              <a:solidFill>
                <a:srgbClr val="2B2A29"/>
              </a:solidFill>
              <a:latin typeface="Times New Roman" panose="02020603050405020304" pitchFamily="18" charset="0"/>
              <a:ea typeface="Montserrat"/>
              <a:cs typeface="Times New Roman" panose="02020603050405020304" pitchFamily="18" charset="0"/>
            </a:endParaRPr>
          </a:p>
          <a:p>
            <a:pPr marL="0" indent="0" algn="just">
              <a:spcBef>
                <a:spcPct val="0"/>
              </a:spcBef>
            </a:pPr>
            <a:r>
              <a:rPr sz="2400">
                <a:solidFill>
                  <a:srgbClr val="2B2A29"/>
                </a:solidFill>
                <a:latin typeface="Times New Roman" panose="02020603050405020304" pitchFamily="18" charset="0"/>
                <a:ea typeface="Montserrat"/>
                <a:cs typeface="Times New Roman" panose="02020603050405020304" pitchFamily="18" charset="0"/>
                <a:sym typeface="+mn-ea"/>
              </a:rPr>
              <a:t>The tool may be employed for improvement of network forms, processes, and topologies in the telecommunications industry and computer networks. This approach erases the redundancy thus the efficiency of the networks are increased by studying and adjusting their configurations. </a:t>
            </a:r>
            <a:endParaRPr lang="en-US" sz="2400">
              <a:solidFill>
                <a:srgbClr val="2B2A29"/>
              </a:solidFill>
              <a:latin typeface="Times New Roman" panose="02020603050405020304" pitchFamily="18" charset="0"/>
              <a:ea typeface="Montserrat"/>
              <a:cs typeface="Times New Roman" panose="02020603050405020304" pitchFamily="18" charset="0"/>
              <a:sym typeface="+mn-ea"/>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479425" y="260985"/>
            <a:ext cx="11591290" cy="6247130"/>
          </a:xfrm>
          <a:prstGeom prst="rect">
            <a:avLst/>
          </a:prstGeom>
        </p:spPr>
        <p:txBody>
          <a:bodyPr wrap="square">
            <a:spAutoFit/>
          </a:bodyPr>
          <a:lstStyle/>
          <a:p>
            <a:pPr marL="0" indent="0" algn="ctr" fontAlgn="base">
              <a:spcBef>
                <a:spcPct val="0"/>
              </a:spcBef>
              <a:spcAft>
                <a:spcPct val="0"/>
              </a:spcAft>
            </a:pPr>
            <a:r>
              <a:rPr lang="en-US" sz="3200" b="1" i="0">
                <a:solidFill>
                  <a:srgbClr val="FF0000"/>
                </a:solidFill>
                <a:latin typeface="Times New Roman" panose="02020603050405020304" pitchFamily="18" charset="0"/>
                <a:ea typeface="Nunito"/>
                <a:cs typeface="Times New Roman" panose="02020603050405020304" pitchFamily="18" charset="0"/>
              </a:rPr>
              <a:t>Local </a:t>
            </a:r>
            <a:r>
              <a:rPr sz="3200" b="1" i="0">
                <a:solidFill>
                  <a:srgbClr val="FF0000"/>
                </a:solidFill>
                <a:latin typeface="Times New Roman" panose="02020603050405020304" pitchFamily="18" charset="0"/>
                <a:ea typeface="Nunito"/>
                <a:cs typeface="Times New Roman" panose="02020603050405020304" pitchFamily="18" charset="0"/>
              </a:rPr>
              <a:t>Beam Search Algorithm</a:t>
            </a:r>
          </a:p>
          <a:p>
            <a:pPr marL="0" indent="0" algn="ctr" fontAlgn="base">
              <a:spcBef>
                <a:spcPct val="0"/>
              </a:spcBef>
              <a:spcAft>
                <a:spcPct val="0"/>
              </a:spcAft>
            </a:pPr>
            <a:endParaRPr sz="3200" b="1" i="0">
              <a:solidFill>
                <a:srgbClr val="FF0000"/>
              </a:solidFill>
              <a:latin typeface="Times New Roman" panose="02020603050405020304" pitchFamily="18" charset="0"/>
              <a:ea typeface="Nunito"/>
              <a:cs typeface="Times New Roman" panose="02020603050405020304" pitchFamily="18" charset="0"/>
            </a:endParaRPr>
          </a:p>
          <a:p>
            <a:pPr marL="342900" indent="-342900" algn="just" fontAlgn="base">
              <a:spcBef>
                <a:spcPct val="0"/>
              </a:spcBef>
              <a:spcAft>
                <a:spcPct val="0"/>
              </a:spcAft>
              <a:buFont typeface="Arial" panose="020B0604020202020204" pitchFamily="34" charset="0"/>
              <a:buChar char="•"/>
            </a:pPr>
            <a:r>
              <a:rPr sz="2400" i="0">
                <a:solidFill>
                  <a:srgbClr val="273239"/>
                </a:solidFill>
                <a:latin typeface="Times New Roman" panose="02020603050405020304" pitchFamily="18" charset="0"/>
                <a:ea typeface="Nunito"/>
                <a:cs typeface="Times New Roman" panose="02020603050405020304" pitchFamily="18" charset="0"/>
              </a:rPr>
              <a:t>Beam search is a heuristic search algorithm that </a:t>
            </a:r>
            <a:r>
              <a:rPr sz="2400" b="1" i="0">
                <a:solidFill>
                  <a:srgbClr val="273239"/>
                </a:solidFill>
                <a:latin typeface="Times New Roman" panose="02020603050405020304" pitchFamily="18" charset="0"/>
                <a:ea typeface="Nunito"/>
                <a:cs typeface="Times New Roman" panose="02020603050405020304" pitchFamily="18" charset="0"/>
              </a:rPr>
              <a:t>explores a graph by expanding the most optimistic node in a limited set.</a:t>
            </a:r>
            <a:r>
              <a:rPr sz="2400" i="0">
                <a:solidFill>
                  <a:srgbClr val="273239"/>
                </a:solidFill>
                <a:latin typeface="Times New Roman" panose="02020603050405020304" pitchFamily="18" charset="0"/>
                <a:ea typeface="Nunito"/>
                <a:cs typeface="Times New Roman" panose="02020603050405020304" pitchFamily="18" charset="0"/>
              </a:rPr>
              <a:t> Beam search is an optimization of best-first search that reduces its memory requirements.</a:t>
            </a:r>
          </a:p>
          <a:p>
            <a:pPr marL="342900" indent="-342900" algn="just" fontAlgn="base">
              <a:spcBef>
                <a:spcPct val="0"/>
              </a:spcBef>
              <a:spcAft>
                <a:spcPct val="0"/>
              </a:spcAft>
              <a:buFont typeface="Arial" panose="020B0604020202020204" pitchFamily="34" charset="0"/>
              <a:buChar char="•"/>
            </a:pPr>
            <a:endParaRPr sz="2400" i="0">
              <a:solidFill>
                <a:srgbClr val="273239"/>
              </a:solidFill>
              <a:latin typeface="Times New Roman" panose="02020603050405020304" pitchFamily="18" charset="0"/>
              <a:ea typeface="Nunito"/>
              <a:cs typeface="Times New Roman" panose="02020603050405020304" pitchFamily="18" charset="0"/>
            </a:endParaRPr>
          </a:p>
          <a:p>
            <a:pPr marL="342900" indent="-342900" algn="just" fontAlgn="base">
              <a:spcBef>
                <a:spcPct val="0"/>
              </a:spcBef>
              <a:spcAft>
                <a:spcPct val="0"/>
              </a:spcAft>
              <a:buFont typeface="Arial" panose="020B0604020202020204" pitchFamily="34" charset="0"/>
              <a:buChar char="•"/>
            </a:pPr>
            <a:r>
              <a:rPr sz="2400" i="0">
                <a:solidFill>
                  <a:srgbClr val="273239"/>
                </a:solidFill>
                <a:latin typeface="Times New Roman" panose="02020603050405020304" pitchFamily="18" charset="0"/>
                <a:ea typeface="Nunito"/>
                <a:cs typeface="Times New Roman" panose="02020603050405020304" pitchFamily="18" charset="0"/>
              </a:rPr>
              <a:t>Best-first search is a graph search that orders all partial solutions according to some heuristic. But in beam search, only a predetermined number of best partial solutions are kept as candidates. Therefore, it is a greedy algorithm.</a:t>
            </a:r>
          </a:p>
          <a:p>
            <a:pPr marL="342900" indent="-342900" algn="just" fontAlgn="base">
              <a:spcBef>
                <a:spcPct val="0"/>
              </a:spcBef>
              <a:spcAft>
                <a:spcPct val="0"/>
              </a:spcAft>
              <a:buFont typeface="Arial" panose="020B0604020202020204" pitchFamily="34" charset="0"/>
              <a:buChar char="•"/>
            </a:pPr>
            <a:endParaRPr sz="2400" i="0">
              <a:solidFill>
                <a:srgbClr val="273239"/>
              </a:solidFill>
              <a:latin typeface="Times New Roman" panose="02020603050405020304" pitchFamily="18" charset="0"/>
              <a:ea typeface="Nunito"/>
              <a:cs typeface="Times New Roman" panose="02020603050405020304" pitchFamily="18" charset="0"/>
            </a:endParaRPr>
          </a:p>
          <a:p>
            <a:pPr marL="342900" indent="-342900" algn="just" fontAlgn="base">
              <a:spcBef>
                <a:spcPct val="0"/>
              </a:spcBef>
              <a:spcAft>
                <a:spcPct val="0"/>
              </a:spcAft>
              <a:buFont typeface="Arial" panose="020B0604020202020204" pitchFamily="34" charset="0"/>
              <a:buChar char="•"/>
            </a:pPr>
            <a:r>
              <a:rPr sz="2400" i="0">
                <a:solidFill>
                  <a:srgbClr val="273239"/>
                </a:solidFill>
                <a:latin typeface="Times New Roman" panose="02020603050405020304" pitchFamily="18" charset="0"/>
                <a:ea typeface="Nunito"/>
                <a:cs typeface="Times New Roman" panose="02020603050405020304" pitchFamily="18" charset="0"/>
              </a:rPr>
              <a:t>Beam search uses </a:t>
            </a:r>
            <a:r>
              <a:rPr sz="2400" b="1" i="0">
                <a:solidFill>
                  <a:srgbClr val="273239"/>
                </a:solidFill>
                <a:latin typeface="Times New Roman" panose="02020603050405020304" pitchFamily="18" charset="0"/>
                <a:ea typeface="Nunito"/>
                <a:cs typeface="Times New Roman" panose="02020603050405020304" pitchFamily="18" charset="0"/>
              </a:rPr>
              <a:t>breadth-first search to build its search tree</a:t>
            </a:r>
            <a:r>
              <a:rPr sz="2400" i="0">
                <a:solidFill>
                  <a:srgbClr val="273239"/>
                </a:solidFill>
                <a:latin typeface="Times New Roman" panose="02020603050405020304" pitchFamily="18" charset="0"/>
                <a:ea typeface="Nunito"/>
                <a:cs typeface="Times New Roman" panose="02020603050405020304" pitchFamily="18" charset="0"/>
              </a:rPr>
              <a:t>. At each level of the tree, it generates all </a:t>
            </a:r>
            <a:r>
              <a:rPr sz="2400" b="1" i="0">
                <a:solidFill>
                  <a:srgbClr val="273239"/>
                </a:solidFill>
                <a:latin typeface="Times New Roman" panose="02020603050405020304" pitchFamily="18" charset="0"/>
                <a:ea typeface="Nunito"/>
                <a:cs typeface="Times New Roman" panose="02020603050405020304" pitchFamily="18" charset="0"/>
              </a:rPr>
              <a:t>successors of the states at the current level, sorting them in increasing order of heuristic cost. However, it only stores a predetermined number (β),</a:t>
            </a:r>
            <a:r>
              <a:rPr sz="2400" i="0">
                <a:solidFill>
                  <a:srgbClr val="273239"/>
                </a:solidFill>
                <a:latin typeface="Times New Roman" panose="02020603050405020304" pitchFamily="18" charset="0"/>
                <a:ea typeface="Nunito"/>
                <a:cs typeface="Times New Roman" panose="02020603050405020304" pitchFamily="18" charset="0"/>
              </a:rPr>
              <a:t> of </a:t>
            </a:r>
            <a:r>
              <a:rPr sz="2400" b="1" i="0">
                <a:solidFill>
                  <a:srgbClr val="273239"/>
                </a:solidFill>
                <a:highlight>
                  <a:srgbClr val="FFFF00"/>
                </a:highlight>
                <a:latin typeface="Times New Roman" panose="02020603050405020304" pitchFamily="18" charset="0"/>
                <a:ea typeface="Nunito"/>
                <a:cs typeface="Times New Roman" panose="02020603050405020304" pitchFamily="18" charset="0"/>
              </a:rPr>
              <a:t>best states at each level called the beamwidth</a:t>
            </a:r>
            <a:r>
              <a:rPr sz="2400" i="0">
                <a:solidFill>
                  <a:srgbClr val="273239"/>
                </a:solidFill>
                <a:latin typeface="Times New Roman" panose="02020603050405020304" pitchFamily="18" charset="0"/>
                <a:ea typeface="Nunito"/>
                <a:cs typeface="Times New Roman" panose="02020603050405020304" pitchFamily="18" charset="0"/>
              </a:rPr>
              <a:t>. Only those states are expanded next.</a:t>
            </a:r>
          </a:p>
          <a:p>
            <a:pPr marL="0" indent="0" algn="l" fontAlgn="base">
              <a:spcBef>
                <a:spcPct val="0"/>
              </a:spcBef>
              <a:spcAft>
                <a:spcPct val="0"/>
              </a:spcAft>
            </a:pPr>
            <a:endParaRPr sz="1600" b="1" i="0">
              <a:solidFill>
                <a:srgbClr val="273239"/>
              </a:solidFill>
              <a:latin typeface="Nunito"/>
              <a:ea typeface="Nunito"/>
            </a:endParaRPr>
          </a:p>
          <a:p>
            <a:pPr marL="0" indent="0" algn="l" fontAlgn="base">
              <a:spcBef>
                <a:spcPct val="0"/>
              </a:spcBef>
              <a:spcAft>
                <a:spcPct val="0"/>
              </a:spcAft>
            </a:pPr>
            <a:endParaRPr sz="1600" b="1" i="0">
              <a:solidFill>
                <a:srgbClr val="273239"/>
              </a:solidFill>
              <a:latin typeface="Nunito"/>
              <a:ea typeface="Nunito"/>
            </a:endParaRPr>
          </a:p>
          <a:p>
            <a:pPr marL="0" indent="0" algn="l" fontAlgn="base">
              <a:spcBef>
                <a:spcPct val="0"/>
              </a:spcBef>
              <a:spcAft>
                <a:spcPct val="0"/>
              </a:spcAft>
            </a:pPr>
            <a:endParaRPr sz="1600" b="1" i="0">
              <a:solidFill>
                <a:srgbClr val="273239"/>
              </a:solidFill>
              <a:latin typeface="Nunito"/>
              <a:ea typeface="Nunito"/>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055370" y="548640"/>
            <a:ext cx="10782300" cy="5670550"/>
          </a:xfrm>
          <a:prstGeom prst="rect">
            <a:avLst/>
          </a:prstGeom>
        </p:spPr>
        <p:txBody>
          <a:bodyPr wrap="square">
            <a:noAutofit/>
          </a:bodyPr>
          <a:lstStyle/>
          <a:p>
            <a:pPr marL="285750" indent="-285750" algn="just">
              <a:buFont typeface="Arial" panose="020B0604020202020204" pitchFamily="34" charset="0"/>
              <a:buChar char="•"/>
            </a:pPr>
            <a:r>
              <a:rPr sz="2800" b="0" i="0">
                <a:solidFill>
                  <a:srgbClr val="2B2A29"/>
                </a:solidFill>
                <a:latin typeface="Times New Roman" panose="02020603050405020304" pitchFamily="18" charset="0"/>
                <a:ea typeface="Montserrat"/>
                <a:cs typeface="Times New Roman" panose="02020603050405020304" pitchFamily="18" charset="0"/>
              </a:rPr>
              <a:t>The greater the beam width, the fewer states are pruned. No states are pruned with infinite beam width, and beam search is identical to breadth-first search. </a:t>
            </a:r>
          </a:p>
          <a:p>
            <a:pPr marL="285750" indent="-285750" algn="just">
              <a:buFont typeface="Arial" panose="020B0604020202020204" pitchFamily="34" charset="0"/>
              <a:buChar char="•"/>
            </a:pPr>
            <a:r>
              <a:rPr sz="2800" b="0" i="0">
                <a:solidFill>
                  <a:srgbClr val="2B2A29"/>
                </a:solidFill>
                <a:latin typeface="Times New Roman" panose="02020603050405020304" pitchFamily="18" charset="0"/>
                <a:ea typeface="Montserrat"/>
                <a:cs typeface="Times New Roman" panose="02020603050405020304" pitchFamily="18" charset="0"/>
              </a:rPr>
              <a:t>The beamwidth bounds the memory required to perform the search. Since a goal state could potentially be pruned, beam search sacrifices completeness (the guarantee that an algorithm will terminate with a solution if one exists).</a:t>
            </a:r>
          </a:p>
          <a:p>
            <a:pPr marL="285750" indent="-285750" algn="just">
              <a:buFont typeface="Arial" panose="020B0604020202020204" pitchFamily="34" charset="0"/>
              <a:buChar char="•"/>
            </a:pPr>
            <a:r>
              <a:rPr sz="2800" b="0" i="0">
                <a:solidFill>
                  <a:srgbClr val="2B2A29"/>
                </a:solidFill>
                <a:latin typeface="Times New Roman" panose="02020603050405020304" pitchFamily="18" charset="0"/>
                <a:ea typeface="Montserrat"/>
                <a:cs typeface="Times New Roman" panose="02020603050405020304" pitchFamily="18" charset="0"/>
              </a:rPr>
              <a:t> Beam search is not optimal, which means there is no guarantee that it will find the best solution.</a:t>
            </a:r>
          </a:p>
          <a:p>
            <a:pPr marL="285750" indent="-285750" algn="just">
              <a:buFont typeface="Arial" panose="020B0604020202020204" pitchFamily="34" charset="0"/>
              <a:buChar char="•"/>
            </a:pPr>
            <a:r>
              <a:rPr sz="2800" b="0" i="0">
                <a:solidFill>
                  <a:srgbClr val="2B2A29"/>
                </a:solidFill>
                <a:latin typeface="Times New Roman" panose="02020603050405020304" pitchFamily="18" charset="0"/>
                <a:ea typeface="Montserrat"/>
                <a:cs typeface="Times New Roman" panose="02020603050405020304" pitchFamily="18" charset="0"/>
              </a:rPr>
              <a:t>The beam width can either be </a:t>
            </a:r>
            <a:r>
              <a:rPr sz="2800" b="1" i="0">
                <a:solidFill>
                  <a:srgbClr val="2B2A29"/>
                </a:solidFill>
                <a:latin typeface="Times New Roman" panose="02020603050405020304" pitchFamily="18" charset="0"/>
                <a:ea typeface="Montserrat"/>
                <a:cs typeface="Times New Roman" panose="02020603050405020304" pitchFamily="18" charset="0"/>
              </a:rPr>
              <a:t>fixed or variable</a:t>
            </a:r>
            <a:r>
              <a:rPr sz="2800" b="0" i="0">
                <a:solidFill>
                  <a:srgbClr val="2B2A29"/>
                </a:solidFill>
                <a:latin typeface="Times New Roman" panose="02020603050405020304" pitchFamily="18" charset="0"/>
                <a:ea typeface="Montserrat"/>
                <a:cs typeface="Times New Roman" panose="02020603050405020304" pitchFamily="18" charset="0"/>
              </a:rPr>
              <a:t>. One approach that uses a variable beam width starts with the width at a minimum. If no solution is found, the beam is widened, and the procedure is repeated.</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199515" y="240030"/>
            <a:ext cx="10334625" cy="5181600"/>
          </a:xfrm>
          <a:prstGeom prst="rect">
            <a:avLst/>
          </a:prstGeom>
        </p:spPr>
        <p:txBody>
          <a:bodyPr>
            <a:noAutofit/>
          </a:bodyPr>
          <a:lstStyle/>
          <a:p>
            <a:pPr marL="0" indent="0">
              <a:spcAft>
                <a:spcPct val="60000"/>
              </a:spcAft>
            </a:pPr>
            <a:r>
              <a:rPr sz="2800" b="1" i="0">
                <a:solidFill>
                  <a:srgbClr val="FF0000"/>
                </a:solidFill>
                <a:latin typeface="Montserrat"/>
                <a:ea typeface="Montserrat"/>
              </a:rPr>
              <a:t>Components of Beam Search</a:t>
            </a:r>
          </a:p>
          <a:p>
            <a:pPr indent="0" algn="just">
              <a:spcBef>
                <a:spcPct val="0"/>
              </a:spcBef>
              <a:buFont typeface="Arial" panose="020B0604020202020204" pitchFamily="34" charset="0"/>
              <a:buNone/>
            </a:pPr>
            <a:r>
              <a:rPr sz="2800" b="0" i="0">
                <a:solidFill>
                  <a:srgbClr val="2B2A29"/>
                </a:solidFill>
                <a:latin typeface="Times New Roman" panose="02020603050405020304" pitchFamily="18" charset="0"/>
                <a:ea typeface="Montserrat"/>
                <a:cs typeface="Times New Roman" panose="02020603050405020304" pitchFamily="18" charset="0"/>
              </a:rPr>
              <a:t>A beam search takes</a:t>
            </a:r>
            <a:r>
              <a:rPr sz="2800" b="1" i="0">
                <a:solidFill>
                  <a:srgbClr val="2B2A29"/>
                </a:solidFill>
                <a:latin typeface="Times New Roman" panose="02020603050405020304" pitchFamily="18" charset="0"/>
                <a:ea typeface="Montserrat"/>
                <a:cs typeface="Times New Roman" panose="02020603050405020304" pitchFamily="18" charset="0"/>
              </a:rPr>
              <a:t> three components</a:t>
            </a:r>
            <a:r>
              <a:rPr sz="2800" b="0" i="0">
                <a:solidFill>
                  <a:srgbClr val="2B2A29"/>
                </a:solidFill>
                <a:latin typeface="Times New Roman" panose="02020603050405020304" pitchFamily="18" charset="0"/>
                <a:ea typeface="Montserrat"/>
                <a:cs typeface="Times New Roman" panose="02020603050405020304" pitchFamily="18" charset="0"/>
              </a:rPr>
              <a:t> as its input:</a:t>
            </a:r>
          </a:p>
          <a:p>
            <a:pPr marL="457200" indent="-457200" algn="just">
              <a:spcBef>
                <a:spcPct val="0"/>
              </a:spcBef>
              <a:buFont typeface="Arial" panose="020B0604020202020204" pitchFamily="34" charset="0"/>
              <a:buChar char="•"/>
            </a:pPr>
            <a:r>
              <a:rPr sz="2800" b="1" i="0">
                <a:solidFill>
                  <a:srgbClr val="2B2A29"/>
                </a:solidFill>
                <a:latin typeface="Times New Roman" panose="02020603050405020304" pitchFamily="18" charset="0"/>
                <a:ea typeface="Montserrat"/>
                <a:cs typeface="Times New Roman" panose="02020603050405020304" pitchFamily="18" charset="0"/>
              </a:rPr>
              <a:t>The problem</a:t>
            </a:r>
            <a:r>
              <a:rPr sz="2800" b="0" i="0">
                <a:solidFill>
                  <a:srgbClr val="2B2A29"/>
                </a:solidFill>
                <a:latin typeface="Times New Roman" panose="02020603050405020304" pitchFamily="18" charset="0"/>
                <a:ea typeface="Montserrat"/>
                <a:cs typeface="Times New Roman" panose="02020603050405020304" pitchFamily="18" charset="0"/>
              </a:rPr>
              <a:t> is the problem to be solved, usually represented as a graph, and contains a set of nodes in which one or more of the nodes represents a goal. </a:t>
            </a:r>
          </a:p>
          <a:p>
            <a:pPr marL="457200" indent="-457200" algn="just">
              <a:spcBef>
                <a:spcPct val="0"/>
              </a:spcBef>
              <a:buFont typeface="Arial" panose="020B0604020202020204" pitchFamily="34" charset="0"/>
              <a:buChar char="•"/>
            </a:pPr>
            <a:r>
              <a:rPr sz="2800" b="1" i="0">
                <a:solidFill>
                  <a:srgbClr val="2B2A29"/>
                </a:solidFill>
                <a:latin typeface="Times New Roman" panose="02020603050405020304" pitchFamily="18" charset="0"/>
                <a:ea typeface="Montserrat"/>
                <a:cs typeface="Times New Roman" panose="02020603050405020304" pitchFamily="18" charset="0"/>
              </a:rPr>
              <a:t>The set of heuristic rules </a:t>
            </a:r>
            <a:r>
              <a:rPr sz="2800" b="0" i="0">
                <a:solidFill>
                  <a:srgbClr val="2B2A29"/>
                </a:solidFill>
                <a:latin typeface="Times New Roman" panose="02020603050405020304" pitchFamily="18" charset="0"/>
                <a:ea typeface="Montserrat"/>
                <a:cs typeface="Times New Roman" panose="02020603050405020304" pitchFamily="18" charset="0"/>
              </a:rPr>
              <a:t>are rules specific to the problem domain and prune unfavorable nodes from memory regarding the problem domain.</a:t>
            </a:r>
          </a:p>
          <a:p>
            <a:pPr marL="457200" indent="-457200" algn="just">
              <a:spcBef>
                <a:spcPct val="0"/>
              </a:spcBef>
              <a:buFont typeface="Arial" panose="020B0604020202020204" pitchFamily="34" charset="0"/>
              <a:buChar char="•"/>
            </a:pPr>
            <a:r>
              <a:rPr sz="2800" b="1" i="0">
                <a:solidFill>
                  <a:srgbClr val="2B2A29"/>
                </a:solidFill>
                <a:latin typeface="Times New Roman" panose="02020603050405020304" pitchFamily="18" charset="0"/>
                <a:ea typeface="Montserrat"/>
                <a:cs typeface="Times New Roman" panose="02020603050405020304" pitchFamily="18" charset="0"/>
              </a:rPr>
              <a:t>The memory</a:t>
            </a:r>
            <a:r>
              <a:rPr sz="2800" b="0" i="0">
                <a:solidFill>
                  <a:srgbClr val="2B2A29"/>
                </a:solidFill>
                <a:latin typeface="Times New Roman" panose="02020603050405020304" pitchFamily="18" charset="0"/>
                <a:ea typeface="Montserrat"/>
                <a:cs typeface="Times New Roman" panose="02020603050405020304" pitchFamily="18" charset="0"/>
              </a:rPr>
              <a:t> is where the "beam" is stored, memory is full, and a node is to be added to the beam, the most costly node will be deleted, such that the memory limit is not exceeded.</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775460" y="332740"/>
            <a:ext cx="11127105" cy="521970"/>
          </a:xfrm>
          <a:prstGeom prst="rect">
            <a:avLst/>
          </a:prstGeom>
        </p:spPr>
        <p:txBody>
          <a:bodyPr wrap="square">
            <a:spAutoFit/>
          </a:bodyPr>
          <a:lstStyle/>
          <a:p>
            <a:pPr marL="0" indent="0" algn="just">
              <a:spcAft>
                <a:spcPct val="60000"/>
              </a:spcAft>
            </a:pPr>
            <a:r>
              <a:rPr sz="2800" b="1" i="0">
                <a:solidFill>
                  <a:srgbClr val="1D1D27"/>
                </a:solidFill>
                <a:latin typeface="Times New Roman" panose="02020603050405020304" pitchFamily="18" charset="0"/>
                <a:ea typeface="Montserrat"/>
                <a:cs typeface="Times New Roman" panose="02020603050405020304" pitchFamily="18" charset="0"/>
              </a:rPr>
              <a:t>Beam Search Algorithm</a:t>
            </a:r>
            <a:r>
              <a:rPr lang="en-US" sz="2800" b="1" i="0">
                <a:solidFill>
                  <a:srgbClr val="1D1D27"/>
                </a:solidFill>
                <a:latin typeface="Times New Roman" panose="02020603050405020304" pitchFamily="18" charset="0"/>
                <a:ea typeface="Montserrat"/>
                <a:cs typeface="Times New Roman" panose="02020603050405020304" pitchFamily="18" charset="0"/>
              </a:rPr>
              <a:t> :</a:t>
            </a:r>
          </a:p>
        </p:txBody>
      </p:sp>
      <p:pic>
        <p:nvPicPr>
          <p:cNvPr id="3" name="Picture 2"/>
          <p:cNvPicPr>
            <a:picLocks noChangeAspect="1"/>
          </p:cNvPicPr>
          <p:nvPr/>
        </p:nvPicPr>
        <p:blipFill>
          <a:blip r:embed="rId2"/>
          <a:stretch>
            <a:fillRect/>
          </a:stretch>
        </p:blipFill>
        <p:spPr>
          <a:xfrm>
            <a:off x="1343660" y="1052830"/>
            <a:ext cx="10252075" cy="500380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346835" y="548640"/>
            <a:ext cx="10113010" cy="4768850"/>
          </a:xfrm>
          <a:prstGeom prst="rect">
            <a:avLst/>
          </a:prstGeom>
        </p:spPr>
        <p:txBody>
          <a:bodyPr wrap="square">
            <a:spAutoFit/>
          </a:bodyPr>
          <a:lstStyle/>
          <a:p>
            <a:pPr marL="0" indent="0">
              <a:spcAft>
                <a:spcPct val="60000"/>
              </a:spcAft>
            </a:pPr>
            <a:r>
              <a:rPr sz="2400" b="1" i="0">
                <a:solidFill>
                  <a:srgbClr val="1D1D27"/>
                </a:solidFill>
                <a:latin typeface="Times New Roman" panose="02020603050405020304" pitchFamily="18" charset="0"/>
                <a:ea typeface="Montserrat"/>
                <a:cs typeface="Times New Roman" panose="02020603050405020304" pitchFamily="18" charset="0"/>
              </a:rPr>
              <a:t>Uses of Beam Search</a:t>
            </a:r>
          </a:p>
          <a:p>
            <a:pPr marL="0" indent="0" algn="just">
              <a:spcBef>
                <a:spcPct val="0"/>
              </a:spcBef>
            </a:pPr>
            <a:r>
              <a:rPr sz="2400" b="0" i="0">
                <a:solidFill>
                  <a:srgbClr val="2B2A29"/>
                </a:solidFill>
                <a:latin typeface="Times New Roman" panose="02020603050405020304" pitchFamily="18" charset="0"/>
                <a:ea typeface="Montserrat"/>
                <a:cs typeface="Times New Roman" panose="02020603050405020304" pitchFamily="18" charset="0"/>
              </a:rPr>
              <a:t>A beam search is most often used to maintain tractability in large systems with insufficient memory to store the entire search tree. For example,</a:t>
            </a:r>
          </a:p>
          <a:p>
            <a:pPr marL="0" indent="0" algn="just">
              <a:spcBef>
                <a:spcPct val="0"/>
              </a:spcBef>
              <a:spcAft>
                <a:spcPct val="0"/>
              </a:spcAft>
              <a:buFont typeface="Arial" panose="020B0604020202020204"/>
              <a:buChar char="•"/>
            </a:pPr>
            <a:endParaRPr sz="2400" b="0" i="0">
              <a:solidFill>
                <a:srgbClr val="2B2A29"/>
              </a:solidFill>
              <a:latin typeface="Times New Roman" panose="02020603050405020304" pitchFamily="18" charset="0"/>
              <a:ea typeface="Montserrat"/>
              <a:cs typeface="Times New Roman" panose="02020603050405020304" pitchFamily="18" charset="0"/>
            </a:endParaRPr>
          </a:p>
          <a:p>
            <a:pPr marL="342900" indent="-342900" algn="just">
              <a:spcBef>
                <a:spcPct val="0"/>
              </a:spcBef>
              <a:spcAft>
                <a:spcPct val="0"/>
              </a:spcAft>
              <a:buFont typeface="Arial" panose="020B0604020202020204" pitchFamily="34" charset="0"/>
              <a:buChar char="•"/>
            </a:pPr>
            <a:r>
              <a:rPr sz="2400" b="0" i="0">
                <a:solidFill>
                  <a:srgbClr val="2B2A29"/>
                </a:solidFill>
                <a:latin typeface="Times New Roman" panose="02020603050405020304" pitchFamily="18" charset="0"/>
                <a:ea typeface="Montserrat"/>
                <a:cs typeface="Times New Roman" panose="02020603050405020304" pitchFamily="18" charset="0"/>
              </a:rPr>
              <a:t>It has been used in many machine translation systems.</a:t>
            </a:r>
          </a:p>
          <a:p>
            <a:pPr marL="342900" indent="-342900" algn="just">
              <a:spcBef>
                <a:spcPct val="0"/>
              </a:spcBef>
              <a:spcAft>
                <a:spcPct val="0"/>
              </a:spcAft>
              <a:buFont typeface="Arial" panose="020B0604020202020204" pitchFamily="34" charset="0"/>
              <a:buChar char="•"/>
            </a:pPr>
            <a:r>
              <a:rPr sz="2400" b="0" i="0">
                <a:solidFill>
                  <a:srgbClr val="2B2A29"/>
                </a:solidFill>
                <a:latin typeface="Times New Roman" panose="02020603050405020304" pitchFamily="18" charset="0"/>
                <a:ea typeface="Montserrat"/>
                <a:cs typeface="Times New Roman" panose="02020603050405020304" pitchFamily="18" charset="0"/>
              </a:rPr>
              <a:t>Each part is processed to select the best translation, and many different ways of translating the words appear.</a:t>
            </a:r>
          </a:p>
          <a:p>
            <a:pPr marL="342900" indent="-342900" algn="just">
              <a:spcBef>
                <a:spcPct val="0"/>
              </a:spcBef>
              <a:spcAft>
                <a:spcPct val="0"/>
              </a:spcAft>
              <a:buFont typeface="Arial" panose="020B0604020202020204" pitchFamily="34" charset="0"/>
              <a:buChar char="•"/>
            </a:pPr>
            <a:r>
              <a:rPr sz="2400" b="0" i="0">
                <a:solidFill>
                  <a:srgbClr val="2B2A29"/>
                </a:solidFill>
                <a:latin typeface="Times New Roman" panose="02020603050405020304" pitchFamily="18" charset="0"/>
                <a:ea typeface="Montserrat"/>
                <a:cs typeface="Times New Roman" panose="02020603050405020304" pitchFamily="18" charset="0"/>
              </a:rPr>
              <a:t>According to their sentence structures, the top best translations are kept, and the rest are discarded. The translator then evaluates the translations according to a given criterion, choosing the translation which best keeps the goals.</a:t>
            </a:r>
          </a:p>
          <a:p>
            <a:pPr marL="342900" indent="-342900" algn="just">
              <a:spcBef>
                <a:spcPct val="0"/>
              </a:spcBef>
              <a:spcAft>
                <a:spcPct val="0"/>
              </a:spcAft>
              <a:buFont typeface="Arial" panose="020B0604020202020204" pitchFamily="34" charset="0"/>
              <a:buChar char="•"/>
            </a:pPr>
            <a:r>
              <a:rPr sz="2400" b="0" i="0">
                <a:solidFill>
                  <a:srgbClr val="2B2A29"/>
                </a:solidFill>
                <a:latin typeface="Times New Roman" panose="02020603050405020304" pitchFamily="18" charset="0"/>
                <a:ea typeface="Montserrat"/>
                <a:cs typeface="Times New Roman" panose="02020603050405020304" pitchFamily="18" charset="0"/>
              </a:rPr>
              <a:t>The first use of a beam search was in the Harpy Speech Recognition System, CMU 1976.</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703705" y="405130"/>
            <a:ext cx="9511030" cy="5507355"/>
          </a:xfrm>
          <a:prstGeom prst="rect">
            <a:avLst/>
          </a:prstGeom>
        </p:spPr>
        <p:txBody>
          <a:bodyPr wrap="square">
            <a:spAutoFit/>
          </a:bodyPr>
          <a:lstStyle/>
          <a:p>
            <a:pPr marL="0" indent="0">
              <a:spcAft>
                <a:spcPct val="60000"/>
              </a:spcAft>
            </a:pPr>
            <a:r>
              <a:rPr sz="2400" b="1" i="0">
                <a:solidFill>
                  <a:srgbClr val="1D1D27"/>
                </a:solidFill>
                <a:latin typeface="Times New Roman" panose="02020603050405020304" pitchFamily="18" charset="0"/>
                <a:ea typeface="Montserrat"/>
                <a:cs typeface="Times New Roman" panose="02020603050405020304" pitchFamily="18" charset="0"/>
              </a:rPr>
              <a:t>Drawbacks of Beam Search</a:t>
            </a:r>
          </a:p>
          <a:p>
            <a:pPr marL="0" indent="0" algn="just">
              <a:spcBef>
                <a:spcPct val="0"/>
              </a:spcBef>
            </a:pPr>
            <a:r>
              <a:rPr sz="2400" b="0" i="0">
                <a:solidFill>
                  <a:srgbClr val="2B2A29"/>
                </a:solidFill>
                <a:latin typeface="Times New Roman" panose="02020603050405020304" pitchFamily="18" charset="0"/>
                <a:ea typeface="Montserrat"/>
                <a:cs typeface="Times New Roman" panose="02020603050405020304" pitchFamily="18" charset="0"/>
              </a:rPr>
              <a:t>Here is a drawback of the Beam Search with an example:</a:t>
            </a:r>
          </a:p>
          <a:p>
            <a:pPr marL="342900" indent="-342900" algn="just">
              <a:spcBef>
                <a:spcPct val="0"/>
              </a:spcBef>
              <a:spcAft>
                <a:spcPct val="0"/>
              </a:spcAft>
              <a:buFont typeface="Arial" panose="020B0604020202020204" pitchFamily="34" charset="0"/>
              <a:buChar char="•"/>
            </a:pPr>
            <a:r>
              <a:rPr sz="2400" b="0" i="0">
                <a:solidFill>
                  <a:srgbClr val="2B2A29"/>
                </a:solidFill>
                <a:latin typeface="Times New Roman" panose="02020603050405020304" pitchFamily="18" charset="0"/>
                <a:ea typeface="Montserrat"/>
                <a:cs typeface="Times New Roman" panose="02020603050405020304" pitchFamily="18" charset="0"/>
              </a:rPr>
              <a:t>In general, the Beam Search Algorithm is not complete. Despite these disadvantages, beam search has found success in the practical areas of speech recognition, vision, planning, and machine learning.</a:t>
            </a:r>
          </a:p>
          <a:p>
            <a:pPr marL="342900" indent="-342900" algn="just">
              <a:spcBef>
                <a:spcPct val="0"/>
              </a:spcBef>
              <a:spcAft>
                <a:spcPct val="0"/>
              </a:spcAft>
              <a:buFont typeface="Arial" panose="020B0604020202020204" pitchFamily="34" charset="0"/>
              <a:buChar char="•"/>
            </a:pPr>
            <a:r>
              <a:rPr sz="2400" b="0" i="0">
                <a:solidFill>
                  <a:srgbClr val="2B2A29"/>
                </a:solidFill>
                <a:latin typeface="Times New Roman" panose="02020603050405020304" pitchFamily="18" charset="0"/>
                <a:ea typeface="Montserrat"/>
                <a:cs typeface="Times New Roman" panose="02020603050405020304" pitchFamily="18" charset="0"/>
              </a:rPr>
              <a:t>The main disadvantages of a beam search are that the search may not result in an optimal goal and may not even reach a goal at all after given unlimited time and memory when there is a path from the start node to the goal node.</a:t>
            </a:r>
          </a:p>
          <a:p>
            <a:pPr marL="342900" indent="-342900" algn="just">
              <a:spcBef>
                <a:spcPct val="0"/>
              </a:spcBef>
              <a:spcAft>
                <a:spcPct val="0"/>
              </a:spcAft>
              <a:buFont typeface="Arial" panose="020B0604020202020204" pitchFamily="34" charset="0"/>
              <a:buChar char="•"/>
            </a:pPr>
            <a:r>
              <a:rPr sz="2400" b="0" i="0">
                <a:solidFill>
                  <a:srgbClr val="2B2A29"/>
                </a:solidFill>
                <a:latin typeface="Times New Roman" panose="02020603050405020304" pitchFamily="18" charset="0"/>
                <a:ea typeface="Montserrat"/>
                <a:cs typeface="Times New Roman" panose="02020603050405020304" pitchFamily="18" charset="0"/>
              </a:rPr>
              <a:t>The beam search algorithm terminates for two cases: a required goal node is reached, or a goal node is not reached, and there are no nodes left to be explored.</a:t>
            </a:r>
          </a:p>
          <a:p>
            <a:pPr marL="342900" indent="-342900" algn="just">
              <a:spcBef>
                <a:spcPct val="0"/>
              </a:spcBef>
              <a:spcAft>
                <a:spcPct val="0"/>
              </a:spcAft>
              <a:buFont typeface="Arial" panose="020B0604020202020204" pitchFamily="34" charset="0"/>
              <a:buChar char="•"/>
            </a:pPr>
            <a:r>
              <a:rPr sz="2400" b="0" i="0">
                <a:solidFill>
                  <a:srgbClr val="2B2A29"/>
                </a:solidFill>
                <a:latin typeface="Times New Roman" panose="02020603050405020304" pitchFamily="18" charset="0"/>
                <a:ea typeface="Montserrat"/>
                <a:cs typeface="Times New Roman" panose="02020603050405020304" pitchFamily="18" charset="0"/>
              </a:rPr>
              <a:t>A more accurate heuristic function and a larger beam width can improve Beam Search's chances of finding the goal.</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415415" y="332740"/>
            <a:ext cx="10449560" cy="829945"/>
          </a:xfrm>
          <a:prstGeom prst="rect">
            <a:avLst/>
          </a:prstGeom>
        </p:spPr>
        <p:txBody>
          <a:bodyPr wrap="square">
            <a:spAutoFit/>
          </a:bodyPr>
          <a:lstStyle/>
          <a:p>
            <a:pPr marL="0" indent="0" algn="just"/>
            <a:r>
              <a:rPr sz="2400" b="1" i="0">
                <a:solidFill>
                  <a:srgbClr val="2B2A29"/>
                </a:solidFill>
                <a:latin typeface="Times New Roman" panose="02020603050405020304" pitchFamily="18" charset="0"/>
                <a:ea typeface="Montserrat"/>
                <a:cs typeface="Times New Roman" panose="02020603050405020304" pitchFamily="18" charset="0"/>
              </a:rPr>
              <a:t>For example, let's take the value of ß = 2 for the tree shown below. So, follow the following steps to find the goal node.</a:t>
            </a:r>
          </a:p>
        </p:txBody>
      </p:sp>
      <p:pic>
        <p:nvPicPr>
          <p:cNvPr id="3" name="Picture 2"/>
          <p:cNvPicPr>
            <a:picLocks noChangeAspect="1"/>
          </p:cNvPicPr>
          <p:nvPr/>
        </p:nvPicPr>
        <p:blipFill>
          <a:blip r:embed="rId2"/>
          <a:stretch>
            <a:fillRect/>
          </a:stretch>
        </p:blipFill>
        <p:spPr>
          <a:xfrm>
            <a:off x="4295775" y="1485265"/>
            <a:ext cx="7268210" cy="4641215"/>
          </a:xfrm>
          <a:prstGeom prst="rect">
            <a:avLst/>
          </a:prstGeom>
        </p:spPr>
      </p:pic>
      <p:sp>
        <p:nvSpPr>
          <p:cNvPr id="4" name="Text Box 3"/>
          <p:cNvSpPr txBox="1"/>
          <p:nvPr/>
        </p:nvSpPr>
        <p:spPr>
          <a:xfrm>
            <a:off x="263525" y="1772603"/>
            <a:ext cx="5080000" cy="3538220"/>
          </a:xfrm>
          <a:prstGeom prst="rect">
            <a:avLst/>
          </a:prstGeom>
        </p:spPr>
        <p:txBody>
          <a:bodyPr>
            <a:spAutoFit/>
          </a:bodyPr>
          <a:lstStyle/>
          <a:p>
            <a:pPr marL="0" indent="0" algn="just">
              <a:spcBef>
                <a:spcPct val="0"/>
              </a:spcBef>
            </a:pPr>
            <a:r>
              <a:rPr sz="2800" b="0" i="0">
                <a:solidFill>
                  <a:srgbClr val="2B2A29"/>
                </a:solidFill>
                <a:latin typeface="Times New Roman" panose="02020603050405020304" pitchFamily="18" charset="0"/>
                <a:ea typeface="Montserrat"/>
                <a:cs typeface="Times New Roman" panose="02020603050405020304" pitchFamily="18" charset="0"/>
              </a:rPr>
              <a:t>Step 1: OPEN= {A}</a:t>
            </a:r>
          </a:p>
          <a:p>
            <a:pPr marL="0" indent="0" algn="just">
              <a:spcBef>
                <a:spcPct val="0"/>
              </a:spcBef>
            </a:pPr>
            <a:r>
              <a:rPr sz="2800" b="0" i="0">
                <a:solidFill>
                  <a:srgbClr val="2B2A29"/>
                </a:solidFill>
                <a:latin typeface="Times New Roman" panose="02020603050405020304" pitchFamily="18" charset="0"/>
                <a:ea typeface="Montserrat"/>
                <a:cs typeface="Times New Roman" panose="02020603050405020304" pitchFamily="18" charset="0"/>
              </a:rPr>
              <a:t>Step 2: OPEN= {B, C}</a:t>
            </a:r>
          </a:p>
          <a:p>
            <a:pPr marL="0" indent="0" algn="just">
              <a:spcBef>
                <a:spcPct val="0"/>
              </a:spcBef>
            </a:pPr>
            <a:r>
              <a:rPr sz="2800" b="0" i="0">
                <a:solidFill>
                  <a:srgbClr val="2B2A29"/>
                </a:solidFill>
                <a:latin typeface="Times New Roman" panose="02020603050405020304" pitchFamily="18" charset="0"/>
                <a:ea typeface="Montserrat"/>
                <a:cs typeface="Times New Roman" panose="02020603050405020304" pitchFamily="18" charset="0"/>
              </a:rPr>
              <a:t>Step 3: OPEN= {D, E}</a:t>
            </a:r>
          </a:p>
          <a:p>
            <a:pPr marL="0" indent="0" algn="just">
              <a:spcBef>
                <a:spcPct val="0"/>
              </a:spcBef>
            </a:pPr>
            <a:r>
              <a:rPr sz="2800" b="0" i="0">
                <a:solidFill>
                  <a:srgbClr val="2B2A29"/>
                </a:solidFill>
                <a:latin typeface="Times New Roman" panose="02020603050405020304" pitchFamily="18" charset="0"/>
                <a:ea typeface="Montserrat"/>
                <a:cs typeface="Times New Roman" panose="02020603050405020304" pitchFamily="18" charset="0"/>
              </a:rPr>
              <a:t>Step 4: OPEN= {E}</a:t>
            </a:r>
          </a:p>
          <a:p>
            <a:pPr marL="0" indent="0" algn="just">
              <a:spcBef>
                <a:spcPct val="0"/>
              </a:spcBef>
            </a:pPr>
            <a:r>
              <a:rPr sz="2800" b="0" i="0">
                <a:solidFill>
                  <a:srgbClr val="2B2A29"/>
                </a:solidFill>
                <a:latin typeface="Times New Roman" panose="02020603050405020304" pitchFamily="18" charset="0"/>
                <a:ea typeface="Montserrat"/>
                <a:cs typeface="Times New Roman" panose="02020603050405020304" pitchFamily="18" charset="0"/>
              </a:rPr>
              <a:t>Step 5: OPEN= { }</a:t>
            </a:r>
          </a:p>
          <a:p>
            <a:pPr marL="0" indent="0" algn="just">
              <a:spcBef>
                <a:spcPct val="0"/>
              </a:spcBef>
            </a:pPr>
            <a:r>
              <a:rPr sz="2800" b="0" i="0">
                <a:solidFill>
                  <a:srgbClr val="2B2A29"/>
                </a:solidFill>
                <a:latin typeface="Times New Roman" panose="02020603050405020304" pitchFamily="18" charset="0"/>
                <a:ea typeface="Montserrat"/>
                <a:cs typeface="Times New Roman" panose="02020603050405020304" pitchFamily="18" charset="0"/>
              </a:rPr>
              <a:t>The open set becomes </a:t>
            </a:r>
          </a:p>
          <a:p>
            <a:pPr marL="0" indent="0" algn="just">
              <a:spcBef>
                <a:spcPct val="0"/>
              </a:spcBef>
            </a:pPr>
            <a:r>
              <a:rPr sz="2800" b="0" i="0">
                <a:solidFill>
                  <a:srgbClr val="2B2A29"/>
                </a:solidFill>
                <a:latin typeface="Times New Roman" panose="02020603050405020304" pitchFamily="18" charset="0"/>
                <a:ea typeface="Montserrat"/>
                <a:cs typeface="Times New Roman" panose="02020603050405020304" pitchFamily="18" charset="0"/>
              </a:rPr>
              <a:t>empty without finding the </a:t>
            </a:r>
          </a:p>
          <a:p>
            <a:pPr marL="0" indent="0" algn="just">
              <a:spcBef>
                <a:spcPct val="0"/>
              </a:spcBef>
            </a:pPr>
            <a:r>
              <a:rPr sz="2800" b="0" i="0">
                <a:solidFill>
                  <a:srgbClr val="2B2A29"/>
                </a:solidFill>
                <a:latin typeface="Times New Roman" panose="02020603050405020304" pitchFamily="18" charset="0"/>
                <a:ea typeface="Montserrat"/>
                <a:cs typeface="Times New Roman" panose="02020603050405020304" pitchFamily="18" charset="0"/>
              </a:rPr>
              <a:t>goal node.</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314450" y="332740"/>
            <a:ext cx="10493375" cy="5116830"/>
          </a:xfrm>
          <a:prstGeom prst="rect">
            <a:avLst/>
          </a:prstGeom>
        </p:spPr>
        <p:txBody>
          <a:bodyPr wrap="square">
            <a:spAutoFit/>
          </a:bodyPr>
          <a:lstStyle/>
          <a:p>
            <a:pPr marL="0" indent="0">
              <a:spcAft>
                <a:spcPct val="60000"/>
              </a:spcAft>
            </a:pPr>
            <a:r>
              <a:rPr sz="2800" b="1" i="0">
                <a:solidFill>
                  <a:srgbClr val="1D1D27"/>
                </a:solidFill>
                <a:latin typeface="Times New Roman" panose="02020603050405020304" pitchFamily="18" charset="0"/>
                <a:ea typeface="Montserrat"/>
                <a:cs typeface="Times New Roman" panose="02020603050405020304" pitchFamily="18" charset="0"/>
              </a:rPr>
              <a:t>Beam Search Optimality</a:t>
            </a:r>
          </a:p>
          <a:p>
            <a:pPr marL="457200" indent="-457200" algn="just">
              <a:spcBef>
                <a:spcPct val="0"/>
              </a:spcBef>
              <a:buFont typeface="Arial" panose="020B0604020202020204" pitchFamily="34" charset="0"/>
              <a:buChar char="•"/>
            </a:pPr>
            <a:r>
              <a:rPr sz="2800" b="0" i="0">
                <a:solidFill>
                  <a:srgbClr val="2B2A29"/>
                </a:solidFill>
                <a:latin typeface="Times New Roman" panose="02020603050405020304" pitchFamily="18" charset="0"/>
                <a:ea typeface="Montserrat"/>
                <a:cs typeface="Times New Roman" panose="02020603050405020304" pitchFamily="18" charset="0"/>
              </a:rPr>
              <a:t>The Beam Search algorithm is not complete in some cases. Therefore it is also not guaranteed to be optimal. It can happen because of these reasons:</a:t>
            </a:r>
          </a:p>
          <a:p>
            <a:pPr marL="457200" indent="-457200" algn="just">
              <a:spcBef>
                <a:spcPct val="0"/>
              </a:spcBef>
              <a:buFont typeface="Arial" panose="020B0604020202020204" pitchFamily="34" charset="0"/>
              <a:buChar char="•"/>
            </a:pPr>
            <a:r>
              <a:rPr sz="2800" b="0" i="0">
                <a:solidFill>
                  <a:srgbClr val="2B2A29"/>
                </a:solidFill>
                <a:latin typeface="Times New Roman" panose="02020603050405020304" pitchFamily="18" charset="0"/>
                <a:ea typeface="Montserrat"/>
                <a:cs typeface="Times New Roman" panose="02020603050405020304" pitchFamily="18" charset="0"/>
              </a:rPr>
              <a:t>The beam width and an inaccurate heuristic function may cause the algorithm to miss expanding the shortest path.</a:t>
            </a:r>
          </a:p>
          <a:p>
            <a:pPr marL="457200" indent="-457200" algn="just">
              <a:spcBef>
                <a:spcPct val="0"/>
              </a:spcBef>
              <a:buFont typeface="Arial" panose="020B0604020202020204" pitchFamily="34" charset="0"/>
              <a:buChar char="•"/>
            </a:pPr>
            <a:r>
              <a:rPr sz="2800" b="0" i="0">
                <a:solidFill>
                  <a:srgbClr val="2B2A29"/>
                </a:solidFill>
                <a:latin typeface="Times New Roman" panose="02020603050405020304" pitchFamily="18" charset="0"/>
                <a:ea typeface="Montserrat"/>
                <a:cs typeface="Times New Roman" panose="02020603050405020304" pitchFamily="18" charset="0"/>
              </a:rPr>
              <a:t>A more precise heuristic function and a larger beam width can make Beam Search more likely to find the optimal path to the goal.</a:t>
            </a:r>
          </a:p>
          <a:p>
            <a:pPr marL="457200" indent="-457200" algn="just">
              <a:spcBef>
                <a:spcPct val="0"/>
              </a:spcBef>
              <a:buFont typeface="Arial" panose="020B0604020202020204" pitchFamily="34" charset="0"/>
              <a:buChar char="•"/>
            </a:pPr>
            <a:r>
              <a:rPr sz="2800" b="0" i="0">
                <a:solidFill>
                  <a:srgbClr val="2B2A29"/>
                </a:solidFill>
                <a:latin typeface="Times New Roman" panose="02020603050405020304" pitchFamily="18" charset="0"/>
                <a:ea typeface="Montserrat"/>
                <a:cs typeface="Times New Roman" panose="02020603050405020304" pitchFamily="18" charset="0"/>
              </a:rPr>
              <a:t>For example, we have a tree with heuristic values shown below:</a:t>
            </a:r>
          </a:p>
          <a:p>
            <a:pPr marL="457200" indent="-457200" algn="just">
              <a:spcBef>
                <a:spcPct val="0"/>
              </a:spcBef>
              <a:buFont typeface="Arial" panose="020B0604020202020204" pitchFamily="34" charset="0"/>
              <a:buChar char="•"/>
            </a:pPr>
            <a:endParaRPr sz="2800" b="0" i="0">
              <a:solidFill>
                <a:srgbClr val="2B2A29"/>
              </a:solidFill>
              <a:latin typeface="Times New Roman" panose="02020603050405020304" pitchFamily="18" charset="0"/>
              <a:ea typeface="Montserrat"/>
              <a:cs typeface="Times New Roman" panose="02020603050405020304" pitchFamily="18" charset="0"/>
            </a:endParaRPr>
          </a:p>
          <a:p>
            <a:pPr marL="0" indent="0" algn="just">
              <a:spcBef>
                <a:spcPct val="0"/>
              </a:spcBef>
            </a:pPr>
            <a:endParaRPr sz="2800" b="0" i="0">
              <a:solidFill>
                <a:srgbClr val="2B2A29"/>
              </a:solidFill>
              <a:latin typeface="Times New Roman" panose="02020603050405020304" pitchFamily="18" charset="0"/>
              <a:ea typeface="Montserrat"/>
              <a:cs typeface="Times New Roman" panose="02020603050405020304" pitchFamily="18"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5805805" y="332740"/>
            <a:ext cx="6455410" cy="5647690"/>
          </a:xfrm>
          <a:prstGeom prst="rect">
            <a:avLst/>
          </a:prstGeom>
        </p:spPr>
      </p:pic>
      <p:sp>
        <p:nvSpPr>
          <p:cNvPr id="3" name="Text Box 2"/>
          <p:cNvSpPr txBox="1"/>
          <p:nvPr/>
        </p:nvSpPr>
        <p:spPr>
          <a:xfrm>
            <a:off x="263525" y="765175"/>
            <a:ext cx="6223635" cy="4523105"/>
          </a:xfrm>
          <a:prstGeom prst="rect">
            <a:avLst/>
          </a:prstGeom>
        </p:spPr>
        <p:txBody>
          <a:bodyPr wrap="square">
            <a:spAutoFit/>
          </a:bodyPr>
          <a:lstStyle/>
          <a:p>
            <a:pPr marL="0" indent="0" algn="just">
              <a:spcBef>
                <a:spcPct val="0"/>
              </a:spcBef>
            </a:pPr>
            <a:r>
              <a:rPr sz="2400" b="0" i="0">
                <a:solidFill>
                  <a:srgbClr val="2B2A29"/>
                </a:solidFill>
                <a:latin typeface="Times New Roman" panose="02020603050405020304" pitchFamily="18" charset="0"/>
                <a:ea typeface="Montserrat"/>
                <a:cs typeface="Times New Roman" panose="02020603050405020304" pitchFamily="18" charset="0"/>
              </a:rPr>
              <a:t>Follow the following steps to find the path for the goal node.</a:t>
            </a:r>
          </a:p>
          <a:p>
            <a:pPr marL="0" indent="0" algn="just">
              <a:spcBef>
                <a:spcPct val="0"/>
              </a:spcBef>
            </a:pPr>
            <a:endParaRPr sz="2400" b="0" i="0">
              <a:solidFill>
                <a:srgbClr val="2B2A29"/>
              </a:solidFill>
              <a:latin typeface="Times New Roman" panose="02020603050405020304" pitchFamily="18" charset="0"/>
              <a:ea typeface="Montserrat"/>
              <a:cs typeface="Times New Roman" panose="02020603050405020304" pitchFamily="18" charset="0"/>
            </a:endParaRPr>
          </a:p>
          <a:p>
            <a:pPr marL="0" indent="0" algn="just">
              <a:spcBef>
                <a:spcPct val="0"/>
              </a:spcBef>
            </a:pPr>
            <a:r>
              <a:rPr sz="2400" b="0" i="0">
                <a:solidFill>
                  <a:srgbClr val="2B2A29"/>
                </a:solidFill>
                <a:latin typeface="Times New Roman" panose="02020603050405020304" pitchFamily="18" charset="0"/>
                <a:ea typeface="Montserrat"/>
                <a:cs typeface="Times New Roman" panose="02020603050405020304" pitchFamily="18" charset="0"/>
              </a:rPr>
              <a:t>Step 1: OPEN= {A}</a:t>
            </a:r>
          </a:p>
          <a:p>
            <a:pPr marL="0" indent="0" algn="just">
              <a:spcBef>
                <a:spcPct val="0"/>
              </a:spcBef>
            </a:pPr>
            <a:r>
              <a:rPr sz="2400" b="0" i="0">
                <a:solidFill>
                  <a:srgbClr val="2B2A29"/>
                </a:solidFill>
                <a:latin typeface="Times New Roman" panose="02020603050405020304" pitchFamily="18" charset="0"/>
                <a:ea typeface="Montserrat"/>
                <a:cs typeface="Times New Roman" panose="02020603050405020304" pitchFamily="18" charset="0"/>
              </a:rPr>
              <a:t>Step 2: OPEN= {B, C}</a:t>
            </a:r>
          </a:p>
          <a:p>
            <a:pPr marL="0" indent="0" algn="just">
              <a:spcBef>
                <a:spcPct val="0"/>
              </a:spcBef>
            </a:pPr>
            <a:r>
              <a:rPr sz="2400" b="0" i="0">
                <a:solidFill>
                  <a:srgbClr val="2B2A29"/>
                </a:solidFill>
                <a:latin typeface="Times New Roman" panose="02020603050405020304" pitchFamily="18" charset="0"/>
                <a:ea typeface="Montserrat"/>
                <a:cs typeface="Times New Roman" panose="02020603050405020304" pitchFamily="18" charset="0"/>
              </a:rPr>
              <a:t>Step 3: OPEN= {C, E}</a:t>
            </a:r>
          </a:p>
          <a:p>
            <a:pPr marL="0" indent="0" algn="just">
              <a:spcBef>
                <a:spcPct val="0"/>
              </a:spcBef>
            </a:pPr>
            <a:r>
              <a:rPr sz="2400" b="0" i="0">
                <a:solidFill>
                  <a:srgbClr val="2B2A29"/>
                </a:solidFill>
                <a:latin typeface="Times New Roman" panose="02020603050405020304" pitchFamily="18" charset="0"/>
                <a:ea typeface="Montserrat"/>
                <a:cs typeface="Times New Roman" panose="02020603050405020304" pitchFamily="18" charset="0"/>
              </a:rPr>
              <a:t>Step 4: OPEN= {F, E}</a:t>
            </a:r>
          </a:p>
          <a:p>
            <a:pPr marL="0" indent="0" algn="just">
              <a:spcBef>
                <a:spcPct val="0"/>
              </a:spcBef>
            </a:pPr>
            <a:r>
              <a:rPr sz="2400" b="0" i="0">
                <a:solidFill>
                  <a:srgbClr val="2B2A29"/>
                </a:solidFill>
                <a:latin typeface="Times New Roman" panose="02020603050405020304" pitchFamily="18" charset="0"/>
                <a:ea typeface="Montserrat"/>
                <a:cs typeface="Times New Roman" panose="02020603050405020304" pitchFamily="18" charset="0"/>
              </a:rPr>
              <a:t>Step 5: OPEN= {G, E}</a:t>
            </a:r>
          </a:p>
          <a:p>
            <a:pPr marL="0" indent="0" algn="just">
              <a:spcBef>
                <a:spcPct val="0"/>
              </a:spcBef>
            </a:pPr>
            <a:r>
              <a:rPr sz="2400" b="0" i="0">
                <a:solidFill>
                  <a:srgbClr val="2B2A29"/>
                </a:solidFill>
                <a:latin typeface="Times New Roman" panose="02020603050405020304" pitchFamily="18" charset="0"/>
                <a:ea typeface="Montserrat"/>
                <a:cs typeface="Times New Roman" panose="02020603050405020304" pitchFamily="18" charset="0"/>
              </a:rPr>
              <a:t>Step 6: Found the goal node {G}, now stop.</a:t>
            </a:r>
          </a:p>
          <a:p>
            <a:pPr marL="0" indent="0" algn="just">
              <a:spcBef>
                <a:spcPct val="0"/>
              </a:spcBef>
            </a:pPr>
            <a:r>
              <a:rPr sz="2400" b="0" i="0">
                <a:solidFill>
                  <a:srgbClr val="2B2A29"/>
                </a:solidFill>
                <a:latin typeface="Times New Roman" panose="02020603050405020304" pitchFamily="18" charset="0"/>
                <a:ea typeface="Montserrat"/>
                <a:cs typeface="Times New Roman" panose="02020603050405020304" pitchFamily="18" charset="0"/>
              </a:rPr>
              <a:t>Path: A-&gt; C-&gt; F-&gt; G</a:t>
            </a:r>
          </a:p>
          <a:p>
            <a:pPr marL="0" indent="0" algn="just">
              <a:spcBef>
                <a:spcPct val="0"/>
              </a:spcBef>
            </a:pPr>
            <a:endParaRPr sz="2400" b="0" i="0">
              <a:solidFill>
                <a:srgbClr val="2B2A29"/>
              </a:solidFill>
              <a:latin typeface="Times New Roman" panose="02020603050405020304" pitchFamily="18" charset="0"/>
              <a:ea typeface="Montserrat"/>
              <a:cs typeface="Times New Roman" panose="02020603050405020304" pitchFamily="18" charset="0"/>
            </a:endParaRPr>
          </a:p>
          <a:p>
            <a:pPr marL="0" indent="0" algn="just">
              <a:spcBef>
                <a:spcPct val="0"/>
              </a:spcBef>
            </a:pPr>
            <a:r>
              <a:rPr sz="2400" b="0" i="0">
                <a:solidFill>
                  <a:srgbClr val="2B2A29"/>
                </a:solidFill>
                <a:latin typeface="Times New Roman" panose="02020603050405020304" pitchFamily="18" charset="0"/>
                <a:ea typeface="Montserrat"/>
                <a:cs typeface="Times New Roman" panose="02020603050405020304" pitchFamily="18" charset="0"/>
              </a:rPr>
              <a:t>But the Optimal Path is</a:t>
            </a:r>
            <a:r>
              <a:rPr sz="2400" b="1" i="0">
                <a:solidFill>
                  <a:srgbClr val="2B2A29"/>
                </a:solidFill>
                <a:latin typeface="Times New Roman" panose="02020603050405020304" pitchFamily="18" charset="0"/>
                <a:ea typeface="Montserrat"/>
                <a:cs typeface="Times New Roman" panose="02020603050405020304" pitchFamily="18" charset="0"/>
              </a:rPr>
              <a:t> A-&gt; D-&gt; G</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127125" y="260985"/>
            <a:ext cx="10113645" cy="5876925"/>
          </a:xfrm>
          <a:prstGeom prst="rect">
            <a:avLst/>
          </a:prstGeom>
        </p:spPr>
        <p:txBody>
          <a:bodyPr wrap="square">
            <a:spAutoFit/>
          </a:bodyPr>
          <a:lstStyle/>
          <a:p>
            <a:pPr marL="0" indent="0">
              <a:spcAft>
                <a:spcPct val="60000"/>
              </a:spcAft>
            </a:pPr>
            <a:r>
              <a:rPr sz="2400" b="1" i="0">
                <a:solidFill>
                  <a:srgbClr val="1D1D27"/>
                </a:solidFill>
                <a:latin typeface="Times New Roman" panose="02020603050405020304" pitchFamily="18" charset="0"/>
                <a:ea typeface="Montserrat"/>
                <a:cs typeface="Times New Roman" panose="02020603050405020304" pitchFamily="18" charset="0"/>
              </a:rPr>
              <a:t>Time Complexity of Beam Search</a:t>
            </a:r>
          </a:p>
          <a:p>
            <a:pPr marL="0" indent="0" algn="just">
              <a:spcBef>
                <a:spcPct val="0"/>
              </a:spcBef>
            </a:pPr>
            <a:r>
              <a:rPr sz="2400" b="0" i="0">
                <a:solidFill>
                  <a:srgbClr val="2B2A29"/>
                </a:solidFill>
                <a:latin typeface="Times New Roman" panose="02020603050405020304" pitchFamily="18" charset="0"/>
                <a:ea typeface="Montserrat"/>
                <a:cs typeface="Times New Roman" panose="02020603050405020304" pitchFamily="18" charset="0"/>
              </a:rPr>
              <a:t>The time complexity of the Beam Search algorithm depends on the following things, such as:</a:t>
            </a:r>
          </a:p>
          <a:p>
            <a:pPr indent="0" algn="just">
              <a:spcBef>
                <a:spcPct val="0"/>
              </a:spcBef>
              <a:buFont typeface="Arial" panose="020B0604020202020204" pitchFamily="34" charset="0"/>
              <a:buNone/>
            </a:pPr>
            <a:r>
              <a:rPr sz="2400" i="0">
                <a:solidFill>
                  <a:srgbClr val="2B2A29"/>
                </a:solidFill>
                <a:latin typeface="Times New Roman" panose="02020603050405020304" pitchFamily="18" charset="0"/>
                <a:ea typeface="Montserrat"/>
                <a:cs typeface="Times New Roman" panose="02020603050405020304" pitchFamily="18" charset="0"/>
              </a:rPr>
              <a:t>In the worst case, the heuristic function leads Beam Search to the deepest level in the search tree.</a:t>
            </a:r>
          </a:p>
          <a:p>
            <a:pPr marL="342900" indent="-342900" algn="just">
              <a:spcBef>
                <a:spcPct val="0"/>
              </a:spcBef>
              <a:buFont typeface="Arial" panose="020B0604020202020204" pitchFamily="34" charset="0"/>
              <a:buChar char="•"/>
            </a:pPr>
            <a:r>
              <a:rPr sz="2400" b="1" i="0">
                <a:solidFill>
                  <a:srgbClr val="2B2A29"/>
                </a:solidFill>
                <a:latin typeface="Times New Roman" panose="02020603050405020304" pitchFamily="18" charset="0"/>
                <a:ea typeface="Montserrat"/>
                <a:cs typeface="Times New Roman" panose="02020603050405020304" pitchFamily="18" charset="0"/>
              </a:rPr>
              <a:t>The worst-case time = O(B*m)</a:t>
            </a:r>
          </a:p>
          <a:p>
            <a:pPr marL="342900" indent="-342900" algn="just">
              <a:spcBef>
                <a:spcPct val="0"/>
              </a:spcBef>
              <a:spcAft>
                <a:spcPct val="0"/>
              </a:spcAft>
              <a:buFont typeface="Arial" panose="020B0604020202020204" pitchFamily="34" charset="0"/>
              <a:buChar char="•"/>
            </a:pPr>
            <a:r>
              <a:rPr sz="2400" i="0">
                <a:solidFill>
                  <a:srgbClr val="2B2A29"/>
                </a:solidFill>
                <a:latin typeface="Times New Roman" panose="02020603050405020304" pitchFamily="18" charset="0"/>
                <a:ea typeface="Montserrat"/>
                <a:cs typeface="Times New Roman" panose="02020603050405020304" pitchFamily="18" charset="0"/>
              </a:rPr>
              <a:t>B is the beam width, and m is the maximum depth of any path in the search tree.</a:t>
            </a:r>
          </a:p>
          <a:p>
            <a:pPr indent="0" algn="just">
              <a:spcBef>
                <a:spcPct val="0"/>
              </a:spcBef>
              <a:spcAft>
                <a:spcPct val="0"/>
              </a:spcAft>
              <a:buFont typeface="Arial" panose="020B0604020202020204" pitchFamily="34" charset="0"/>
              <a:buNone/>
            </a:pPr>
            <a:endParaRPr sz="2400" i="0">
              <a:solidFill>
                <a:srgbClr val="2B2A29"/>
              </a:solidFill>
              <a:latin typeface="Times New Roman" panose="02020603050405020304" pitchFamily="18" charset="0"/>
              <a:ea typeface="Montserrat"/>
              <a:cs typeface="Times New Roman" panose="02020603050405020304" pitchFamily="18" charset="0"/>
            </a:endParaRPr>
          </a:p>
          <a:p>
            <a:pPr indent="0" algn="just">
              <a:spcBef>
                <a:spcPct val="0"/>
              </a:spcBef>
              <a:spcAft>
                <a:spcPct val="0"/>
              </a:spcAft>
              <a:buFont typeface="Arial" panose="020B0604020202020204" pitchFamily="34" charset="0"/>
              <a:buNone/>
            </a:pPr>
            <a:r>
              <a:rPr sz="2400" b="1" i="0">
                <a:solidFill>
                  <a:srgbClr val="2B2A29"/>
                </a:solidFill>
                <a:latin typeface="Times New Roman" panose="02020603050405020304" pitchFamily="18" charset="0"/>
                <a:ea typeface="Montserrat"/>
                <a:cs typeface="Times New Roman" panose="02020603050405020304" pitchFamily="18" charset="0"/>
              </a:rPr>
              <a:t>Space Complexity of Beam Search</a:t>
            </a:r>
          </a:p>
          <a:p>
            <a:pPr indent="0" algn="just">
              <a:spcBef>
                <a:spcPct val="0"/>
              </a:spcBef>
              <a:spcAft>
                <a:spcPct val="0"/>
              </a:spcAft>
              <a:buFont typeface="Arial" panose="020B0604020202020204" pitchFamily="34" charset="0"/>
              <a:buNone/>
            </a:pPr>
            <a:r>
              <a:rPr sz="2400" i="0">
                <a:solidFill>
                  <a:srgbClr val="2B2A29"/>
                </a:solidFill>
                <a:latin typeface="Times New Roman" panose="02020603050405020304" pitchFamily="18" charset="0"/>
                <a:ea typeface="Montserrat"/>
                <a:cs typeface="Times New Roman" panose="02020603050405020304" pitchFamily="18" charset="0"/>
              </a:rPr>
              <a:t>The space complexity of the Beam Search algorithm depends on the following things, such as:</a:t>
            </a:r>
          </a:p>
          <a:p>
            <a:pPr indent="0" algn="just">
              <a:spcBef>
                <a:spcPct val="0"/>
              </a:spcBef>
              <a:spcAft>
                <a:spcPct val="0"/>
              </a:spcAft>
              <a:buFont typeface="Arial" panose="020B0604020202020204" pitchFamily="34" charset="0"/>
              <a:buNone/>
            </a:pPr>
            <a:r>
              <a:rPr sz="2400" b="1" i="0">
                <a:solidFill>
                  <a:srgbClr val="2B2A29"/>
                </a:solidFill>
                <a:latin typeface="Times New Roman" panose="02020603050405020304" pitchFamily="18" charset="0"/>
                <a:ea typeface="Montserrat"/>
                <a:cs typeface="Times New Roman" panose="02020603050405020304" pitchFamily="18" charset="0"/>
              </a:rPr>
              <a:t>The worst-case space complexity = O(B*m)</a:t>
            </a:r>
          </a:p>
          <a:p>
            <a:pPr indent="0" algn="just">
              <a:spcBef>
                <a:spcPct val="0"/>
              </a:spcBef>
              <a:spcAft>
                <a:spcPct val="0"/>
              </a:spcAft>
              <a:buFont typeface="Arial" panose="020B0604020202020204" pitchFamily="34" charset="0"/>
              <a:buNone/>
            </a:pPr>
            <a:r>
              <a:rPr sz="2400" i="0">
                <a:solidFill>
                  <a:srgbClr val="2B2A29"/>
                </a:solidFill>
                <a:latin typeface="Times New Roman" panose="02020603050405020304" pitchFamily="18" charset="0"/>
                <a:ea typeface="Montserrat"/>
                <a:cs typeface="Times New Roman" panose="02020603050405020304" pitchFamily="18" charset="0"/>
              </a:rPr>
              <a:t>B is the beam width, and m is the maximum depth of any path in the search tree.</a:t>
            </a:r>
          </a:p>
          <a:p>
            <a:pPr marL="0" indent="0" algn="just">
              <a:spcBef>
                <a:spcPct val="0"/>
              </a:spcBef>
              <a:spcAft>
                <a:spcPct val="0"/>
              </a:spcAft>
              <a:buFont typeface="Arial" panose="020B0604020202020204"/>
              <a:buNone/>
            </a:pPr>
            <a:endParaRPr sz="2400" i="0">
              <a:solidFill>
                <a:srgbClr val="2B2A29"/>
              </a:solidFill>
              <a:latin typeface="Times New Roman" panose="02020603050405020304" pitchFamily="18" charset="0"/>
              <a:ea typeface="Montserrat"/>
              <a:cs typeface="Times New Roman" panose="02020603050405020304" pitchFamily="18"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36855" y="188595"/>
            <a:ext cx="11640185" cy="5807710"/>
          </a:xfrm>
          <a:prstGeom prst="rect">
            <a:avLst/>
          </a:prstGeom>
        </p:spPr>
        <p:txBody>
          <a:bodyPr wrap="square">
            <a:spAutoFit/>
          </a:bodyPr>
          <a:lstStyle/>
          <a:p>
            <a:pPr algn="ctr" defTabSz="266700">
              <a:lnSpc>
                <a:spcPct val="115000"/>
              </a:lnSpc>
              <a:spcAft>
                <a:spcPts val="800"/>
              </a:spcAft>
            </a:pPr>
            <a:r>
              <a:rPr sz="3600" b="1">
                <a:solidFill>
                  <a:srgbClr val="FF0000"/>
                </a:solidFill>
                <a:latin typeface="Times New Roman" panose="02020603050405020304" pitchFamily="18" charset="0"/>
                <a:ea typeface="等线"/>
                <a:cs typeface="Times New Roman" panose="02020603050405020304" pitchFamily="18" charset="0"/>
              </a:rPr>
              <a:t>Genetic algorithms</a:t>
            </a:r>
          </a:p>
          <a:p>
            <a:pPr algn="just" defTabSz="266700">
              <a:lnSpc>
                <a:spcPct val="115000"/>
              </a:lnSpc>
              <a:spcAft>
                <a:spcPts val="800"/>
              </a:spcAft>
            </a:pPr>
            <a:r>
              <a:rPr sz="2400">
                <a:solidFill>
                  <a:schemeClr val="tx1"/>
                </a:solidFill>
                <a:latin typeface="Times New Roman" panose="02020603050405020304" pitchFamily="18" charset="0"/>
                <a:ea typeface="等线"/>
                <a:cs typeface="Times New Roman" panose="02020603050405020304" pitchFamily="18" charset="0"/>
              </a:rPr>
              <a:t>Genetic Algorithms(GAs) are adaptive heuristic search algorithms that belong to the larger part of evolutionary algorithms. Genetic algorithms are based on the ideas of natural selection and genetics. </a:t>
            </a:r>
          </a:p>
          <a:p>
            <a:pPr algn="just" defTabSz="266700">
              <a:lnSpc>
                <a:spcPct val="115000"/>
              </a:lnSpc>
              <a:spcAft>
                <a:spcPts val="800"/>
              </a:spcAft>
            </a:pPr>
            <a:r>
              <a:rPr sz="2400" b="1">
                <a:solidFill>
                  <a:schemeClr val="tx1"/>
                </a:solidFill>
                <a:latin typeface="Times New Roman" panose="02020603050405020304" pitchFamily="18" charset="0"/>
                <a:ea typeface="等线"/>
                <a:cs typeface="Times New Roman" panose="02020603050405020304" pitchFamily="18" charset="0"/>
              </a:rPr>
              <a:t>They are commonly used to generate high-quality solutions for optimization problems and search problems.</a:t>
            </a:r>
          </a:p>
          <a:p>
            <a:pPr algn="just" defTabSz="266700">
              <a:lnSpc>
                <a:spcPct val="115000"/>
              </a:lnSpc>
              <a:spcAft>
                <a:spcPts val="800"/>
              </a:spcAft>
            </a:pPr>
            <a:r>
              <a:rPr sz="2400">
                <a:solidFill>
                  <a:schemeClr val="tx1"/>
                </a:solidFill>
                <a:latin typeface="Times New Roman" panose="02020603050405020304" pitchFamily="18" charset="0"/>
                <a:ea typeface="等线"/>
                <a:cs typeface="Times New Roman" panose="02020603050405020304" pitchFamily="18" charset="0"/>
              </a:rPr>
              <a:t>Genetic algorithms simulate the process of natural selection which means those species that can adapt to changes in their environment can survive and reproduce and go to the next generation. </a:t>
            </a:r>
          </a:p>
          <a:p>
            <a:pPr algn="just" defTabSz="266700">
              <a:lnSpc>
                <a:spcPct val="115000"/>
              </a:lnSpc>
              <a:spcAft>
                <a:spcPts val="800"/>
              </a:spcAft>
            </a:pPr>
            <a:r>
              <a:rPr sz="2400">
                <a:solidFill>
                  <a:schemeClr val="tx1"/>
                </a:solidFill>
                <a:latin typeface="Times New Roman" panose="02020603050405020304" pitchFamily="18" charset="0"/>
                <a:ea typeface="等线"/>
                <a:cs typeface="Times New Roman" panose="02020603050405020304" pitchFamily="18" charset="0"/>
              </a:rPr>
              <a:t>In simple words, they simulate </a:t>
            </a:r>
            <a:r>
              <a:rPr sz="2400" b="1">
                <a:solidFill>
                  <a:schemeClr val="tx1"/>
                </a:solidFill>
                <a:latin typeface="Times New Roman" panose="02020603050405020304" pitchFamily="18" charset="0"/>
                <a:ea typeface="等线"/>
                <a:cs typeface="Times New Roman" panose="02020603050405020304" pitchFamily="18" charset="0"/>
              </a:rPr>
              <a:t>“survival of the fittest” </a:t>
            </a:r>
            <a:r>
              <a:rPr sz="2400">
                <a:solidFill>
                  <a:schemeClr val="tx1"/>
                </a:solidFill>
                <a:latin typeface="Times New Roman" panose="02020603050405020304" pitchFamily="18" charset="0"/>
                <a:ea typeface="等线"/>
                <a:cs typeface="Times New Roman" panose="02020603050405020304" pitchFamily="18" charset="0"/>
              </a:rPr>
              <a:t>among individuals of consecutive generations to solve a problem. Each generation consists of a population of individuals and each individual represents a point in search space and possible solution. </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151890" y="405130"/>
            <a:ext cx="10638790" cy="4892675"/>
          </a:xfrm>
          <a:prstGeom prst="rect">
            <a:avLst/>
          </a:prstGeom>
        </p:spPr>
        <p:txBody>
          <a:bodyPr wrap="square">
            <a:spAutoFit/>
          </a:bodyPr>
          <a:lstStyle/>
          <a:p>
            <a:pPr marL="0" indent="0" algn="just" fontAlgn="base">
              <a:spcBef>
                <a:spcPct val="0"/>
              </a:spcBef>
              <a:spcAft>
                <a:spcPct val="0"/>
              </a:spcAft>
            </a:pPr>
            <a:r>
              <a:rPr sz="2400" b="1" i="0">
                <a:solidFill>
                  <a:srgbClr val="273239"/>
                </a:solidFill>
                <a:latin typeface="Times New Roman" panose="02020603050405020304" pitchFamily="18" charset="0"/>
                <a:ea typeface="Nunito"/>
                <a:cs typeface="Times New Roman" panose="02020603050405020304" pitchFamily="18" charset="0"/>
              </a:rPr>
              <a:t>Foundation of Genetic Algorithms</a:t>
            </a:r>
          </a:p>
          <a:p>
            <a:pPr marL="0" indent="0" algn="just" fontAlgn="base">
              <a:spcBef>
                <a:spcPct val="0"/>
              </a:spcBef>
              <a:spcAft>
                <a:spcPct val="0"/>
              </a:spcAft>
            </a:pPr>
            <a:endParaRPr sz="2400" b="1" i="0">
              <a:solidFill>
                <a:srgbClr val="273239"/>
              </a:solidFill>
              <a:latin typeface="Times New Roman" panose="02020603050405020304" pitchFamily="18" charset="0"/>
              <a:ea typeface="Nunito"/>
              <a:cs typeface="Times New Roman" panose="02020603050405020304" pitchFamily="18" charset="0"/>
            </a:endParaRPr>
          </a:p>
          <a:p>
            <a:pPr marL="0" indent="0" algn="just" fontAlgn="base">
              <a:spcBef>
                <a:spcPct val="0"/>
              </a:spcBef>
              <a:spcAft>
                <a:spcPct val="0"/>
              </a:spcAft>
            </a:pPr>
            <a:r>
              <a:rPr sz="2400" b="0" i="0">
                <a:solidFill>
                  <a:srgbClr val="273239"/>
                </a:solidFill>
                <a:latin typeface="Times New Roman" panose="02020603050405020304" pitchFamily="18" charset="0"/>
                <a:ea typeface="Nunito"/>
                <a:cs typeface="Times New Roman" panose="02020603050405020304" pitchFamily="18" charset="0"/>
              </a:rPr>
              <a:t>Genetic algorithms are based on an analogy with the genetic structure and behavior of chromosomes of the population. Following is the foundation of GAs based on this analogy –  </a:t>
            </a:r>
          </a:p>
          <a:p>
            <a:pPr marL="0" indent="0" algn="just" fontAlgn="base">
              <a:spcBef>
                <a:spcPct val="0"/>
              </a:spcBef>
              <a:spcAft>
                <a:spcPct val="0"/>
              </a:spcAft>
              <a:buAutoNum type="arabicPeriod"/>
            </a:pPr>
            <a:r>
              <a:rPr sz="2400" b="0" i="0">
                <a:solidFill>
                  <a:srgbClr val="273239"/>
                </a:solidFill>
                <a:latin typeface="Times New Roman" panose="02020603050405020304" pitchFamily="18" charset="0"/>
                <a:ea typeface="Nunito"/>
                <a:cs typeface="Times New Roman" panose="02020603050405020304" pitchFamily="18" charset="0"/>
              </a:rPr>
              <a:t>Individuals in the population compete for resources and mate</a:t>
            </a:r>
          </a:p>
          <a:p>
            <a:pPr marL="0" indent="0" algn="just" fontAlgn="base">
              <a:spcBef>
                <a:spcPct val="0"/>
              </a:spcBef>
              <a:spcAft>
                <a:spcPct val="0"/>
              </a:spcAft>
              <a:buAutoNum type="arabicPeriod"/>
            </a:pPr>
            <a:r>
              <a:rPr sz="2400" b="0" i="0">
                <a:solidFill>
                  <a:srgbClr val="273239"/>
                </a:solidFill>
                <a:latin typeface="Times New Roman" panose="02020603050405020304" pitchFamily="18" charset="0"/>
                <a:ea typeface="Nunito"/>
                <a:cs typeface="Times New Roman" panose="02020603050405020304" pitchFamily="18" charset="0"/>
              </a:rPr>
              <a:t>Those individuals who are successful (fittest) then mate to create more offspring than others</a:t>
            </a:r>
          </a:p>
          <a:p>
            <a:pPr marL="0" indent="0" algn="just" fontAlgn="base">
              <a:spcBef>
                <a:spcPct val="0"/>
              </a:spcBef>
              <a:spcAft>
                <a:spcPct val="0"/>
              </a:spcAft>
              <a:buAutoNum type="arabicPeriod"/>
            </a:pPr>
            <a:r>
              <a:rPr sz="2400" b="0" i="0">
                <a:solidFill>
                  <a:srgbClr val="273239"/>
                </a:solidFill>
                <a:latin typeface="Times New Roman" panose="02020603050405020304" pitchFamily="18" charset="0"/>
                <a:ea typeface="Nunito"/>
                <a:cs typeface="Times New Roman" panose="02020603050405020304" pitchFamily="18" charset="0"/>
              </a:rPr>
              <a:t>Genes from the “fittest” parent propagate throughout the generation, that is sometimes parents create offspring which is better than either parent.</a:t>
            </a:r>
          </a:p>
          <a:p>
            <a:pPr marL="0" indent="0" algn="just" fontAlgn="base">
              <a:spcBef>
                <a:spcPct val="0"/>
              </a:spcBef>
              <a:spcAft>
                <a:spcPct val="0"/>
              </a:spcAft>
              <a:buAutoNum type="arabicPeriod"/>
            </a:pPr>
            <a:r>
              <a:rPr sz="2400" b="0" i="0">
                <a:solidFill>
                  <a:srgbClr val="273239"/>
                </a:solidFill>
                <a:latin typeface="Times New Roman" panose="02020603050405020304" pitchFamily="18" charset="0"/>
                <a:ea typeface="Nunito"/>
                <a:cs typeface="Times New Roman" panose="02020603050405020304" pitchFamily="18" charset="0"/>
              </a:rPr>
              <a:t>Thus each successive generation is more suited for their environment.</a:t>
            </a:r>
          </a:p>
          <a:p>
            <a:pPr marL="0" indent="0" algn="just" fontAlgn="base">
              <a:spcBef>
                <a:spcPct val="0"/>
              </a:spcBef>
              <a:spcAft>
                <a:spcPct val="0"/>
              </a:spcAft>
              <a:buNone/>
            </a:pPr>
            <a:endParaRPr sz="2400" b="0" i="0">
              <a:solidFill>
                <a:srgbClr val="273239"/>
              </a:solidFill>
              <a:latin typeface="Times New Roman" panose="02020603050405020304" pitchFamily="18" charset="0"/>
              <a:ea typeface="Nunito"/>
              <a:cs typeface="Times New Roman" panose="02020603050405020304" pitchFamily="18" charset="0"/>
            </a:endParaRPr>
          </a:p>
          <a:p>
            <a:pPr marL="0" indent="0" algn="just" fontAlgn="base">
              <a:spcBef>
                <a:spcPct val="0"/>
              </a:spcBef>
              <a:spcAft>
                <a:spcPct val="0"/>
              </a:spcAft>
              <a:buNone/>
            </a:pPr>
            <a:endParaRPr sz="2400" b="0" i="0">
              <a:solidFill>
                <a:srgbClr val="273239"/>
              </a:solidFill>
              <a:latin typeface="Times New Roman" panose="02020603050405020304" pitchFamily="18" charset="0"/>
              <a:ea typeface="Nunito"/>
              <a:cs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415415" y="188595"/>
            <a:ext cx="10436225" cy="5617210"/>
          </a:xfrm>
          <a:prstGeom prst="rect">
            <a:avLst/>
          </a:prstGeom>
        </p:spPr>
        <p:txBody>
          <a:bodyPr wrap="square">
            <a:noAutofit/>
          </a:bodyPr>
          <a:lstStyle/>
          <a:p>
            <a:pPr marL="0" indent="0" algn="just" fontAlgn="base">
              <a:spcBef>
                <a:spcPct val="0"/>
              </a:spcBef>
              <a:spcAft>
                <a:spcPct val="0"/>
              </a:spcAft>
            </a:pPr>
            <a:r>
              <a:rPr sz="3200" b="1" i="0">
                <a:solidFill>
                  <a:srgbClr val="273239"/>
                </a:solidFill>
                <a:latin typeface="Times New Roman" panose="02020603050405020304" pitchFamily="18" charset="0"/>
                <a:ea typeface="Nunito"/>
                <a:cs typeface="Times New Roman" panose="02020603050405020304" pitchFamily="18" charset="0"/>
              </a:rPr>
              <a:t>Search space</a:t>
            </a:r>
          </a:p>
          <a:p>
            <a:pPr marL="0" indent="0" algn="just" fontAlgn="base">
              <a:spcBef>
                <a:spcPct val="0"/>
              </a:spcBef>
              <a:spcAft>
                <a:spcPct val="0"/>
              </a:spcAft>
            </a:pPr>
            <a:endParaRPr sz="3200" b="1" i="0">
              <a:solidFill>
                <a:srgbClr val="273239"/>
              </a:solidFill>
              <a:latin typeface="Times New Roman" panose="02020603050405020304" pitchFamily="18" charset="0"/>
              <a:ea typeface="Nunito"/>
              <a:cs typeface="Times New Roman" panose="02020603050405020304" pitchFamily="18" charset="0"/>
            </a:endParaRPr>
          </a:p>
          <a:p>
            <a:pPr marL="457200" indent="-457200" algn="just" fontAlgn="base">
              <a:spcBef>
                <a:spcPct val="0"/>
              </a:spcBef>
              <a:spcAft>
                <a:spcPct val="0"/>
              </a:spcAft>
              <a:buFont typeface="Arial" panose="020B0604020202020204" pitchFamily="34" charset="0"/>
              <a:buChar char="•"/>
            </a:pPr>
            <a:r>
              <a:rPr sz="2400" b="0" i="0">
                <a:solidFill>
                  <a:srgbClr val="273239"/>
                </a:solidFill>
                <a:latin typeface="Times New Roman" panose="02020603050405020304" pitchFamily="18" charset="0"/>
                <a:ea typeface="Nunito"/>
                <a:cs typeface="Times New Roman" panose="02020603050405020304" pitchFamily="18" charset="0"/>
              </a:rPr>
              <a:t>The population of individuals are maintained within search space.</a:t>
            </a:r>
          </a:p>
          <a:p>
            <a:pPr marL="457200" indent="-457200" algn="just" fontAlgn="base">
              <a:spcBef>
                <a:spcPct val="0"/>
              </a:spcBef>
              <a:spcAft>
                <a:spcPct val="0"/>
              </a:spcAft>
              <a:buFont typeface="Arial" panose="020B0604020202020204" pitchFamily="34" charset="0"/>
              <a:buChar char="•"/>
            </a:pPr>
            <a:r>
              <a:rPr sz="2400" b="0" i="0">
                <a:solidFill>
                  <a:srgbClr val="273239"/>
                </a:solidFill>
                <a:latin typeface="Times New Roman" panose="02020603050405020304" pitchFamily="18" charset="0"/>
                <a:ea typeface="Nunito"/>
                <a:cs typeface="Times New Roman" panose="02020603050405020304" pitchFamily="18" charset="0"/>
              </a:rPr>
              <a:t>Each individual represents a solution in search space for given problem. Each individual is coded as a finite length vector (analogous to chromosome) of components.</a:t>
            </a:r>
          </a:p>
          <a:p>
            <a:pPr marL="457200" indent="-457200" algn="just" fontAlgn="base">
              <a:spcBef>
                <a:spcPct val="0"/>
              </a:spcBef>
              <a:spcAft>
                <a:spcPct val="0"/>
              </a:spcAft>
              <a:buFont typeface="Arial" panose="020B0604020202020204" pitchFamily="34" charset="0"/>
              <a:buChar char="•"/>
            </a:pPr>
            <a:r>
              <a:rPr sz="2400" b="0" i="0">
                <a:solidFill>
                  <a:srgbClr val="273239"/>
                </a:solidFill>
                <a:latin typeface="Times New Roman" panose="02020603050405020304" pitchFamily="18" charset="0"/>
                <a:ea typeface="Nunito"/>
                <a:cs typeface="Times New Roman" panose="02020603050405020304" pitchFamily="18" charset="0"/>
              </a:rPr>
              <a:t> These variable components are analogous to Genes. Thus a chromosome (individual) is composed of several genes (variable components). </a:t>
            </a:r>
          </a:p>
          <a:p>
            <a:pPr indent="0" algn="just" fontAlgn="base">
              <a:spcBef>
                <a:spcPct val="0"/>
              </a:spcBef>
              <a:spcAft>
                <a:spcPct val="0"/>
              </a:spcAft>
              <a:buFont typeface="Arial" panose="020B0604020202020204" pitchFamily="34" charset="0"/>
              <a:buNone/>
            </a:pPr>
            <a:endParaRPr sz="2400" b="0" i="0">
              <a:solidFill>
                <a:srgbClr val="273239"/>
              </a:solidFill>
              <a:latin typeface="Times New Roman" panose="02020603050405020304" pitchFamily="18" charset="0"/>
              <a:ea typeface="Nunito"/>
              <a:cs typeface="Times New Roman" panose="02020603050405020304" pitchFamily="18" charset="0"/>
            </a:endParaRPr>
          </a:p>
          <a:p>
            <a:pPr indent="0" algn="just" fontAlgn="base">
              <a:spcBef>
                <a:spcPct val="0"/>
              </a:spcBef>
              <a:spcAft>
                <a:spcPct val="0"/>
              </a:spcAft>
              <a:buFont typeface="Arial" panose="020B0604020202020204" pitchFamily="34" charset="0"/>
              <a:buNone/>
            </a:pPr>
            <a:endParaRPr sz="2400" b="0" i="0">
              <a:solidFill>
                <a:srgbClr val="273239"/>
              </a:solidFill>
              <a:latin typeface="Times New Roman" panose="02020603050405020304" pitchFamily="18" charset="0"/>
              <a:ea typeface="Nunito"/>
              <a:cs typeface="Times New Roman" panose="02020603050405020304" pitchFamily="18" charset="0"/>
            </a:endParaRPr>
          </a:p>
          <a:p>
            <a:pPr marL="0" indent="0" algn="just" fontAlgn="base">
              <a:spcBef>
                <a:spcPct val="0"/>
              </a:spcBef>
              <a:spcAft>
                <a:spcPct val="0"/>
              </a:spcAft>
            </a:pPr>
            <a:endParaRPr sz="2400" b="0" i="0">
              <a:solidFill>
                <a:srgbClr val="273239"/>
              </a:solidFill>
              <a:latin typeface="Times New Roman" panose="02020603050405020304" pitchFamily="18" charset="0"/>
              <a:ea typeface="Nunito"/>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267460" y="3861435"/>
            <a:ext cx="10024110" cy="1980565"/>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407035" y="116840"/>
            <a:ext cx="11515725" cy="3846195"/>
          </a:xfrm>
          <a:prstGeom prst="rect">
            <a:avLst/>
          </a:prstGeom>
        </p:spPr>
        <p:txBody>
          <a:bodyPr wrap="square">
            <a:spAutoFit/>
          </a:bodyPr>
          <a:lstStyle/>
          <a:p>
            <a:pPr marL="0" indent="0" algn="just" fontAlgn="base">
              <a:spcBef>
                <a:spcPct val="0"/>
              </a:spcBef>
              <a:spcAft>
                <a:spcPct val="0"/>
              </a:spcAft>
            </a:pPr>
            <a:r>
              <a:rPr lang="en-US" sz="2800" b="1" i="0">
                <a:solidFill>
                  <a:srgbClr val="273239"/>
                </a:solidFill>
                <a:latin typeface="Times New Roman" panose="02020603050405020304" pitchFamily="18" charset="0"/>
                <a:ea typeface="Nunito"/>
                <a:cs typeface="Times New Roman" panose="02020603050405020304" pitchFamily="18" charset="0"/>
              </a:rPr>
              <a:t>            </a:t>
            </a:r>
            <a:r>
              <a:rPr sz="2800" b="1" i="0">
                <a:solidFill>
                  <a:srgbClr val="273239"/>
                </a:solidFill>
                <a:latin typeface="Times New Roman" panose="02020603050405020304" pitchFamily="18" charset="0"/>
                <a:ea typeface="Nunito"/>
                <a:cs typeface="Times New Roman" panose="02020603050405020304" pitchFamily="18" charset="0"/>
              </a:rPr>
              <a:t>Operators of Genetic Algorithms</a:t>
            </a:r>
            <a:r>
              <a:rPr lang="en-US" sz="2800" b="1" i="0">
                <a:solidFill>
                  <a:srgbClr val="273239"/>
                </a:solidFill>
                <a:latin typeface="Times New Roman" panose="02020603050405020304" pitchFamily="18" charset="0"/>
                <a:ea typeface="Nunito"/>
                <a:cs typeface="Times New Roman" panose="02020603050405020304" pitchFamily="18" charset="0"/>
              </a:rPr>
              <a:t> :</a:t>
            </a:r>
          </a:p>
          <a:p>
            <a:pPr marL="0" indent="0" algn="just" fontAlgn="base">
              <a:spcBef>
                <a:spcPct val="0"/>
              </a:spcBef>
              <a:spcAft>
                <a:spcPct val="0"/>
              </a:spcAft>
            </a:pPr>
            <a:r>
              <a:rPr sz="2400" b="0" i="0">
                <a:solidFill>
                  <a:srgbClr val="273239"/>
                </a:solidFill>
                <a:latin typeface="Times New Roman" panose="02020603050405020304" pitchFamily="18" charset="0"/>
                <a:ea typeface="Nunito"/>
                <a:cs typeface="Times New Roman" panose="02020603050405020304" pitchFamily="18" charset="0"/>
              </a:rPr>
              <a:t>Once the initial generation is created, the algorithm evolves the generation using following operators –</a:t>
            </a:r>
          </a:p>
          <a:p>
            <a:pPr marL="342900" indent="-342900" algn="just" fontAlgn="base">
              <a:spcBef>
                <a:spcPct val="0"/>
              </a:spcBef>
              <a:spcAft>
                <a:spcPct val="0"/>
              </a:spcAft>
              <a:buFont typeface="Arial" panose="020B0604020202020204" pitchFamily="34" charset="0"/>
              <a:buChar char="•"/>
            </a:pPr>
            <a:r>
              <a:rPr sz="2400" b="1" i="0">
                <a:solidFill>
                  <a:srgbClr val="273239"/>
                </a:solidFill>
                <a:latin typeface="Times New Roman" panose="02020603050405020304" pitchFamily="18" charset="0"/>
                <a:ea typeface="Nunito"/>
                <a:cs typeface="Times New Roman" panose="02020603050405020304" pitchFamily="18" charset="0"/>
              </a:rPr>
              <a:t>Population: </a:t>
            </a:r>
            <a:r>
              <a:rPr sz="2400" b="0" i="0">
                <a:solidFill>
                  <a:srgbClr val="273239"/>
                </a:solidFill>
                <a:latin typeface="Times New Roman" panose="02020603050405020304" pitchFamily="18" charset="0"/>
                <a:ea typeface="Nunito"/>
                <a:cs typeface="Times New Roman" panose="02020603050405020304" pitchFamily="18" charset="0"/>
              </a:rPr>
              <a:t>A population represents a group of potential solutions to a problem. These solutions are often referred to as "individuals" or "chromosomes."</a:t>
            </a:r>
          </a:p>
          <a:p>
            <a:pPr marL="342900" indent="-342900" algn="just" fontAlgn="base">
              <a:spcBef>
                <a:spcPct val="0"/>
              </a:spcBef>
              <a:spcAft>
                <a:spcPct val="0"/>
              </a:spcAft>
              <a:buFont typeface="Arial" panose="020B0604020202020204" pitchFamily="34" charset="0"/>
              <a:buChar char="•"/>
            </a:pPr>
            <a:r>
              <a:rPr sz="2400" b="1" i="0">
                <a:solidFill>
                  <a:srgbClr val="273239"/>
                </a:solidFill>
                <a:latin typeface="Times New Roman" panose="02020603050405020304" pitchFamily="18" charset="0"/>
                <a:ea typeface="Nunito"/>
                <a:cs typeface="Times New Roman" panose="02020603050405020304" pitchFamily="18" charset="0"/>
              </a:rPr>
              <a:t>Selection Operator:</a:t>
            </a:r>
            <a:r>
              <a:rPr sz="2400" b="0" i="0">
                <a:solidFill>
                  <a:srgbClr val="273239"/>
                </a:solidFill>
                <a:latin typeface="Times New Roman" panose="02020603050405020304" pitchFamily="18" charset="0"/>
                <a:ea typeface="Nunito"/>
                <a:cs typeface="Times New Roman" panose="02020603050405020304" pitchFamily="18" charset="0"/>
              </a:rPr>
              <a:t> The selection process determines which individuals from the population will be chosen as parents for reproduction based on their fitness (how well they solve the problem).</a:t>
            </a:r>
          </a:p>
          <a:p>
            <a:pPr marL="342900" indent="-342900" algn="just" fontAlgn="base">
              <a:spcBef>
                <a:spcPct val="0"/>
              </a:spcBef>
              <a:spcAft>
                <a:spcPct val="0"/>
              </a:spcAft>
              <a:buFont typeface="Arial" panose="020B0604020202020204" pitchFamily="34" charset="0"/>
              <a:buChar char="•"/>
            </a:pPr>
            <a:r>
              <a:rPr sz="2400" b="1" i="0">
                <a:solidFill>
                  <a:srgbClr val="273239"/>
                </a:solidFill>
                <a:latin typeface="Times New Roman" panose="02020603050405020304" pitchFamily="18" charset="0"/>
                <a:ea typeface="Nunito"/>
                <a:cs typeface="Times New Roman" panose="02020603050405020304" pitchFamily="18" charset="0"/>
              </a:rPr>
              <a:t>Crossover Operator:</a:t>
            </a:r>
            <a:r>
              <a:rPr sz="2400" b="0" i="0">
                <a:solidFill>
                  <a:srgbClr val="273239"/>
                </a:solidFill>
                <a:latin typeface="Times New Roman" panose="02020603050405020304" pitchFamily="18" charset="0"/>
                <a:ea typeface="Nunito"/>
                <a:cs typeface="Times New Roman" panose="02020603050405020304" pitchFamily="18" charset="0"/>
              </a:rPr>
              <a:t> Crossover involves combining genetic information from two parent individuals to create one or more offspring. </a:t>
            </a:r>
          </a:p>
        </p:txBody>
      </p:sp>
      <p:pic>
        <p:nvPicPr>
          <p:cNvPr id="3" name="Picture 2"/>
          <p:cNvPicPr>
            <a:picLocks noChangeAspect="1"/>
          </p:cNvPicPr>
          <p:nvPr/>
        </p:nvPicPr>
        <p:blipFill>
          <a:blip r:embed="rId2"/>
          <a:stretch>
            <a:fillRect/>
          </a:stretch>
        </p:blipFill>
        <p:spPr>
          <a:xfrm>
            <a:off x="839470" y="4063365"/>
            <a:ext cx="10930255" cy="2466340"/>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217295" y="548640"/>
            <a:ext cx="10488930" cy="2306955"/>
          </a:xfrm>
          <a:prstGeom prst="rect">
            <a:avLst/>
          </a:prstGeom>
        </p:spPr>
        <p:txBody>
          <a:bodyPr wrap="square">
            <a:spAutoFit/>
          </a:bodyPr>
          <a:lstStyle/>
          <a:p>
            <a:pPr marL="342900" indent="-342900" algn="just" fontAlgn="base">
              <a:spcBef>
                <a:spcPct val="0"/>
              </a:spcBef>
              <a:spcAft>
                <a:spcPct val="0"/>
              </a:spcAft>
              <a:buFont typeface="Arial" panose="020B0604020202020204" pitchFamily="34" charset="0"/>
              <a:buChar char="•"/>
            </a:pPr>
            <a:r>
              <a:rPr sz="2400" b="1" i="0">
                <a:solidFill>
                  <a:srgbClr val="273239"/>
                </a:solidFill>
                <a:latin typeface="Times New Roman" panose="02020603050405020304" pitchFamily="18" charset="0"/>
                <a:ea typeface="Nunito"/>
                <a:cs typeface="Times New Roman" panose="02020603050405020304" pitchFamily="18" charset="0"/>
              </a:rPr>
              <a:t>Mutation Operator:</a:t>
            </a:r>
            <a:r>
              <a:rPr lang="en-US" sz="2400" b="1" i="0">
                <a:solidFill>
                  <a:srgbClr val="273239"/>
                </a:solidFill>
                <a:latin typeface="Times New Roman" panose="02020603050405020304" pitchFamily="18" charset="0"/>
                <a:ea typeface="Nunito"/>
                <a:cs typeface="Times New Roman" panose="02020603050405020304" pitchFamily="18" charset="0"/>
              </a:rPr>
              <a:t> </a:t>
            </a:r>
            <a:r>
              <a:rPr sz="2400" b="0" i="0">
                <a:solidFill>
                  <a:srgbClr val="273239"/>
                </a:solidFill>
                <a:latin typeface="Times New Roman" panose="02020603050405020304" pitchFamily="18" charset="0"/>
                <a:ea typeface="Nunito"/>
                <a:cs typeface="Times New Roman" panose="02020603050405020304" pitchFamily="18" charset="0"/>
              </a:rPr>
              <a:t>The key idea is to insert random genes in offspring to maintain the diversity in the population to avoid premature convergence. For example – </a:t>
            </a:r>
          </a:p>
          <a:p>
            <a:pPr marL="342900" indent="-342900" algn="just" fontAlgn="base">
              <a:spcBef>
                <a:spcPct val="0"/>
              </a:spcBef>
              <a:spcAft>
                <a:spcPct val="0"/>
              </a:spcAft>
              <a:buFont typeface="Arial" panose="020B0604020202020204" pitchFamily="34" charset="0"/>
              <a:buChar char="•"/>
            </a:pPr>
            <a:endParaRPr sz="2400" b="0" i="0">
              <a:solidFill>
                <a:srgbClr val="273239"/>
              </a:solidFill>
              <a:latin typeface="Times New Roman" panose="02020603050405020304" pitchFamily="18" charset="0"/>
              <a:ea typeface="Nunito"/>
              <a:cs typeface="Times New Roman" panose="02020603050405020304" pitchFamily="18" charset="0"/>
            </a:endParaRPr>
          </a:p>
          <a:p>
            <a:pPr marL="0" indent="0" algn="just" fontAlgn="base">
              <a:spcBef>
                <a:spcPct val="0"/>
              </a:spcBef>
              <a:spcAft>
                <a:spcPct val="0"/>
              </a:spcAft>
            </a:pPr>
            <a:endParaRPr sz="2400" b="0" i="0">
              <a:solidFill>
                <a:srgbClr val="273239"/>
              </a:solidFill>
              <a:latin typeface="Times New Roman" panose="02020603050405020304" pitchFamily="18" charset="0"/>
              <a:ea typeface="Nunito"/>
              <a:cs typeface="Times New Roman" panose="02020603050405020304" pitchFamily="18" charset="0"/>
            </a:endParaRPr>
          </a:p>
          <a:p>
            <a:pPr marL="0" indent="0" algn="just" fontAlgn="base">
              <a:spcBef>
                <a:spcPct val="0"/>
              </a:spcBef>
              <a:spcAft>
                <a:spcPct val="0"/>
              </a:spcAft>
            </a:pPr>
            <a:r>
              <a:rPr sz="2400" b="0" i="0">
                <a:solidFill>
                  <a:srgbClr val="273239"/>
                </a:solidFill>
                <a:latin typeface="Times New Roman" panose="02020603050405020304" pitchFamily="18" charset="0"/>
                <a:ea typeface="Nunito"/>
                <a:cs typeface="Times New Roman" panose="02020603050405020304" pitchFamily="18" charset="0"/>
              </a:rPr>
              <a:t> </a:t>
            </a:r>
          </a:p>
        </p:txBody>
      </p:sp>
      <p:pic>
        <p:nvPicPr>
          <p:cNvPr id="3" name="Picture 2"/>
          <p:cNvPicPr>
            <a:picLocks noChangeAspect="1"/>
          </p:cNvPicPr>
          <p:nvPr/>
        </p:nvPicPr>
        <p:blipFill>
          <a:blip r:embed="rId2"/>
          <a:stretch>
            <a:fillRect/>
          </a:stretch>
        </p:blipFill>
        <p:spPr>
          <a:xfrm>
            <a:off x="1222375" y="2132965"/>
            <a:ext cx="9498330" cy="1628775"/>
          </a:xfrm>
          <a:prstGeom prst="rect">
            <a:avLst/>
          </a:prstGeom>
        </p:spPr>
      </p:pic>
      <p:sp>
        <p:nvSpPr>
          <p:cNvPr id="4" name="Text Box 3"/>
          <p:cNvSpPr txBox="1"/>
          <p:nvPr/>
        </p:nvSpPr>
        <p:spPr>
          <a:xfrm>
            <a:off x="1094105" y="4272280"/>
            <a:ext cx="10537190" cy="1579880"/>
          </a:xfrm>
          <a:prstGeom prst="rect">
            <a:avLst/>
          </a:prstGeom>
        </p:spPr>
        <p:txBody>
          <a:bodyPr wrap="square">
            <a:noAutofit/>
          </a:bodyPr>
          <a:lstStyle/>
          <a:p>
            <a:pPr marL="342900" indent="-342900" algn="just">
              <a:buFont typeface="Arial" panose="020B0604020202020204" pitchFamily="34" charset="0"/>
              <a:buChar char="•"/>
            </a:pPr>
            <a:r>
              <a:rPr sz="2400" b="1" i="0">
                <a:solidFill>
                  <a:srgbClr val="232323"/>
                </a:solidFill>
                <a:latin typeface="Times New Roman" panose="02020603050405020304" pitchFamily="18" charset="0"/>
                <a:ea typeface="Satoshi-Regular"/>
                <a:cs typeface="Times New Roman" panose="02020603050405020304" pitchFamily="18" charset="0"/>
              </a:rPr>
              <a:t>Fitness Function:</a:t>
            </a:r>
            <a:r>
              <a:rPr sz="2400" b="0" i="0">
                <a:solidFill>
                  <a:srgbClr val="232323"/>
                </a:solidFill>
                <a:latin typeface="Times New Roman" panose="02020603050405020304" pitchFamily="18" charset="0"/>
                <a:ea typeface="Satoshi-Regular"/>
                <a:cs typeface="Times New Roman" panose="02020603050405020304" pitchFamily="18" charset="0"/>
              </a:rPr>
              <a:t> The fitness function quantifies how well an individual solves the problem. It assigns a fitness score to each individual based on their performance, and this score guides the selection process.</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791970" y="260985"/>
            <a:ext cx="9443720" cy="521970"/>
          </a:xfrm>
          <a:prstGeom prst="rect">
            <a:avLst/>
          </a:prstGeom>
        </p:spPr>
        <p:txBody>
          <a:bodyPr wrap="square">
            <a:spAutoFit/>
          </a:bodyPr>
          <a:lstStyle/>
          <a:p>
            <a:pPr marL="0" indent="0" algn="ctr"/>
            <a:r>
              <a:rPr sz="2800" b="1" i="0">
                <a:solidFill>
                  <a:srgbClr val="232323"/>
                </a:solidFill>
                <a:latin typeface="Times New Roman" panose="02020603050405020304" pitchFamily="18" charset="0"/>
                <a:ea typeface="Satoshi-Bold"/>
                <a:cs typeface="Times New Roman" panose="02020603050405020304" pitchFamily="18" charset="0"/>
              </a:rPr>
              <a:t>Illustrating Exploration of Solution Spaces:</a:t>
            </a:r>
          </a:p>
        </p:txBody>
      </p:sp>
      <p:sp>
        <p:nvSpPr>
          <p:cNvPr id="3" name="Text Box 2"/>
          <p:cNvSpPr txBox="1"/>
          <p:nvPr/>
        </p:nvSpPr>
        <p:spPr>
          <a:xfrm>
            <a:off x="141605" y="836930"/>
            <a:ext cx="11908790" cy="5631180"/>
          </a:xfrm>
          <a:prstGeom prst="rect">
            <a:avLst/>
          </a:prstGeom>
        </p:spPr>
        <p:txBody>
          <a:bodyPr wrap="square">
            <a:spAutoFit/>
          </a:bodyPr>
          <a:lstStyle/>
          <a:p>
            <a:pPr marL="0" indent="0" algn="just"/>
            <a:r>
              <a:rPr sz="2400" b="0" i="0">
                <a:solidFill>
                  <a:srgbClr val="232323"/>
                </a:solidFill>
                <a:latin typeface="Times New Roman" panose="02020603050405020304" pitchFamily="18" charset="0"/>
                <a:ea typeface="Satoshi-Regular"/>
                <a:cs typeface="Times New Roman" panose="02020603050405020304" pitchFamily="18" charset="0"/>
              </a:rPr>
              <a:t>To understand how GAs explore solution spaces through evolution, consider an example:  </a:t>
            </a:r>
            <a:r>
              <a:rPr sz="2400" b="1" i="0">
                <a:solidFill>
                  <a:srgbClr val="232323"/>
                </a:solidFill>
                <a:latin typeface="Times New Roman" panose="02020603050405020304" pitchFamily="18" charset="0"/>
                <a:ea typeface="Satoshi-Regular"/>
                <a:cs typeface="Times New Roman" panose="02020603050405020304" pitchFamily="18" charset="0"/>
              </a:rPr>
              <a:t>Traveling Salesman Problem (TSP). </a:t>
            </a:r>
            <a:r>
              <a:rPr sz="2400" b="0" i="0">
                <a:solidFill>
                  <a:srgbClr val="232323"/>
                </a:solidFill>
                <a:latin typeface="Times New Roman" panose="02020603050405020304" pitchFamily="18" charset="0"/>
                <a:ea typeface="Satoshi-Regular"/>
                <a:cs typeface="Times New Roman" panose="02020603050405020304" pitchFamily="18" charset="0"/>
              </a:rPr>
              <a:t>In TSP, the goal is to find the </a:t>
            </a:r>
            <a:r>
              <a:rPr sz="2400" b="1" i="1">
                <a:solidFill>
                  <a:srgbClr val="232323"/>
                </a:solidFill>
                <a:latin typeface="Times New Roman" panose="02020603050405020304" pitchFamily="18" charset="0"/>
                <a:ea typeface="Satoshi-Regular"/>
                <a:cs typeface="Times New Roman" panose="02020603050405020304" pitchFamily="18" charset="0"/>
              </a:rPr>
              <a:t>shortest route</a:t>
            </a:r>
            <a:r>
              <a:rPr sz="2400" b="0" i="0">
                <a:solidFill>
                  <a:srgbClr val="232323"/>
                </a:solidFill>
                <a:latin typeface="Times New Roman" panose="02020603050405020304" pitchFamily="18" charset="0"/>
                <a:ea typeface="Satoshi-Regular"/>
                <a:cs typeface="Times New Roman" panose="02020603050405020304" pitchFamily="18" charset="0"/>
              </a:rPr>
              <a:t> that visits a set of cities and returns to the starting city.</a:t>
            </a:r>
          </a:p>
          <a:p>
            <a:pPr marL="0" indent="0" algn="just"/>
            <a:r>
              <a:rPr sz="2400" b="0" i="0">
                <a:solidFill>
                  <a:srgbClr val="232323"/>
                </a:solidFill>
                <a:latin typeface="Times New Roman" panose="02020603050405020304" pitchFamily="18" charset="0"/>
                <a:ea typeface="Satoshi-Regular"/>
                <a:cs typeface="Times New Roman" panose="02020603050405020304" pitchFamily="18" charset="0"/>
              </a:rPr>
              <a:t>Initially, a population of possible routes (solutions) is generated randomly. Each route represents a different way to visit the cities.</a:t>
            </a:r>
          </a:p>
          <a:p>
            <a:pPr marL="0" indent="0" algn="just"/>
            <a:r>
              <a:rPr sz="2400" b="0" i="0">
                <a:solidFill>
                  <a:srgbClr val="232323"/>
                </a:solidFill>
                <a:latin typeface="Times New Roman" panose="02020603050405020304" pitchFamily="18" charset="0"/>
                <a:ea typeface="Satoshi-Regular"/>
                <a:cs typeface="Times New Roman" panose="02020603050405020304" pitchFamily="18" charset="0"/>
              </a:rPr>
              <a:t>During the evolution process:</a:t>
            </a:r>
          </a:p>
          <a:p>
            <a:pPr marL="342900" indent="-342900" algn="just">
              <a:buFont typeface="Arial" panose="020B0604020202020204" pitchFamily="34" charset="0"/>
              <a:buChar char="•"/>
            </a:pPr>
            <a:r>
              <a:rPr sz="2400" b="0" i="0">
                <a:solidFill>
                  <a:srgbClr val="232323"/>
                </a:solidFill>
                <a:latin typeface="Times New Roman" panose="02020603050405020304" pitchFamily="18" charset="0"/>
                <a:ea typeface="Satoshi-Regular"/>
                <a:cs typeface="Times New Roman" panose="02020603050405020304" pitchFamily="18" charset="0"/>
              </a:rPr>
              <a:t>Selection favors </a:t>
            </a:r>
            <a:r>
              <a:rPr sz="2400" b="1" i="0">
                <a:solidFill>
                  <a:srgbClr val="232323"/>
                </a:solidFill>
                <a:latin typeface="Times New Roman" panose="02020603050405020304" pitchFamily="18" charset="0"/>
                <a:ea typeface="Satoshi-Regular"/>
                <a:cs typeface="Times New Roman" panose="02020603050405020304" pitchFamily="18" charset="0"/>
              </a:rPr>
              <a:t>routes with shorter distances</a:t>
            </a:r>
            <a:r>
              <a:rPr sz="2400" b="0" i="0">
                <a:solidFill>
                  <a:srgbClr val="232323"/>
                </a:solidFill>
                <a:latin typeface="Times New Roman" panose="02020603050405020304" pitchFamily="18" charset="0"/>
                <a:ea typeface="Satoshi-Regular"/>
                <a:cs typeface="Times New Roman" panose="02020603050405020304" pitchFamily="18" charset="0"/>
              </a:rPr>
              <a:t>, as determined by the fitness function.</a:t>
            </a:r>
          </a:p>
          <a:p>
            <a:pPr marL="342900" indent="-342900" algn="just">
              <a:buFont typeface="Arial" panose="020B0604020202020204" pitchFamily="34" charset="0"/>
              <a:buChar char="•"/>
            </a:pPr>
            <a:r>
              <a:rPr sz="2400" b="1" i="0">
                <a:solidFill>
                  <a:srgbClr val="232323"/>
                </a:solidFill>
                <a:latin typeface="Times New Roman" panose="02020603050405020304" pitchFamily="18" charset="0"/>
                <a:ea typeface="Satoshi-Regular"/>
                <a:cs typeface="Times New Roman" panose="02020603050405020304" pitchFamily="18" charset="0"/>
              </a:rPr>
              <a:t>Crossover combines genetic information from two parent routes to create new routes.</a:t>
            </a:r>
            <a:endParaRPr sz="2400" b="0" i="0">
              <a:solidFill>
                <a:srgbClr val="232323"/>
              </a:solidFill>
              <a:latin typeface="Times New Roman" panose="02020603050405020304" pitchFamily="18" charset="0"/>
              <a:ea typeface="Satoshi-Regular"/>
              <a:cs typeface="Times New Roman" panose="02020603050405020304" pitchFamily="18" charset="0"/>
            </a:endParaRPr>
          </a:p>
          <a:p>
            <a:pPr marL="342900" indent="-342900" algn="just">
              <a:buFont typeface="Arial" panose="020B0604020202020204" pitchFamily="34" charset="0"/>
              <a:buChar char="•"/>
            </a:pPr>
            <a:r>
              <a:rPr sz="2400" b="1" i="0">
                <a:solidFill>
                  <a:srgbClr val="232323"/>
                </a:solidFill>
                <a:latin typeface="Times New Roman" panose="02020603050405020304" pitchFamily="18" charset="0"/>
                <a:ea typeface="Satoshi-Regular"/>
                <a:cs typeface="Times New Roman" panose="02020603050405020304" pitchFamily="18" charset="0"/>
              </a:rPr>
              <a:t>Mutation introduces slight variations in routes, potentially leading to improved solutions.</a:t>
            </a:r>
            <a:endParaRPr sz="2400" b="0" i="0">
              <a:solidFill>
                <a:srgbClr val="232323"/>
              </a:solidFill>
              <a:latin typeface="Times New Roman" panose="02020603050405020304" pitchFamily="18" charset="0"/>
              <a:ea typeface="Satoshi-Regular"/>
              <a:cs typeface="Times New Roman" panose="02020603050405020304" pitchFamily="18" charset="0"/>
            </a:endParaRPr>
          </a:p>
          <a:p>
            <a:pPr marL="0" indent="0" algn="just"/>
            <a:r>
              <a:rPr sz="2400" b="0" i="0">
                <a:solidFill>
                  <a:srgbClr val="232323"/>
                </a:solidFill>
                <a:latin typeface="Times New Roman" panose="02020603050405020304" pitchFamily="18" charset="0"/>
                <a:ea typeface="Satoshi-Regular"/>
                <a:cs typeface="Times New Roman" panose="02020603050405020304" pitchFamily="18" charset="0"/>
              </a:rPr>
              <a:t>Over several generations, the population evolves. Routes with shorter distances become more prevalent, and the algorithm converges toward an optimal or near-optimal solution.</a:t>
            </a:r>
          </a:p>
          <a:p>
            <a:pPr marL="0" indent="0" algn="just"/>
            <a:r>
              <a:rPr sz="2400" b="0" i="0">
                <a:solidFill>
                  <a:srgbClr val="232323"/>
                </a:solidFill>
                <a:latin typeface="Times New Roman" panose="02020603050405020304" pitchFamily="18" charset="0"/>
                <a:ea typeface="Satoshi-Regular"/>
                <a:cs typeface="Times New Roman" panose="02020603050405020304" pitchFamily="18" charset="0"/>
              </a:rPr>
              <a:t>This evolutionary process of selection, crossover, and mutation continues until a termination condition is met, such as a maximum number of generations or achieving a satisfactory solution.</a:t>
            </a:r>
          </a:p>
          <a:p>
            <a:pPr marL="0" indent="0" algn="just"/>
            <a:endParaRPr sz="2400" b="0" i="0">
              <a:solidFill>
                <a:srgbClr val="232323"/>
              </a:solidFill>
              <a:latin typeface="Times New Roman" panose="02020603050405020304" pitchFamily="18" charset="0"/>
              <a:ea typeface="Satoshi-Regular"/>
              <a:cs typeface="Times New Roman" panose="02020603050405020304" pitchFamily="18" charset="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999740" y="476885"/>
            <a:ext cx="7901305" cy="521970"/>
          </a:xfrm>
          <a:prstGeom prst="rect">
            <a:avLst/>
          </a:prstGeom>
        </p:spPr>
        <p:txBody>
          <a:bodyPr wrap="square">
            <a:spAutoFit/>
          </a:bodyPr>
          <a:lstStyle/>
          <a:p>
            <a:pPr marL="0" indent="0" algn="just"/>
            <a:r>
              <a:rPr sz="2800" b="1" i="0">
                <a:solidFill>
                  <a:srgbClr val="232323"/>
                </a:solidFill>
                <a:latin typeface="Times New Roman" panose="02020603050405020304" pitchFamily="18" charset="0"/>
                <a:ea typeface="Satoshi-Regular"/>
                <a:cs typeface="Times New Roman" panose="02020603050405020304" pitchFamily="18" charset="0"/>
              </a:rPr>
              <a:t>Genetic Algorithm in AI Workflow</a:t>
            </a:r>
          </a:p>
        </p:txBody>
      </p:sp>
      <p:pic>
        <p:nvPicPr>
          <p:cNvPr id="3" name="Picture 2"/>
          <p:cNvPicPr>
            <a:picLocks noChangeAspect="1"/>
          </p:cNvPicPr>
          <p:nvPr/>
        </p:nvPicPr>
        <p:blipFill>
          <a:blip r:embed="rId2"/>
          <a:stretch>
            <a:fillRect/>
          </a:stretch>
        </p:blipFill>
        <p:spPr>
          <a:xfrm>
            <a:off x="2296160" y="1251585"/>
            <a:ext cx="7227570" cy="5170805"/>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556000" y="332423"/>
            <a:ext cx="5080000" cy="521970"/>
          </a:xfrm>
          <a:prstGeom prst="rect">
            <a:avLst/>
          </a:prstGeom>
        </p:spPr>
        <p:txBody>
          <a:bodyPr>
            <a:spAutoFit/>
          </a:bodyPr>
          <a:lstStyle/>
          <a:p>
            <a:pPr marL="0" indent="0" algn="ctr">
              <a:spcAft>
                <a:spcPct val="60000"/>
              </a:spcAft>
            </a:pPr>
            <a:r>
              <a:rPr sz="2800" b="1" i="0">
                <a:solidFill>
                  <a:srgbClr val="232323"/>
                </a:solidFill>
                <a:latin typeface="Times New Roman" panose="02020603050405020304" pitchFamily="18" charset="0"/>
                <a:ea typeface="Satoshi-Bold"/>
                <a:cs typeface="Times New Roman" panose="02020603050405020304" pitchFamily="18" charset="0"/>
              </a:rPr>
              <a:t>Genetic Algorithm Workflow</a:t>
            </a:r>
          </a:p>
        </p:txBody>
      </p:sp>
      <p:sp>
        <p:nvSpPr>
          <p:cNvPr id="3" name="Text Box 2"/>
          <p:cNvSpPr txBox="1"/>
          <p:nvPr/>
        </p:nvSpPr>
        <p:spPr>
          <a:xfrm>
            <a:off x="302260" y="981075"/>
            <a:ext cx="11661775" cy="4892675"/>
          </a:xfrm>
          <a:prstGeom prst="rect">
            <a:avLst/>
          </a:prstGeom>
        </p:spPr>
        <p:txBody>
          <a:bodyPr wrap="square">
            <a:spAutoFit/>
          </a:bodyPr>
          <a:lstStyle/>
          <a:p>
            <a:pPr marL="0" indent="0" algn="just"/>
            <a:r>
              <a:rPr lang="en-US" sz="2400" b="0" i="0">
                <a:solidFill>
                  <a:srgbClr val="232323"/>
                </a:solidFill>
                <a:latin typeface="Times New Roman" panose="02020603050405020304" pitchFamily="18" charset="0"/>
                <a:ea typeface="Satoshi-Regular"/>
                <a:cs typeface="Times New Roman" panose="02020603050405020304" pitchFamily="18" charset="0"/>
              </a:rPr>
              <a:t>S</a:t>
            </a:r>
            <a:r>
              <a:rPr sz="2400" b="0" i="0">
                <a:solidFill>
                  <a:srgbClr val="232323"/>
                </a:solidFill>
                <a:latin typeface="Times New Roman" panose="02020603050405020304" pitchFamily="18" charset="0"/>
                <a:ea typeface="Satoshi-Regular"/>
                <a:cs typeface="Times New Roman" panose="02020603050405020304" pitchFamily="18" charset="0"/>
              </a:rPr>
              <a:t>tep-by-step workflow of a Genetic Algorithm (GA). This process mirrors the principles of biological evolution and problem-solving in AI.</a:t>
            </a:r>
          </a:p>
          <a:p>
            <a:pPr marL="457200" indent="-457200" algn="just">
              <a:buFont typeface="+mj-lt"/>
              <a:buAutoNum type="arabicPeriod"/>
            </a:pPr>
            <a:r>
              <a:rPr sz="2400" b="1" i="0">
                <a:solidFill>
                  <a:srgbClr val="232323"/>
                </a:solidFill>
                <a:latin typeface="Times New Roman" panose="02020603050405020304" pitchFamily="18" charset="0"/>
                <a:ea typeface="Satoshi-Regular"/>
                <a:cs typeface="Times New Roman" panose="02020603050405020304" pitchFamily="18" charset="0"/>
              </a:rPr>
              <a:t>Initialization:</a:t>
            </a:r>
          </a:p>
          <a:p>
            <a:pPr indent="0" algn="just">
              <a:buFont typeface="+mj-lt"/>
              <a:buNone/>
            </a:pPr>
            <a:r>
              <a:rPr sz="2400" b="0" i="0">
                <a:solidFill>
                  <a:srgbClr val="232323"/>
                </a:solidFill>
                <a:latin typeface="Times New Roman" panose="02020603050405020304" pitchFamily="18" charset="0"/>
                <a:ea typeface="Satoshi-Regular"/>
                <a:cs typeface="Times New Roman" panose="02020603050405020304" pitchFamily="18" charset="0"/>
              </a:rPr>
              <a:t>The process begins by creating an initial population of potential solutions to the problem. These solutions, often represented as strings or vectors, are referred to as individuals or chromosomes.</a:t>
            </a:r>
          </a:p>
          <a:p>
            <a:pPr indent="0" algn="just">
              <a:buFont typeface="+mj-lt"/>
              <a:buNone/>
            </a:pPr>
            <a:r>
              <a:rPr lang="en-US" sz="2400" b="1" i="0">
                <a:solidFill>
                  <a:srgbClr val="232323"/>
                </a:solidFill>
                <a:latin typeface="Times New Roman" panose="02020603050405020304" pitchFamily="18" charset="0"/>
                <a:ea typeface="Satoshi-Regular"/>
                <a:cs typeface="Times New Roman" panose="02020603050405020304" pitchFamily="18" charset="0"/>
              </a:rPr>
              <a:t>2.  </a:t>
            </a:r>
            <a:r>
              <a:rPr sz="2400" b="1" i="0">
                <a:solidFill>
                  <a:srgbClr val="232323"/>
                </a:solidFill>
                <a:latin typeface="Times New Roman" panose="02020603050405020304" pitchFamily="18" charset="0"/>
                <a:ea typeface="Satoshi-Regular"/>
                <a:cs typeface="Times New Roman" panose="02020603050405020304" pitchFamily="18" charset="0"/>
              </a:rPr>
              <a:t>Selection:</a:t>
            </a:r>
          </a:p>
          <a:p>
            <a:pPr indent="0" algn="just">
              <a:buFont typeface="+mj-lt"/>
              <a:buNone/>
            </a:pPr>
            <a:r>
              <a:rPr sz="2400" b="0" i="0">
                <a:solidFill>
                  <a:srgbClr val="232323"/>
                </a:solidFill>
                <a:latin typeface="Times New Roman" panose="02020603050405020304" pitchFamily="18" charset="0"/>
                <a:ea typeface="Satoshi-Regular"/>
                <a:cs typeface="Times New Roman" panose="02020603050405020304" pitchFamily="18" charset="0"/>
              </a:rPr>
              <a:t>Selection is a critical step in GAs, where individuals are chosen for reproduction based on their fitness. The more fit an individual is, the more likely it is to be selected as a parent.</a:t>
            </a:r>
          </a:p>
          <a:p>
            <a:pPr indent="0" algn="just">
              <a:buFont typeface="+mj-lt"/>
              <a:buNone/>
            </a:pPr>
            <a:r>
              <a:rPr lang="en-US" sz="2400" b="1" i="0">
                <a:solidFill>
                  <a:srgbClr val="232323"/>
                </a:solidFill>
                <a:latin typeface="Times New Roman" panose="02020603050405020304" pitchFamily="18" charset="0"/>
                <a:ea typeface="Satoshi-Regular"/>
                <a:cs typeface="Times New Roman" panose="02020603050405020304" pitchFamily="18" charset="0"/>
              </a:rPr>
              <a:t>3. Crossover:</a:t>
            </a:r>
          </a:p>
          <a:p>
            <a:pPr indent="0" algn="just">
              <a:buFont typeface="+mj-lt"/>
              <a:buNone/>
            </a:pPr>
            <a:r>
              <a:rPr lang="en-US" sz="2400" b="0" i="0">
                <a:solidFill>
                  <a:srgbClr val="232323"/>
                </a:solidFill>
                <a:latin typeface="Times New Roman" panose="02020603050405020304" pitchFamily="18" charset="0"/>
                <a:ea typeface="Satoshi-Regular"/>
                <a:cs typeface="Times New Roman" panose="02020603050405020304" pitchFamily="18" charset="0"/>
              </a:rPr>
              <a:t>Crossover, also known as recombination, involves taking genetic information from two parent individuals and combining it to create one or more offspring.</a:t>
            </a:r>
          </a:p>
          <a:p>
            <a:pPr indent="0" algn="just">
              <a:buFont typeface="+mj-lt"/>
              <a:buNone/>
            </a:pPr>
            <a:endParaRPr lang="en-US" sz="2400" b="0" i="0">
              <a:solidFill>
                <a:srgbClr val="232323"/>
              </a:solidFill>
              <a:latin typeface="Times New Roman" panose="02020603050405020304" pitchFamily="18" charset="0"/>
              <a:ea typeface="Satoshi-Regular"/>
              <a:cs typeface="Times New Roman" panose="02020603050405020304" pitchFamily="18"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99720" y="188595"/>
            <a:ext cx="11570970" cy="5627370"/>
          </a:xfrm>
          <a:prstGeom prst="rect">
            <a:avLst/>
          </a:prstGeom>
        </p:spPr>
        <p:txBody>
          <a:bodyPr wrap="square">
            <a:spAutoFit/>
          </a:bodyPr>
          <a:lstStyle/>
          <a:p>
            <a:pPr marL="0" indent="0">
              <a:spcAft>
                <a:spcPct val="60000"/>
              </a:spcAft>
            </a:pPr>
            <a:r>
              <a:rPr lang="en-US" sz="2400" b="1" i="0">
                <a:solidFill>
                  <a:srgbClr val="232323"/>
                </a:solidFill>
                <a:latin typeface="Times New Roman" panose="02020603050405020304" pitchFamily="18" charset="0"/>
                <a:ea typeface="Satoshi-Bold"/>
                <a:cs typeface="Times New Roman" panose="02020603050405020304" pitchFamily="18" charset="0"/>
              </a:rPr>
              <a:t>4. </a:t>
            </a:r>
            <a:r>
              <a:rPr sz="2400" b="1" i="0">
                <a:solidFill>
                  <a:srgbClr val="232323"/>
                </a:solidFill>
                <a:latin typeface="Times New Roman" panose="02020603050405020304" pitchFamily="18" charset="0"/>
                <a:ea typeface="Satoshi-Bold"/>
                <a:cs typeface="Times New Roman" panose="02020603050405020304" pitchFamily="18" charset="0"/>
              </a:rPr>
              <a:t>Mutation:</a:t>
            </a:r>
            <a:r>
              <a:rPr lang="en-US" sz="2400" b="1" i="0">
                <a:solidFill>
                  <a:srgbClr val="232323"/>
                </a:solidFill>
                <a:latin typeface="Times New Roman" panose="02020603050405020304" pitchFamily="18" charset="0"/>
                <a:ea typeface="Satoshi-Bold"/>
                <a:cs typeface="Times New Roman" panose="02020603050405020304" pitchFamily="18" charset="0"/>
              </a:rPr>
              <a:t> </a:t>
            </a:r>
            <a:r>
              <a:rPr sz="2400" i="0">
                <a:solidFill>
                  <a:srgbClr val="232323"/>
                </a:solidFill>
                <a:latin typeface="Times New Roman" panose="02020603050405020304" pitchFamily="18" charset="0"/>
                <a:ea typeface="Satoshi-Bold"/>
                <a:cs typeface="Times New Roman" panose="02020603050405020304" pitchFamily="18" charset="0"/>
              </a:rPr>
              <a:t>Mutation introduces small random changes into the genetic information of offspring. This element of randomness helps maintain diversity within the population and allows for exploration of new solutions</a:t>
            </a:r>
          </a:p>
          <a:p>
            <a:pPr marL="0" indent="0">
              <a:spcAft>
                <a:spcPct val="60000"/>
              </a:spcAft>
            </a:pPr>
            <a:r>
              <a:rPr lang="en-US" sz="2400" b="1" i="0">
                <a:solidFill>
                  <a:srgbClr val="232323"/>
                </a:solidFill>
                <a:latin typeface="Times New Roman" panose="02020603050405020304" pitchFamily="18" charset="0"/>
                <a:ea typeface="Satoshi-Bold"/>
                <a:cs typeface="Times New Roman" panose="02020603050405020304" pitchFamily="18" charset="0"/>
              </a:rPr>
              <a:t>5. </a:t>
            </a:r>
            <a:r>
              <a:rPr sz="2400" b="1" i="0">
                <a:solidFill>
                  <a:srgbClr val="232323"/>
                </a:solidFill>
                <a:latin typeface="Times New Roman" panose="02020603050405020304" pitchFamily="18" charset="0"/>
                <a:ea typeface="Satoshi-Bold"/>
                <a:cs typeface="Times New Roman" panose="02020603050405020304" pitchFamily="18" charset="0"/>
              </a:rPr>
              <a:t>Evaluation:</a:t>
            </a:r>
            <a:r>
              <a:rPr lang="en-US" sz="2400" b="1" i="0">
                <a:solidFill>
                  <a:srgbClr val="232323"/>
                </a:solidFill>
                <a:latin typeface="Times New Roman" panose="02020603050405020304" pitchFamily="18" charset="0"/>
                <a:ea typeface="Satoshi-Bold"/>
                <a:cs typeface="Times New Roman" panose="02020603050405020304" pitchFamily="18" charset="0"/>
              </a:rPr>
              <a:t> </a:t>
            </a:r>
            <a:r>
              <a:rPr sz="2400" i="0">
                <a:solidFill>
                  <a:srgbClr val="232323"/>
                </a:solidFill>
                <a:latin typeface="Times New Roman" panose="02020603050405020304" pitchFamily="18" charset="0"/>
                <a:ea typeface="Satoshi-Bold"/>
                <a:cs typeface="Times New Roman" panose="02020603050405020304" pitchFamily="18" charset="0"/>
              </a:rPr>
              <a:t>The fitness function evaluates the performance of each individual in the population. It quantifies how well each individual solves the problem.</a:t>
            </a:r>
          </a:p>
          <a:p>
            <a:pPr marL="0" indent="0">
              <a:spcAft>
                <a:spcPct val="60000"/>
              </a:spcAft>
            </a:pPr>
            <a:r>
              <a:rPr lang="en-US" sz="2400" b="1" i="0">
                <a:solidFill>
                  <a:srgbClr val="232323"/>
                </a:solidFill>
                <a:latin typeface="Times New Roman" panose="02020603050405020304" pitchFamily="18" charset="0"/>
                <a:ea typeface="Satoshi-Bold"/>
                <a:cs typeface="Times New Roman" panose="02020603050405020304" pitchFamily="18" charset="0"/>
              </a:rPr>
              <a:t>6. </a:t>
            </a:r>
            <a:r>
              <a:rPr sz="2400" b="1" i="0">
                <a:solidFill>
                  <a:srgbClr val="232323"/>
                </a:solidFill>
                <a:latin typeface="Times New Roman" panose="02020603050405020304" pitchFamily="18" charset="0"/>
                <a:ea typeface="Satoshi-Bold"/>
                <a:cs typeface="Times New Roman" panose="02020603050405020304" pitchFamily="18" charset="0"/>
              </a:rPr>
              <a:t>Termination:</a:t>
            </a:r>
          </a:p>
          <a:p>
            <a:pPr marL="0" indent="0">
              <a:spcAft>
                <a:spcPct val="60000"/>
              </a:spcAft>
            </a:pPr>
            <a:r>
              <a:rPr sz="2400" i="0">
                <a:solidFill>
                  <a:srgbClr val="232323"/>
                </a:solidFill>
                <a:latin typeface="Times New Roman" panose="02020603050405020304" pitchFamily="18" charset="0"/>
                <a:ea typeface="Satoshi-Bold"/>
                <a:cs typeface="Times New Roman" panose="02020603050405020304" pitchFamily="18" charset="0"/>
              </a:rPr>
              <a:t>Termination criteria determine when the GA should stop running. Common termination conditions include</a:t>
            </a:r>
            <a:r>
              <a:rPr lang="en-US" sz="2400" i="0">
                <a:solidFill>
                  <a:srgbClr val="232323"/>
                </a:solidFill>
                <a:latin typeface="Times New Roman" panose="02020603050405020304" pitchFamily="18" charset="0"/>
                <a:ea typeface="Satoshi-Bold"/>
                <a:cs typeface="Times New Roman" panose="02020603050405020304" pitchFamily="18" charset="0"/>
              </a:rPr>
              <a:t> </a:t>
            </a:r>
            <a:endParaRPr sz="2400" i="0">
              <a:solidFill>
                <a:srgbClr val="232323"/>
              </a:solidFill>
              <a:latin typeface="Times New Roman" panose="02020603050405020304" pitchFamily="18" charset="0"/>
              <a:ea typeface="Satoshi-Bold"/>
              <a:cs typeface="Times New Roman" panose="02020603050405020304" pitchFamily="18" charset="0"/>
            </a:endParaRPr>
          </a:p>
          <a:p>
            <a:pPr marL="285750" indent="-285750" algn="ctr">
              <a:spcAft>
                <a:spcPct val="60000"/>
              </a:spcAft>
              <a:buFont typeface="Arial" panose="020B0604020202020204" pitchFamily="34" charset="0"/>
              <a:buChar char="•"/>
            </a:pPr>
            <a:r>
              <a:rPr sz="2400" i="0">
                <a:solidFill>
                  <a:srgbClr val="232323"/>
                </a:solidFill>
                <a:latin typeface="Times New Roman" panose="02020603050405020304" pitchFamily="18" charset="0"/>
                <a:ea typeface="Satoshi-Bold"/>
                <a:cs typeface="Times New Roman" panose="02020603050405020304" pitchFamily="18" charset="0"/>
              </a:rPr>
              <a:t>Reaching a maximum number of generations.</a:t>
            </a:r>
            <a:r>
              <a:rPr lang="en-US" sz="2400" i="0">
                <a:solidFill>
                  <a:srgbClr val="232323"/>
                </a:solidFill>
                <a:latin typeface="Times New Roman" panose="02020603050405020304" pitchFamily="18" charset="0"/>
                <a:ea typeface="Satoshi-Bold"/>
                <a:cs typeface="Times New Roman" panose="02020603050405020304" pitchFamily="18" charset="0"/>
              </a:rPr>
              <a:t> </a:t>
            </a:r>
          </a:p>
          <a:p>
            <a:pPr marL="285750" indent="-285750" algn="ctr">
              <a:spcAft>
                <a:spcPct val="60000"/>
              </a:spcAft>
              <a:buFont typeface="Arial" panose="020B0604020202020204" pitchFamily="34" charset="0"/>
              <a:buChar char="•"/>
            </a:pPr>
            <a:r>
              <a:rPr sz="2400" i="0">
                <a:solidFill>
                  <a:srgbClr val="232323"/>
                </a:solidFill>
                <a:latin typeface="Times New Roman" panose="02020603050405020304" pitchFamily="18" charset="0"/>
                <a:ea typeface="Satoshi-Bold"/>
                <a:cs typeface="Times New Roman" panose="02020603050405020304" pitchFamily="18" charset="0"/>
              </a:rPr>
              <a:t>Achieving a satisfactory solution or fitness level.</a:t>
            </a:r>
            <a:r>
              <a:rPr lang="en-US" sz="2400" i="0">
                <a:solidFill>
                  <a:srgbClr val="232323"/>
                </a:solidFill>
                <a:latin typeface="Times New Roman" panose="02020603050405020304" pitchFamily="18" charset="0"/>
                <a:ea typeface="Satoshi-Bold"/>
                <a:cs typeface="Times New Roman" panose="02020603050405020304" pitchFamily="18" charset="0"/>
              </a:rPr>
              <a:t> </a:t>
            </a:r>
          </a:p>
          <a:p>
            <a:pPr marL="285750" indent="-285750" algn="ctr">
              <a:spcAft>
                <a:spcPct val="60000"/>
              </a:spcAft>
              <a:buFont typeface="Arial" panose="020B0604020202020204" pitchFamily="34" charset="0"/>
              <a:buChar char="•"/>
            </a:pPr>
            <a:r>
              <a:rPr sz="2400" i="0">
                <a:solidFill>
                  <a:srgbClr val="232323"/>
                </a:solidFill>
                <a:latin typeface="Times New Roman" panose="02020603050405020304" pitchFamily="18" charset="0"/>
                <a:ea typeface="Satoshi-Bold"/>
                <a:cs typeface="Times New Roman" panose="02020603050405020304" pitchFamily="18" charset="0"/>
              </a:rPr>
              <a:t>Running out of computation time or resources.</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487170" y="476885"/>
            <a:ext cx="10375900" cy="5631180"/>
          </a:xfrm>
          <a:prstGeom prst="rect">
            <a:avLst/>
          </a:prstGeom>
        </p:spPr>
        <p:txBody>
          <a:bodyPr wrap="square">
            <a:spAutoFit/>
          </a:bodyPr>
          <a:lstStyle/>
          <a:p>
            <a:pPr marL="0" indent="0" algn="just" fontAlgn="base">
              <a:spcBef>
                <a:spcPct val="0"/>
              </a:spcBef>
              <a:spcAft>
                <a:spcPct val="0"/>
              </a:spcAft>
            </a:pPr>
            <a:r>
              <a:rPr sz="2400" b="1" i="0">
                <a:solidFill>
                  <a:srgbClr val="273239"/>
                </a:solidFill>
                <a:latin typeface="Times New Roman" panose="02020603050405020304" pitchFamily="18" charset="0"/>
                <a:ea typeface="Nunito"/>
                <a:cs typeface="Times New Roman" panose="02020603050405020304" pitchFamily="18" charset="0"/>
              </a:rPr>
              <a:t>Why use Genetic Algorithms </a:t>
            </a:r>
            <a:r>
              <a:rPr lang="en-US" sz="2400" b="1" i="0">
                <a:solidFill>
                  <a:srgbClr val="273239"/>
                </a:solidFill>
                <a:latin typeface="Times New Roman" panose="02020603050405020304" pitchFamily="18" charset="0"/>
                <a:ea typeface="Nunito"/>
                <a:cs typeface="Times New Roman" panose="02020603050405020304" pitchFamily="18" charset="0"/>
              </a:rPr>
              <a:t>:</a:t>
            </a:r>
            <a:endParaRPr sz="2400" b="1" i="0">
              <a:solidFill>
                <a:srgbClr val="273239"/>
              </a:solidFill>
              <a:latin typeface="Times New Roman" panose="02020603050405020304" pitchFamily="18" charset="0"/>
              <a:ea typeface="Nunito"/>
              <a:cs typeface="Times New Roman" panose="02020603050405020304" pitchFamily="18" charset="0"/>
            </a:endParaRPr>
          </a:p>
          <a:p>
            <a:pPr marL="0" indent="0" algn="just" fontAlgn="base">
              <a:spcBef>
                <a:spcPct val="0"/>
              </a:spcBef>
              <a:spcAft>
                <a:spcPct val="0"/>
              </a:spcAft>
            </a:pPr>
            <a:endParaRPr sz="2400" b="1" i="0">
              <a:solidFill>
                <a:srgbClr val="273239"/>
              </a:solidFill>
              <a:latin typeface="Times New Roman" panose="02020603050405020304" pitchFamily="18" charset="0"/>
              <a:ea typeface="Nunito"/>
              <a:cs typeface="Times New Roman" panose="02020603050405020304" pitchFamily="18" charset="0"/>
            </a:endParaRPr>
          </a:p>
          <a:p>
            <a:pPr marL="342900" indent="-342900" algn="just" fontAlgn="base">
              <a:spcBef>
                <a:spcPct val="0"/>
              </a:spcBef>
              <a:spcAft>
                <a:spcPct val="0"/>
              </a:spcAft>
              <a:buFont typeface="Arial" panose="020B0604020202020204" pitchFamily="34" charset="0"/>
              <a:buChar char="•"/>
            </a:pPr>
            <a:r>
              <a:rPr sz="2400" b="0" i="0">
                <a:solidFill>
                  <a:srgbClr val="273239"/>
                </a:solidFill>
                <a:latin typeface="Times New Roman" panose="02020603050405020304" pitchFamily="18" charset="0"/>
                <a:ea typeface="Nunito"/>
                <a:cs typeface="Times New Roman" panose="02020603050405020304" pitchFamily="18" charset="0"/>
              </a:rPr>
              <a:t>They are Robust</a:t>
            </a:r>
          </a:p>
          <a:p>
            <a:pPr marL="342900" indent="-342900" algn="just" fontAlgn="base">
              <a:spcBef>
                <a:spcPct val="0"/>
              </a:spcBef>
              <a:spcAft>
                <a:spcPct val="0"/>
              </a:spcAft>
              <a:buFont typeface="Arial" panose="020B0604020202020204" pitchFamily="34" charset="0"/>
              <a:buChar char="•"/>
            </a:pPr>
            <a:r>
              <a:rPr sz="2400" b="0" i="0">
                <a:solidFill>
                  <a:srgbClr val="273239"/>
                </a:solidFill>
                <a:latin typeface="Times New Roman" panose="02020603050405020304" pitchFamily="18" charset="0"/>
                <a:ea typeface="Nunito"/>
                <a:cs typeface="Times New Roman" panose="02020603050405020304" pitchFamily="18" charset="0"/>
              </a:rPr>
              <a:t>Provide optimisation over large space state.</a:t>
            </a:r>
          </a:p>
          <a:p>
            <a:pPr marL="342900" indent="-342900" algn="just" fontAlgn="base">
              <a:spcBef>
                <a:spcPct val="0"/>
              </a:spcBef>
              <a:spcAft>
                <a:spcPct val="0"/>
              </a:spcAft>
              <a:buFont typeface="Arial" panose="020B0604020202020204" pitchFamily="34" charset="0"/>
              <a:buChar char="•"/>
            </a:pPr>
            <a:r>
              <a:rPr sz="2400" b="0" i="0">
                <a:solidFill>
                  <a:srgbClr val="273239"/>
                </a:solidFill>
                <a:latin typeface="Times New Roman" panose="02020603050405020304" pitchFamily="18" charset="0"/>
                <a:ea typeface="Nunito"/>
                <a:cs typeface="Times New Roman" panose="02020603050405020304" pitchFamily="18" charset="0"/>
              </a:rPr>
              <a:t>Unlike traditional AI, they do not break on slight change in input or presence of noise</a:t>
            </a:r>
          </a:p>
          <a:p>
            <a:pPr marL="0" indent="0" algn="just" fontAlgn="base">
              <a:spcBef>
                <a:spcPct val="0"/>
              </a:spcBef>
              <a:spcAft>
                <a:spcPct val="0"/>
              </a:spcAft>
              <a:buFont typeface="Arial" panose="020B0604020202020204"/>
              <a:buNone/>
            </a:pPr>
            <a:endParaRPr sz="2400" b="0" i="0">
              <a:solidFill>
                <a:srgbClr val="273239"/>
              </a:solidFill>
              <a:latin typeface="Times New Roman" panose="02020603050405020304" pitchFamily="18" charset="0"/>
              <a:ea typeface="Nunito"/>
              <a:cs typeface="Times New Roman" panose="02020603050405020304" pitchFamily="18" charset="0"/>
            </a:endParaRPr>
          </a:p>
          <a:p>
            <a:pPr marL="0" indent="0" algn="just" fontAlgn="base">
              <a:spcBef>
                <a:spcPct val="0"/>
              </a:spcBef>
              <a:spcAft>
                <a:spcPct val="0"/>
              </a:spcAft>
              <a:buFont typeface="Arial" panose="020B0604020202020204"/>
              <a:buNone/>
            </a:pPr>
            <a:r>
              <a:rPr sz="2400" b="1" i="0">
                <a:solidFill>
                  <a:srgbClr val="273239"/>
                </a:solidFill>
                <a:latin typeface="Times New Roman" panose="02020603050405020304" pitchFamily="18" charset="0"/>
                <a:ea typeface="Nunito"/>
                <a:cs typeface="Times New Roman" panose="02020603050405020304" pitchFamily="18" charset="0"/>
              </a:rPr>
              <a:t>Application of Genetic Algorithms</a:t>
            </a:r>
            <a:r>
              <a:rPr lang="en-US" sz="2400" b="1" i="0">
                <a:solidFill>
                  <a:srgbClr val="273239"/>
                </a:solidFill>
                <a:latin typeface="Times New Roman" panose="02020603050405020304" pitchFamily="18" charset="0"/>
                <a:ea typeface="Nunito"/>
                <a:cs typeface="Times New Roman" panose="02020603050405020304" pitchFamily="18" charset="0"/>
              </a:rPr>
              <a:t> :</a:t>
            </a:r>
            <a:endParaRPr sz="2400" b="1" i="0">
              <a:solidFill>
                <a:srgbClr val="273239"/>
              </a:solidFill>
              <a:latin typeface="Times New Roman" panose="02020603050405020304" pitchFamily="18" charset="0"/>
              <a:ea typeface="Nunito"/>
              <a:cs typeface="Times New Roman" panose="02020603050405020304" pitchFamily="18" charset="0"/>
            </a:endParaRPr>
          </a:p>
          <a:p>
            <a:pPr marL="0" indent="0" algn="just" fontAlgn="base">
              <a:spcBef>
                <a:spcPct val="0"/>
              </a:spcBef>
              <a:spcAft>
                <a:spcPct val="0"/>
              </a:spcAft>
              <a:buFont typeface="Arial" panose="020B0604020202020204"/>
              <a:buNone/>
            </a:pPr>
            <a:r>
              <a:rPr sz="2400" b="0" i="0">
                <a:solidFill>
                  <a:srgbClr val="273239"/>
                </a:solidFill>
                <a:latin typeface="Times New Roman" panose="02020603050405020304" pitchFamily="18" charset="0"/>
                <a:ea typeface="Nunito"/>
                <a:cs typeface="Times New Roman" panose="02020603050405020304" pitchFamily="18" charset="0"/>
              </a:rPr>
              <a:t>Genetic algorithms have many applications, some of them are – </a:t>
            </a:r>
          </a:p>
          <a:p>
            <a:pPr marL="0" indent="0" algn="just" fontAlgn="base">
              <a:spcBef>
                <a:spcPct val="0"/>
              </a:spcBef>
              <a:spcAft>
                <a:spcPct val="0"/>
              </a:spcAft>
              <a:buFont typeface="Arial" panose="020B0604020202020204"/>
              <a:buNone/>
            </a:pPr>
            <a:endParaRPr sz="2400" b="0" i="0">
              <a:solidFill>
                <a:srgbClr val="273239"/>
              </a:solidFill>
              <a:latin typeface="Times New Roman" panose="02020603050405020304" pitchFamily="18" charset="0"/>
              <a:ea typeface="Nunito"/>
              <a:cs typeface="Times New Roman" panose="02020603050405020304" pitchFamily="18" charset="0"/>
            </a:endParaRPr>
          </a:p>
          <a:p>
            <a:pPr marL="342900" indent="-342900" algn="just" fontAlgn="base">
              <a:spcBef>
                <a:spcPct val="0"/>
              </a:spcBef>
              <a:spcAft>
                <a:spcPct val="0"/>
              </a:spcAft>
              <a:buFont typeface="Arial" panose="020B0604020202020204" pitchFamily="34" charset="0"/>
              <a:buChar char="•"/>
            </a:pPr>
            <a:r>
              <a:rPr sz="2400" b="0" i="0">
                <a:solidFill>
                  <a:srgbClr val="273239"/>
                </a:solidFill>
                <a:latin typeface="Times New Roman" panose="02020603050405020304" pitchFamily="18" charset="0"/>
                <a:ea typeface="Nunito"/>
                <a:cs typeface="Times New Roman" panose="02020603050405020304" pitchFamily="18" charset="0"/>
              </a:rPr>
              <a:t>Recurrent Neural Network</a:t>
            </a:r>
          </a:p>
          <a:p>
            <a:pPr marL="342900" indent="-342900" algn="just" fontAlgn="base">
              <a:spcBef>
                <a:spcPct val="0"/>
              </a:spcBef>
              <a:spcAft>
                <a:spcPct val="0"/>
              </a:spcAft>
              <a:buFont typeface="Arial" panose="020B0604020202020204" pitchFamily="34" charset="0"/>
              <a:buChar char="•"/>
            </a:pPr>
            <a:r>
              <a:rPr sz="2400" b="0" i="0">
                <a:solidFill>
                  <a:srgbClr val="273239"/>
                </a:solidFill>
                <a:latin typeface="Times New Roman" panose="02020603050405020304" pitchFamily="18" charset="0"/>
                <a:ea typeface="Nunito"/>
                <a:cs typeface="Times New Roman" panose="02020603050405020304" pitchFamily="18" charset="0"/>
              </a:rPr>
              <a:t>Mutation testing</a:t>
            </a:r>
          </a:p>
          <a:p>
            <a:pPr marL="342900" indent="-342900" algn="just" fontAlgn="base">
              <a:spcBef>
                <a:spcPct val="0"/>
              </a:spcBef>
              <a:spcAft>
                <a:spcPct val="0"/>
              </a:spcAft>
              <a:buFont typeface="Arial" panose="020B0604020202020204" pitchFamily="34" charset="0"/>
              <a:buChar char="•"/>
            </a:pPr>
            <a:r>
              <a:rPr sz="2400" b="0" i="0">
                <a:solidFill>
                  <a:srgbClr val="273239"/>
                </a:solidFill>
                <a:latin typeface="Times New Roman" panose="02020603050405020304" pitchFamily="18" charset="0"/>
                <a:ea typeface="Nunito"/>
                <a:cs typeface="Times New Roman" panose="02020603050405020304" pitchFamily="18" charset="0"/>
              </a:rPr>
              <a:t>Code breaking</a:t>
            </a:r>
          </a:p>
          <a:p>
            <a:pPr marL="342900" indent="-342900" algn="just" fontAlgn="base">
              <a:spcBef>
                <a:spcPct val="0"/>
              </a:spcBef>
              <a:spcAft>
                <a:spcPct val="0"/>
              </a:spcAft>
              <a:buFont typeface="Arial" panose="020B0604020202020204" pitchFamily="34" charset="0"/>
              <a:buChar char="•"/>
            </a:pPr>
            <a:r>
              <a:rPr sz="2400" b="0" i="0">
                <a:solidFill>
                  <a:srgbClr val="273239"/>
                </a:solidFill>
                <a:latin typeface="Times New Roman" panose="02020603050405020304" pitchFamily="18" charset="0"/>
                <a:ea typeface="Nunito"/>
                <a:cs typeface="Times New Roman" panose="02020603050405020304" pitchFamily="18" charset="0"/>
              </a:rPr>
              <a:t>Filtering and signal processing</a:t>
            </a:r>
          </a:p>
          <a:p>
            <a:pPr marL="342900" indent="-342900" algn="just" fontAlgn="base">
              <a:spcBef>
                <a:spcPct val="0"/>
              </a:spcBef>
              <a:spcAft>
                <a:spcPct val="0"/>
              </a:spcAft>
              <a:buFont typeface="Arial" panose="020B0604020202020204" pitchFamily="34" charset="0"/>
              <a:buChar char="•"/>
            </a:pPr>
            <a:r>
              <a:rPr sz="2400" b="0" i="0">
                <a:solidFill>
                  <a:srgbClr val="273239"/>
                </a:solidFill>
                <a:latin typeface="Times New Roman" panose="02020603050405020304" pitchFamily="18" charset="0"/>
                <a:ea typeface="Nunito"/>
                <a:cs typeface="Times New Roman" panose="02020603050405020304" pitchFamily="18" charset="0"/>
              </a:rPr>
              <a:t>Learning fuzzy rule base etc</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089025" y="2493010"/>
            <a:ext cx="10013315" cy="2010410"/>
          </a:xfrm>
          <a:prstGeom prst="rect">
            <a:avLst/>
          </a:prstGeom>
          <a:noFill/>
        </p:spPr>
        <p:txBody>
          <a:bodyPr wrap="square" rtlCol="0">
            <a:noAutofit/>
          </a:bodyPr>
          <a:lstStyle/>
          <a:p>
            <a:pPr algn="ctr"/>
            <a:r>
              <a:rPr lang="en-US" sz="4400">
                <a:ln w="22225">
                  <a:solidFill>
                    <a:schemeClr val="accent2"/>
                  </a:solidFill>
                  <a:prstDash val="solid"/>
                </a:ln>
                <a:solidFill>
                  <a:srgbClr val="FF0000"/>
                </a:solidFill>
                <a:effectLst/>
              </a:rPr>
              <a:t>END OF MODULE 3</a:t>
            </a:r>
            <a:r>
              <a:rPr lang="en-US">
                <a:solidFill>
                  <a:srgbClr val="FF0000"/>
                </a:solidFill>
              </a:rPr>
              <a:t> </a:t>
            </a:r>
          </a:p>
        </p:txBody>
      </p:sp>
    </p:spTree>
  </p:cSld>
  <p:clrMapOvr>
    <a:masterClrMapping/>
  </p:clrMapOvr>
</p:sld>
</file>

<file path=ppt/theme/theme1.xml><?xml version="1.0" encoding="utf-8"?>
<a:theme xmlns:a="http://schemas.openxmlformats.org/drawingml/2006/main" name="Presentation Template - College Format (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 Template - College Format (1)</Template>
  <TotalTime>42</TotalTime>
  <Words>8642</Words>
  <Application>Microsoft Office PowerPoint</Application>
  <PresentationFormat>Widescreen</PresentationFormat>
  <Paragraphs>527</Paragraphs>
  <Slides>101</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101</vt:i4>
      </vt:variant>
    </vt:vector>
  </HeadingPairs>
  <TitlesOfParts>
    <vt:vector size="112" baseType="lpstr">
      <vt:lpstr>Arial</vt:lpstr>
      <vt:lpstr>Calibri</vt:lpstr>
      <vt:lpstr>Calibri Light</vt:lpstr>
      <vt:lpstr>Montserrat</vt:lpstr>
      <vt:lpstr>Museo 300</vt:lpstr>
      <vt:lpstr>Museo 700</vt:lpstr>
      <vt:lpstr>Nunito</vt:lpstr>
      <vt:lpstr>Source Sans 3</vt:lpstr>
      <vt:lpstr>Times New Roman</vt:lpstr>
      <vt:lpstr>Wingdings</vt:lpstr>
      <vt:lpstr>Presentation Template - College Format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2</dc:title>
  <dc:creator>SANCHARI SAHA</dc:creator>
  <cp:lastModifiedBy>KRITI TANEJA (Faculty)</cp:lastModifiedBy>
  <cp:revision>544</cp:revision>
  <dcterms:created xsi:type="dcterms:W3CDTF">2021-04-22T02:39:00Z</dcterms:created>
  <dcterms:modified xsi:type="dcterms:W3CDTF">2025-10-30T10:21:44Z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1033-12.2.0.18607</vt:lpwstr>
  </property>
  <property fmtid="{D5CDD505-2E9C-101B-9397-08002B2CF9AE}" pid="3" name="ContentTypeId">
    <vt:lpwstr>0x0101000A631CEB6B7CC44EA7CEFE4F160AA493</vt:lpwstr>
  </property>
  <property fmtid="{D5CDD505-2E9C-101B-9397-08002B2CF9AE}" pid="4" name="Presentation">
    <vt:lpwstr>Lab 2</vt:lpwstr>
  </property>
  <property fmtid="{D5CDD505-2E9C-101B-9397-08002B2CF9AE}" pid="5" name="SlideDescription">
    <vt:lpwstr/>
  </property>
  <property fmtid="{D5CDD505-2E9C-101B-9397-08002B2CF9AE}" pid="6" name="ICV">
    <vt:lpwstr>2738234E5A2B4D999D29E0D22FDD4799_13</vt:lpwstr>
  </property>
</Properties>
</file>